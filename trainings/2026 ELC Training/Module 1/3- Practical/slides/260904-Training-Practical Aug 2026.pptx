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4"/>
  </p:notesMasterIdLst>
  <p:sldIdLst>
    <p:sldId id="279" r:id="rId5"/>
    <p:sldId id="291" r:id="rId6"/>
    <p:sldId id="281" r:id="rId7"/>
    <p:sldId id="283" r:id="rId8"/>
    <p:sldId id="292" r:id="rId9"/>
    <p:sldId id="293" r:id="rId10"/>
    <p:sldId id="294" r:id="rId11"/>
    <p:sldId id="288" r:id="rId12"/>
    <p:sldId id="290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052F6E-88BA-E571-2C95-D7FAAFC2D13E}" name="Kiryutina, Tatyana" initials="TK" userId="S::tatyana.kiryutina@dph.ga.gov::23cac6bc-0902-457d-b23a-6c394a05ba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FFA8"/>
    <a:srgbClr val="F09252"/>
    <a:srgbClr val="7DDDFF"/>
    <a:srgbClr val="EC1C28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6C92F-B4EA-47BA-9BD3-DFF5956A53DC}" v="89" dt="2026-08-19T17:29:03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92736" autoAdjust="0"/>
  </p:normalViewPr>
  <p:slideViewPr>
    <p:cSldViewPr snapToGrid="0">
      <p:cViewPr varScale="1">
        <p:scale>
          <a:sx n="65" d="100"/>
          <a:sy n="65" d="100"/>
        </p:scale>
        <p:origin x="90" y="4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40522-36E5-48FC-9595-AEACEECE8F3F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B3408-7438-40E2-A3B2-93A35E85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6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B3408-7438-40E2-A3B2-93A35E855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14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B3408-7438-40E2-A3B2-93A35E855D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5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detailed and interactive exploration, view the results in </a:t>
            </a:r>
            <a:r>
              <a:rPr lang="en-US" dirty="0" err="1"/>
              <a:t>Microreact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gives us a quick static view of the pairwise SNP distances, but with this many isolates, the individual values become difficult to explore. That’s where </a:t>
            </a:r>
            <a:r>
              <a:rPr lang="en-US" dirty="0" err="1"/>
              <a:t>Microreact</a:t>
            </a:r>
            <a:r>
              <a:rPr lang="en-US" dirty="0"/>
              <a:t> becomes much more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B3408-7438-40E2-A3B2-93A35E855D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4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101"/>
            <a:ext cx="9867900" cy="7538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3400" y="1669122"/>
            <a:ext cx="8699500" cy="77986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aseline="0">
                <a:solidFill>
                  <a:srgbClr val="EC1C28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Title Heading 1, Segoe, 40(as needed)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2547302"/>
            <a:ext cx="8699500" cy="57607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4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5pPr marL="1828800" indent="0">
              <a:buNone/>
              <a:defRPr/>
            </a:lvl5pPr>
          </a:lstStyle>
          <a:p>
            <a:pPr algn="ctr"/>
            <a:r>
              <a:rPr lang="en-US" sz="4500" dirty="0">
                <a:solidFill>
                  <a:schemeClr val="bg1"/>
                </a:solidFill>
                <a:latin typeface="Segoe UI Light" panose="020B0502040204020203" pitchFamily="34" charset="0"/>
              </a:rPr>
              <a:t>Title Heading 2, Segoe, 40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396580"/>
            <a:ext cx="9633585" cy="4196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Audience   /   Presenter’s name   /   Date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73800" y="3390900"/>
            <a:ext cx="2959100" cy="406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Sub Heading (as needed)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0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1784350"/>
            <a:ext cx="10515600" cy="44370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be 24 or 28 depending on amount of text. Font should not be smaller than 18 point.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4C05CB-ABCC-BB87-2C4A-C58BB69CAA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</p:spTree>
    <p:extLst>
      <p:ext uri="{BB962C8B-B14F-4D97-AF65-F5344CB8AC3E}">
        <p14:creationId xmlns:p14="http://schemas.microsoft.com/office/powerpoint/2010/main" val="187514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1 content &amp;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1784350"/>
            <a:ext cx="10515600" cy="44370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be 24 or 28 depending on amount of text. Font should not be smaller than 18 point.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6332276"/>
            <a:ext cx="3225800" cy="279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Source: Segoe UI 10 or 12</a:t>
            </a:r>
          </a:p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1B9C9-02E4-D920-568D-248E94D33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</p:spTree>
    <p:extLst>
      <p:ext uri="{BB962C8B-B14F-4D97-AF65-F5344CB8AC3E}">
        <p14:creationId xmlns:p14="http://schemas.microsoft.com/office/powerpoint/2010/main" val="217361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w/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38200" y="2631993"/>
            <a:ext cx="10515600" cy="3589420"/>
          </a:xfrm>
          <a:prstGeom prst="rect">
            <a:avLst/>
          </a:prstGeom>
        </p:spPr>
        <p:txBody>
          <a:bodyPr/>
          <a:lstStyle>
            <a:lvl1pPr>
              <a:defRPr sz="180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 should be in Segoe UI, font size 18. 1st line (Full Name) in bold; 2nd line (Job Title); 3rd line (Work Phone); 4th line (Work Email).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CBC02-1DC0-8A4E-ABC4-99AC95A7FB2B}"/>
              </a:ext>
            </a:extLst>
          </p:cNvPr>
          <p:cNvSpPr txBox="1"/>
          <p:nvPr userDrawn="1"/>
        </p:nvSpPr>
        <p:spPr>
          <a:xfrm>
            <a:off x="838200" y="670720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2578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25652" y="1648919"/>
            <a:ext cx="4728148" cy="451203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be smaller than 18 point. 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086007" y="1648919"/>
            <a:ext cx="39973" cy="4512038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838200" y="1648919"/>
            <a:ext cx="4728148" cy="451203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be smaller than 18 point.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CE49E-96B0-E8D1-70C9-719CB99B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12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UI. Font size should not to be smaller than 18 point.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Content should be written in Segoe UI Light. Font size should not to be smaller than 18 point. 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Page Title (Segoe UI – 40)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38200" y="1394086"/>
            <a:ext cx="10515600" cy="0"/>
          </a:xfrm>
          <a:prstGeom prst="line">
            <a:avLst/>
          </a:prstGeom>
          <a:ln>
            <a:solidFill>
              <a:srgbClr val="EC1C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2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5616" y="4582697"/>
            <a:ext cx="10193313" cy="34906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000" baseline="0">
                <a:latin typeface="Segoe UI Semibold" panose="020B0702040204020203" pitchFamily="34" charset="0"/>
              </a:defRPr>
            </a:lvl1pPr>
          </a:lstStyle>
          <a:p>
            <a:pPr lvl="0"/>
            <a:br>
              <a:rPr lang="en-US" dirty="0"/>
            </a:br>
            <a:r>
              <a:rPr lang="en-US" dirty="0"/>
              <a:t>Font for caption should be Segoe UI </a:t>
            </a:r>
            <a:r>
              <a:rPr lang="en-US" dirty="0" err="1"/>
              <a:t>Semibold</a:t>
            </a:r>
            <a:r>
              <a:rPr lang="en-US" dirty="0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65617" y="342424"/>
            <a:ext cx="10193312" cy="4113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44380" y="5058749"/>
            <a:ext cx="9233941" cy="13570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Content should be written in Segoe UI. Font size should be at least 18 point.</a:t>
            </a:r>
          </a:p>
        </p:txBody>
      </p:sp>
    </p:spTree>
    <p:extLst>
      <p:ext uri="{BB962C8B-B14F-4D97-AF65-F5344CB8AC3E}">
        <p14:creationId xmlns:p14="http://schemas.microsoft.com/office/powerpoint/2010/main" val="203017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40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706" y="6662657"/>
            <a:ext cx="6514294" cy="2028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8072" y="6639701"/>
            <a:ext cx="3469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spc="100" baseline="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GEORGIA DEPARTMENT OF PUBLIC HEALTH</a:t>
            </a:r>
          </a:p>
        </p:txBody>
      </p:sp>
    </p:spTree>
    <p:extLst>
      <p:ext uri="{BB962C8B-B14F-4D97-AF65-F5344CB8AC3E}">
        <p14:creationId xmlns:p14="http://schemas.microsoft.com/office/powerpoint/2010/main" val="117502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86" r:id="rId2"/>
    <p:sldLayoutId id="2147483708" r:id="rId3"/>
    <p:sldLayoutId id="2147483711" r:id="rId4"/>
    <p:sldLayoutId id="2147483665" r:id="rId5"/>
    <p:sldLayoutId id="2147483678" r:id="rId6"/>
    <p:sldLayoutId id="2147483670" r:id="rId7"/>
    <p:sldLayoutId id="214748371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>
              <a:lumMod val="75000"/>
              <a:lumOff val="25000"/>
            </a:schemeClr>
          </a:solidFill>
          <a:latin typeface="Segoe UI Light" panose="020B0502040204020203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Segoe UI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cbi/sra-tool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W-PaGe/bigbacter" TargetMode="External"/><Relationship Id="rId4" Type="http://schemas.openxmlformats.org/officeDocument/2006/relationships/hyperlink" Target="https://github.com/CDCgov/phoenix/wiki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tatyana.kiryutina@dph.ga.go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E5E9-0C2C-45D6-C4E5-A347800B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3394-5C5E-2EA0-2FAC-5432A341D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037369"/>
            <a:ext cx="11428485" cy="1278998"/>
          </a:xfrm>
        </p:spPr>
        <p:txBody>
          <a:bodyPr>
            <a:noAutofit/>
          </a:bodyPr>
          <a:lstStyle/>
          <a:p>
            <a:r>
              <a:rPr lang="en-US" sz="3600" dirty="0"/>
              <a:t>2026 Molecular Epidemiology Training Series</a:t>
            </a:r>
            <a:br>
              <a:rPr lang="en-US" sz="3600" dirty="0"/>
            </a:br>
            <a:r>
              <a:rPr lang="en-US" sz="3600" dirty="0"/>
              <a:t>Module 1: Foundations of Genomic Epidemiology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9AA65E-58A8-EC8D-10B9-40242317E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254" y="2547302"/>
            <a:ext cx="8699500" cy="576072"/>
          </a:xfrm>
        </p:spPr>
        <p:txBody>
          <a:bodyPr/>
          <a:lstStyle/>
          <a:p>
            <a:pPr algn="l"/>
            <a:r>
              <a:rPr lang="en-US" sz="3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Practical: CRAB Outbreak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EB65-C14F-294A-9376-614B585D4F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400" y="5092769"/>
            <a:ext cx="10905316" cy="984467"/>
          </a:xfrm>
        </p:spPr>
        <p:txBody>
          <a:bodyPr/>
          <a:lstStyle/>
          <a:p>
            <a:r>
              <a:rPr lang="en-US" dirty="0"/>
              <a:t>Georgia Public Health Laboratory / Tatyana Kiryutina, Bioinformatics Manager / Sept. 4, 2026</a:t>
            </a:r>
          </a:p>
          <a:p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261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46618D-1170-A262-08F7-0F4B5CA0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0420B-20AA-9DDF-BFF8-4CA9698FCC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84350"/>
            <a:ext cx="10149348" cy="44370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bioinformatics-to-epidemiology workflow for bacterial outbreak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Outline data sharing and collaboration between public health bioinformaticians and epidemiologists.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Generate a phylogenetic tree, pairwise genomic distance matrix, and other visualizations in </a:t>
            </a:r>
            <a:r>
              <a:rPr lang="en-US" b="1" dirty="0" err="1"/>
              <a:t>Microreact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Interpret phylogenetic clusters in the context of an outbreak.</a:t>
            </a:r>
          </a:p>
        </p:txBody>
      </p:sp>
    </p:spTree>
    <p:extLst>
      <p:ext uri="{BB962C8B-B14F-4D97-AF65-F5344CB8AC3E}">
        <p14:creationId xmlns:p14="http://schemas.microsoft.com/office/powerpoint/2010/main" val="170211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4FFD8B-E341-9390-6925-FAF41BA2B1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745434"/>
            <a:ext cx="10515600" cy="64865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CP-CRAB Outbreak Scenario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86DBCB-3A2A-A0EA-2C3C-11D6203C92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576360"/>
            <a:ext cx="6108290" cy="4840737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In November 2024, the Georgia Department of Public Health (DPH) identified a multi-facility CP-CRAB outbreak in central Georgia.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b="1" dirty="0" err="1"/>
              <a:t>Carbapenemase</a:t>
            </a:r>
            <a:r>
              <a:rPr lang="en-US" sz="2200" b="1" dirty="0"/>
              <a:t>-producing carbapenem-resistant </a:t>
            </a:r>
            <a:r>
              <a:rPr lang="en-US" sz="2200" b="1" i="1" dirty="0"/>
              <a:t>Acinetobacter baumannii</a:t>
            </a:r>
            <a:r>
              <a:rPr lang="en-US" sz="2200" b="1" dirty="0"/>
              <a:t> (CP-CRAB) </a:t>
            </a:r>
            <a:r>
              <a:rPr lang="en-US" sz="2200" dirty="0"/>
              <a:t>is a healthcare-associated pathogen that can persist in healthcare environments and spread among vulnerable patients.</a:t>
            </a:r>
            <a:endParaRPr lang="en-US" sz="2200" b="1" dirty="0"/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b="1" dirty="0"/>
              <a:t>Healthcare-associated infections (HAIs) </a:t>
            </a:r>
            <a:r>
              <a:rPr lang="en-US" sz="2200" dirty="0"/>
              <a:t>are infections acquired while receiving healthcare. Those caused by antimicrobial-resistant (AMR) organisms can be difficult to treat and life-threatening.</a:t>
            </a:r>
          </a:p>
        </p:txBody>
      </p:sp>
      <p:pic>
        <p:nvPicPr>
          <p:cNvPr id="8" name="Picture 7" descr="Acinetobacter baumannii - helium ion microscopy">
            <a:extLst>
              <a:ext uri="{FF2B5EF4-FFF2-40B4-BE49-F238E27FC236}">
                <a16:creationId xmlns:a16="http://schemas.microsoft.com/office/drawing/2014/main" id="{F75AC24B-19F1-7277-275B-C82F51A27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26" y="2300697"/>
            <a:ext cx="1942022" cy="1696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8E722C-89A1-6543-7236-C74E280F78CD}"/>
              </a:ext>
            </a:extLst>
          </p:cNvPr>
          <p:cNvSpPr txBox="1"/>
          <p:nvPr/>
        </p:nvSpPr>
        <p:spPr>
          <a:xfrm>
            <a:off x="7171562" y="4204718"/>
            <a:ext cx="488039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55555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Acinetobacter baumannii </a:t>
            </a:r>
            <a:r>
              <a:rPr lang="en-US" sz="12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– helium ion microscopy</a:t>
            </a:r>
          </a:p>
          <a:p>
            <a:r>
              <a:rPr lang="en-US" sz="12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https://miphidic.com/2014/10/05/acinetobacter-baumannii-image</a:t>
            </a:r>
            <a:r>
              <a:rPr lang="en-US" sz="1275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6490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34AE1C-82C9-EC8B-345D-D1B27EB8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Environment Adaptability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D8E1FE-2C89-484E-8833-0ADAF440D8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84350"/>
            <a:ext cx="10090355" cy="4437063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University of Florida supercomputing cluster, HiPerGator, is provided through our Bioinformatics Regional Resource (Florida BRR) to public health departments in the Southeast region.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bioinformatics analysis code provided is configured for HiPerGator and its SLURM workload manager.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workflow and associated scripts can be adapted for use in other computing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65364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F2EB85-B135-4021-1C5D-397C125E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1292"/>
            <a:ext cx="10515600" cy="648651"/>
          </a:xfrm>
        </p:spPr>
        <p:txBody>
          <a:bodyPr/>
          <a:lstStyle/>
          <a:p>
            <a:r>
              <a:rPr lang="en-US" dirty="0"/>
              <a:t>Bioinformatics Workflow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EAF0BD-90C0-45C3-97D7-5C127D69F430}"/>
              </a:ext>
            </a:extLst>
          </p:cNvPr>
          <p:cNvSpPr/>
          <p:nvPr/>
        </p:nvSpPr>
        <p:spPr>
          <a:xfrm>
            <a:off x="1000668" y="1610004"/>
            <a:ext cx="1830239" cy="914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Sequenced isolates on NCBI</a:t>
            </a:r>
          </a:p>
        </p:txBody>
      </p:sp>
      <p:cxnSp>
        <p:nvCxnSpPr>
          <p:cNvPr id="8" name="Straight Arrow Connector 7" descr="Arrow from Sequenced isolates on NCBI&#10;to SRA Toolkit: fasterq-dump">
            <a:extLst>
              <a:ext uri="{FF2B5EF4-FFF2-40B4-BE49-F238E27FC236}">
                <a16:creationId xmlns:a16="http://schemas.microsoft.com/office/drawing/2014/main" id="{0E02569D-05FB-EFA4-7020-BDF47CFC848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915788" y="2484407"/>
            <a:ext cx="1" cy="457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BF2C8B-5C0A-3B2B-D7B3-1095801D4FD2}"/>
              </a:ext>
            </a:extLst>
          </p:cNvPr>
          <p:cNvSpPr txBox="1"/>
          <p:nvPr/>
        </p:nvSpPr>
        <p:spPr>
          <a:xfrm>
            <a:off x="794391" y="2532224"/>
            <a:ext cx="1037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srr_ids.txt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FE88E-AAB3-F16A-7ECD-43C12AA0E1A7}"/>
              </a:ext>
            </a:extLst>
          </p:cNvPr>
          <p:cNvSpPr/>
          <p:nvPr/>
        </p:nvSpPr>
        <p:spPr>
          <a:xfrm>
            <a:off x="1000669" y="2941606"/>
            <a:ext cx="1830239" cy="914400"/>
          </a:xfrm>
          <a:prstGeom prst="rect">
            <a:avLst/>
          </a:prstGeom>
          <a:solidFill>
            <a:srgbClr val="7DD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SRA Toolkit: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fasterq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-dump</a:t>
            </a:r>
          </a:p>
        </p:txBody>
      </p:sp>
      <p:cxnSp>
        <p:nvCxnSpPr>
          <p:cNvPr id="11" name="Straight Arrow Connector 10" descr="Arrow from SRA Toolkit:&#10;fasterq-dump to PHoeNIx pipeline">
            <a:extLst>
              <a:ext uri="{FF2B5EF4-FFF2-40B4-BE49-F238E27FC236}">
                <a16:creationId xmlns:a16="http://schemas.microsoft.com/office/drawing/2014/main" id="{8760E65D-CFB3-2ECB-FB5A-F984813BC2B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30908" y="3398806"/>
            <a:ext cx="9560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BE447A-1330-C45A-FED2-F71E01D0D334}"/>
              </a:ext>
            </a:extLst>
          </p:cNvPr>
          <p:cNvSpPr txBox="1"/>
          <p:nvPr/>
        </p:nvSpPr>
        <p:spPr>
          <a:xfrm>
            <a:off x="2876112" y="3415257"/>
            <a:ext cx="768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FASTQ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7BDD17-BE29-9D49-80E4-85CE9ABAE2D2}"/>
              </a:ext>
            </a:extLst>
          </p:cNvPr>
          <p:cNvSpPr/>
          <p:nvPr/>
        </p:nvSpPr>
        <p:spPr>
          <a:xfrm>
            <a:off x="3787003" y="2941606"/>
            <a:ext cx="1429109" cy="914400"/>
          </a:xfrm>
          <a:prstGeom prst="rect">
            <a:avLst/>
          </a:prstGeom>
          <a:solidFill>
            <a:srgbClr val="F092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PHoeNIx</a:t>
            </a:r>
          </a:p>
        </p:txBody>
      </p:sp>
      <p:cxnSp>
        <p:nvCxnSpPr>
          <p:cNvPr id="18" name="Straight Arrow Connector 17" descr="Arrow from PHoeNIx to BigBacter">
            <a:extLst>
              <a:ext uri="{FF2B5EF4-FFF2-40B4-BE49-F238E27FC236}">
                <a16:creationId xmlns:a16="http://schemas.microsoft.com/office/drawing/2014/main" id="{B2D2ADC2-130A-DDAE-B9EE-140268A438C1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>
            <a:off x="5216112" y="3398806"/>
            <a:ext cx="12225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838ACA4-B3FE-E0FF-0889-9608BF88FE4F}"/>
              </a:ext>
            </a:extLst>
          </p:cNvPr>
          <p:cNvSpPr txBox="1"/>
          <p:nvPr/>
        </p:nvSpPr>
        <p:spPr>
          <a:xfrm>
            <a:off x="5216112" y="3416058"/>
            <a:ext cx="1159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Genome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assemblies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(FASTA)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0B4236-A818-2609-5D38-F6E5BBCCD472}"/>
              </a:ext>
            </a:extLst>
          </p:cNvPr>
          <p:cNvSpPr/>
          <p:nvPr/>
        </p:nvSpPr>
        <p:spPr>
          <a:xfrm>
            <a:off x="6438694" y="2941606"/>
            <a:ext cx="1429109" cy="914400"/>
          </a:xfrm>
          <a:prstGeom prst="rect">
            <a:avLst/>
          </a:prstGeom>
          <a:solidFill>
            <a:srgbClr val="61FF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BigBacter</a:t>
            </a:r>
            <a:endParaRPr lang="en-US" sz="16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Straight Arrow Connector 35" descr="Arrow from BigBacter pipeline to Microreact logo">
            <a:extLst>
              <a:ext uri="{FF2B5EF4-FFF2-40B4-BE49-F238E27FC236}">
                <a16:creationId xmlns:a16="http://schemas.microsoft.com/office/drawing/2014/main" id="{56BEAAC9-7227-E408-7FFF-5DE321FD9424}"/>
              </a:ext>
            </a:extLst>
          </p:cNvPr>
          <p:cNvCxnSpPr>
            <a:cxnSpLocks/>
          </p:cNvCxnSpPr>
          <p:nvPr/>
        </p:nvCxnSpPr>
        <p:spPr>
          <a:xfrm>
            <a:off x="7867803" y="3424686"/>
            <a:ext cx="13303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26909CF-53BD-D48B-8E58-393C992836C2}"/>
              </a:ext>
            </a:extLst>
          </p:cNvPr>
          <p:cNvSpPr txBox="1"/>
          <p:nvPr/>
        </p:nvSpPr>
        <p:spPr>
          <a:xfrm>
            <a:off x="7867803" y="3387775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Microreact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</a:p>
        </p:txBody>
      </p:sp>
      <p:pic>
        <p:nvPicPr>
          <p:cNvPr id="35" name="Picture 34" descr="Microreact Logo">
            <a:extLst>
              <a:ext uri="{FF2B5EF4-FFF2-40B4-BE49-F238E27FC236}">
                <a16:creationId xmlns:a16="http://schemas.microsoft.com/office/drawing/2014/main" id="{D0EC1F55-3A4F-BE51-820B-468C2E5AC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234" y="3233947"/>
            <a:ext cx="1676820" cy="381477"/>
          </a:xfrm>
          <a:prstGeom prst="rect">
            <a:avLst/>
          </a:prstGeom>
        </p:spPr>
      </p:pic>
      <p:cxnSp>
        <p:nvCxnSpPr>
          <p:cNvPr id="56" name="Connector: Elbow 55" descr="Arrow from Microreact logo to &quot;additional isolates sequenced&quot;">
            <a:extLst>
              <a:ext uri="{FF2B5EF4-FFF2-40B4-BE49-F238E27FC236}">
                <a16:creationId xmlns:a16="http://schemas.microsoft.com/office/drawing/2014/main" id="{F2FF14B4-EBE1-3C81-4043-8582CDDE499A}"/>
              </a:ext>
            </a:extLst>
          </p:cNvPr>
          <p:cNvCxnSpPr>
            <a:cxnSpLocks/>
            <a:stCxn id="35" idx="2"/>
            <a:endCxn id="58" idx="3"/>
          </p:cNvCxnSpPr>
          <p:nvPr/>
        </p:nvCxnSpPr>
        <p:spPr>
          <a:xfrm rot="5400000">
            <a:off x="6571466" y="1012110"/>
            <a:ext cx="904865" cy="61114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26AE2534-55AC-4BBB-5558-CDCBA6BC43E8}"/>
              </a:ext>
            </a:extLst>
          </p:cNvPr>
          <p:cNvSpPr/>
          <p:nvPr/>
        </p:nvSpPr>
        <p:spPr>
          <a:xfrm>
            <a:off x="1000669" y="4273209"/>
            <a:ext cx="2967482" cy="4941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Additional isolates sequenced</a:t>
            </a:r>
          </a:p>
        </p:txBody>
      </p:sp>
      <p:cxnSp>
        <p:nvCxnSpPr>
          <p:cNvPr id="66" name="Straight Arrow Connector 65" descr="Arrow from additional isolates sequenced back to to &quot;SRA Toolkit: fasterq-dump&quot;">
            <a:extLst>
              <a:ext uri="{FF2B5EF4-FFF2-40B4-BE49-F238E27FC236}">
                <a16:creationId xmlns:a16="http://schemas.microsoft.com/office/drawing/2014/main" id="{B4CD32D6-F614-CAD4-9FFA-48D8AA299AAF}"/>
              </a:ext>
            </a:extLst>
          </p:cNvPr>
          <p:cNvCxnSpPr>
            <a:endCxn id="4" idx="2"/>
          </p:cNvCxnSpPr>
          <p:nvPr/>
        </p:nvCxnSpPr>
        <p:spPr>
          <a:xfrm flipV="1">
            <a:off x="1915788" y="3856006"/>
            <a:ext cx="1" cy="417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32FB6C1-AEE5-870E-09BE-F4FC5D1EE1FB}"/>
              </a:ext>
            </a:extLst>
          </p:cNvPr>
          <p:cNvSpPr txBox="1"/>
          <p:nvPr/>
        </p:nvSpPr>
        <p:spPr>
          <a:xfrm>
            <a:off x="812321" y="3874788"/>
            <a:ext cx="1037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srr_ids.txt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5B16DB-D630-11B3-ACB1-A4BAE4C875D6}"/>
              </a:ext>
            </a:extLst>
          </p:cNvPr>
          <p:cNvSpPr txBox="1"/>
          <p:nvPr/>
        </p:nvSpPr>
        <p:spPr>
          <a:xfrm>
            <a:off x="868988" y="5040546"/>
            <a:ext cx="10515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Run instructions are laid out in </a:t>
            </a:r>
            <a:r>
              <a:rPr lang="en-US" sz="2200" u="sng" dirty="0">
                <a:solidFill>
                  <a:srgbClr val="EC1C2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DPH-Code-Running-Instructions.pptx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SRA Toolkit: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https://github.com/ncbi/sra-tools/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PHoeNIx: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https://github.com/CDCgov/phoenix/wiki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BigBacter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https://github.com/NW-PaGe/bigbacter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5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758E75-AB42-3F16-BA19-6E6EA073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Output: Snippy </a:t>
            </a:r>
            <a:r>
              <a:rPr lang="en-US" dirty="0" err="1"/>
              <a:t>Microreact</a:t>
            </a:r>
            <a:r>
              <a:rPr lang="en-US" dirty="0"/>
              <a:t> File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6EF4C-D2FB-5485-C8AC-369444AC99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675503"/>
            <a:ext cx="10515600" cy="4437063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primary </a:t>
            </a:r>
            <a:r>
              <a:rPr lang="en-US" b="1" dirty="0" err="1"/>
              <a:t>BigBacter</a:t>
            </a:r>
            <a:r>
              <a:rPr lang="en-US" dirty="0"/>
              <a:t> output is the </a:t>
            </a:r>
            <a:r>
              <a:rPr lang="en-US" dirty="0" err="1"/>
              <a:t>Microreact</a:t>
            </a:r>
            <a:r>
              <a:rPr lang="en-US" dirty="0"/>
              <a:t> file (</a:t>
            </a:r>
            <a:r>
              <a:rPr lang="en-US" b="1" dirty="0"/>
              <a:t>*.</a:t>
            </a:r>
            <a:r>
              <a:rPr lang="en-US" b="1" dirty="0" err="1"/>
              <a:t>snippy.microreact</a:t>
            </a:r>
            <a:r>
              <a:rPr lang="en-US" dirty="0"/>
              <a:t>)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Contains phylogenetic results needed for visualization and interpretation.</a:t>
            </a:r>
          </a:p>
          <a:p>
            <a:pPr marL="731520" lvl="1" indent="-34290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be uploaded directly to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Microreact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dirty="0"/>
          </a:p>
        </p:txBody>
      </p:sp>
      <p:pic>
        <p:nvPicPr>
          <p:cNvPr id="5" name="Picture 4" descr="Figure of how to drop input files into Microreact. It takes many file types.">
            <a:extLst>
              <a:ext uri="{FF2B5EF4-FFF2-40B4-BE49-F238E27FC236}">
                <a16:creationId xmlns:a16="http://schemas.microsoft.com/office/drawing/2014/main" id="{62DE3B30-6562-9B6D-8433-289D1D2F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328" y="3641485"/>
            <a:ext cx="4050264" cy="297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3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CCD378-A5A4-54A4-87E0-2187C9168F0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146" y="1572419"/>
            <a:ext cx="4700588" cy="44370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Maximum-likelihood phylogenetic tree: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*_core-snps_ML.snippy.jpg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Static image of the phylogenetic tree for a quick overview.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Shows relationships among isolates based on core-genome SNPs.</a:t>
            </a:r>
          </a:p>
        </p:txBody>
      </p:sp>
      <p:pic>
        <p:nvPicPr>
          <p:cNvPr id="5" name="Picture 4" descr="Figure of phylogenetic tree.">
            <a:extLst>
              <a:ext uri="{FF2B5EF4-FFF2-40B4-BE49-F238E27FC236}">
                <a16:creationId xmlns:a16="http://schemas.microsoft.com/office/drawing/2014/main" id="{B3D0019D-69C3-2B54-65C3-5576BBAB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34" y="265981"/>
            <a:ext cx="6326038" cy="63260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36D861-D5C1-2539-B837-1421EF7718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5557" y="1017588"/>
            <a:ext cx="6326038" cy="110966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Secondary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BigBacter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Outputs</a:t>
            </a:r>
          </a:p>
        </p:txBody>
      </p:sp>
    </p:spTree>
    <p:extLst>
      <p:ext uri="{BB962C8B-B14F-4D97-AF65-F5344CB8AC3E}">
        <p14:creationId xmlns:p14="http://schemas.microsoft.com/office/powerpoint/2010/main" val="266510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7153634-DE3C-F42D-5B46-3995360FD5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5194" y="1165906"/>
            <a:ext cx="4500563" cy="110966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Secondary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BigBacter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Outputs (figure 2</a:t>
            </a:r>
            <a:r>
              <a:rPr lang="en-US" dirty="0"/>
              <a:t>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74F875-631D-2D57-4016-055190F0586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35194" y="2420937"/>
            <a:ext cx="4389438" cy="4437063"/>
          </a:xfrm>
          <a:prstGeom prst="rect">
            <a:avLst/>
          </a:prstGeom>
        </p:spPr>
        <p:txBody>
          <a:bodyPr/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Core SNP distance matrix: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*_core-snps_dist.snippy.jpg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Shows pairwise core SNP distances between isolates.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Highlights groups of closely related isolates.</a:t>
            </a:r>
          </a:p>
        </p:txBody>
      </p:sp>
      <p:pic>
        <p:nvPicPr>
          <p:cNvPr id="8" name="Picture 7" descr="FIgure of SNP distance matrix.">
            <a:extLst>
              <a:ext uri="{FF2B5EF4-FFF2-40B4-BE49-F238E27FC236}">
                <a16:creationId xmlns:a16="http://schemas.microsoft.com/office/drawing/2014/main" id="{8D8C2E44-B980-9F3E-E9A0-58A769760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177" y="284672"/>
            <a:ext cx="6852824" cy="571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7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A1CE8-E248-CB4C-7294-A1EA00FD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014DD3-F9AD-0F5C-565E-4D15178826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84350"/>
            <a:ext cx="10842523" cy="44370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Practice modifying and running the code on your own time.</a:t>
            </a:r>
          </a:p>
          <a:p>
            <a:endParaRPr lang="en-US" dirty="0"/>
          </a:p>
          <a:p>
            <a:r>
              <a:rPr lang="en-US" dirty="0"/>
              <a:t>For additional information or questions, please contact:</a:t>
            </a:r>
          </a:p>
          <a:p>
            <a:r>
              <a:rPr lang="en-US" dirty="0">
                <a:hlinkClick r:id="rId2"/>
              </a:rPr>
              <a:t>tatyana.kiryutina@dph.ga.gov</a:t>
            </a:r>
            <a:endParaRPr lang="en-US" dirty="0"/>
          </a:p>
          <a:p>
            <a:endParaRPr lang="en-US" dirty="0"/>
          </a:p>
          <a:p>
            <a:r>
              <a:rPr lang="en-US" dirty="0"/>
              <a:t>Next section: </a:t>
            </a:r>
            <a:r>
              <a:rPr lang="en-US" b="1" dirty="0" err="1"/>
              <a:t>Microreact</a:t>
            </a:r>
            <a:endParaRPr lang="en-US" b="1" dirty="0"/>
          </a:p>
          <a:p>
            <a:r>
              <a:rPr lang="en-US" dirty="0"/>
              <a:t>Dhondup </a:t>
            </a:r>
            <a:r>
              <a:rPr lang="en-US" dirty="0" err="1"/>
              <a:t>Urg</a:t>
            </a:r>
            <a:r>
              <a:rPr lang="en-US" dirty="0"/>
              <a:t> (</a:t>
            </a:r>
            <a:r>
              <a:rPr lang="en-US" dirty="0" err="1"/>
              <a:t>Dhon</a:t>
            </a:r>
            <a:r>
              <a:rPr lang="en-US" dirty="0"/>
              <a:t>), DPH Biostatistician and Epidemiologist </a:t>
            </a:r>
            <a:r>
              <a:rPr lang="en-US"/>
              <a:t>at DPH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02660"/>
      </p:ext>
    </p:extLst>
  </p:cSld>
  <p:clrMapOvr>
    <a:masterClrMapping/>
  </p:clrMapOvr>
</p:sld>
</file>

<file path=ppt/theme/theme1.xml><?xml version="1.0" encoding="utf-8"?>
<a:theme xmlns:a="http://schemas.openxmlformats.org/drawingml/2006/main" name="Final DPH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PH_PowerPoint_template" id="{CB0874B1-8365-6A4B-B852-3F2897034437}" vid="{3BB029D3-DC44-F446-820A-560263CF7B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B425105392C44B94434CEE755DA5AC" ma:contentTypeVersion="2" ma:contentTypeDescription="Create a new document." ma:contentTypeScope="" ma:versionID="eb2441bea8d196a1acd50d680c4e2945">
  <xsd:schema xmlns:xsd="http://www.w3.org/2001/XMLSchema" xmlns:xs="http://www.w3.org/2001/XMLSchema" xmlns:p="http://schemas.microsoft.com/office/2006/metadata/properties" xmlns:ns2="a58f4ec5-84af-47d7-822e-05e14ccb2632" xmlns:ns3="bb8a9f79-d918-4566-82ee-8343ec74cd69" targetNamespace="http://schemas.microsoft.com/office/2006/metadata/properties" ma:root="true" ma:fieldsID="d4eb9c654f062cdb73447b43c26c92e0" ns2:_="" ns3:_="">
    <xsd:import namespace="a58f4ec5-84af-47d7-822e-05e14ccb2632"/>
    <xsd:import namespace="bb8a9f79-d918-4566-82ee-8343ec74cd6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8f4ec5-84af-47d7-822e-05e14ccb263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a9f79-d918-4566-82ee-8343ec74cd69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4e6c44a-700d-46b7-9c1f-2c5e8e433b8f}" ma:internalName="TaxCatchAll" ma:showField="CatchAllData" ma:web="bb8a9f79-d918-4566-82ee-8343ec74cd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8f4ec5-84af-47d7-822e-05e14ccb2632" xsi:nil="true"/>
    <TaxCatchAll xmlns="bb8a9f79-d918-4566-82ee-8343ec74cd69" xsi:nil="true"/>
  </documentManagement>
</p:properties>
</file>

<file path=customXml/itemProps1.xml><?xml version="1.0" encoding="utf-8"?>
<ds:datastoreItem xmlns:ds="http://schemas.openxmlformats.org/officeDocument/2006/customXml" ds:itemID="{61B642EF-DBB6-49AF-B727-D4FA059910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6BCF20-3EDD-49E6-82C7-E151A80B8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8f4ec5-84af-47d7-822e-05e14ccb2632"/>
    <ds:schemaRef ds:uri="bb8a9f79-d918-4566-82ee-8343ec74cd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174DA3-DDEF-4265-9A68-40C710D471EA}">
  <ds:schemaRefs>
    <ds:schemaRef ds:uri="http://schemas.microsoft.com/office/2006/metadata/properties"/>
    <ds:schemaRef ds:uri="http://schemas.microsoft.com/office/infopath/2007/PartnerControls"/>
    <ds:schemaRef ds:uri="1c0417ab-d2e7-45cd-8a5a-511ee909dc1a"/>
    <ds:schemaRef ds:uri="f2c7b61c-b728-4598-8815-1c9a9dd9b243"/>
    <ds:schemaRef ds:uri="a58f4ec5-84af-47d7-822e-05e14ccb2632"/>
    <ds:schemaRef ds:uri="bb8a9f79-d918-4566-82ee-8343ec74cd69"/>
  </ds:schemaRefs>
</ds:datastoreItem>
</file>

<file path=docMetadata/LabelInfo.xml><?xml version="1.0" encoding="utf-8"?>
<clbl:labelList xmlns:clbl="http://schemas.microsoft.com/office/2020/mipLabelMetadata">
  <clbl:label id="{512da10d-071b-4b94-8abc-9ec4044d1516}" enabled="0" method="" siteId="{512da10d-071b-4b94-8abc-9ec4044d15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2023DPH_PowerPoint_template</Template>
  <TotalTime>2317</TotalTime>
  <Words>519</Words>
  <Application>Microsoft Office PowerPoint</Application>
  <PresentationFormat>Widescreen</PresentationFormat>
  <Paragraphs>70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Courier New</vt:lpstr>
      <vt:lpstr>Segoe UI</vt:lpstr>
      <vt:lpstr>Segoe UI Light</vt:lpstr>
      <vt:lpstr>Segoe UI Semibold</vt:lpstr>
      <vt:lpstr>Final DPH Theme</vt:lpstr>
      <vt:lpstr>2026 Molecular Epidemiology Training Series Module 1: Foundations of Genomic Epidemiology</vt:lpstr>
      <vt:lpstr>Learning Objectives</vt:lpstr>
      <vt:lpstr>CP-CRAB Outbreak Scenario</vt:lpstr>
      <vt:lpstr>Computational Environment Adaptability</vt:lpstr>
      <vt:lpstr>Bioinformatics Workflow</vt:lpstr>
      <vt:lpstr>Main Output: Snippy Microreact File</vt:lpstr>
      <vt:lpstr>Secondary BigBacter Outputs</vt:lpstr>
      <vt:lpstr>Secondary BigBacter Outputs (figure 2)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Kiryutina, Tatyana</dc:creator>
  <cp:lastModifiedBy>Nydam Shirek, Nancy</cp:lastModifiedBy>
  <cp:revision>701</cp:revision>
  <dcterms:created xsi:type="dcterms:W3CDTF">2024-04-16T15:14:30Z</dcterms:created>
  <dcterms:modified xsi:type="dcterms:W3CDTF">2026-08-20T21:47:24Z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0x010100D4B425105392C44B94434CEE755DA5AC</vt:lpwstr>
  </property>
  <property fmtid="{D5CDD505-2E9C-101B-9397-08002B2CF9AE}" pid="3" name="Request">
    <vt:lpwstr>2893</vt:lpwstr>
  </property>
  <property fmtid="{D5CDD505-2E9C-101B-9397-08002B2CF9AE}" pid="4" name="MediaServiceImageTags">
    <vt:lpwstr/>
  </property>
</Properties>
</file>