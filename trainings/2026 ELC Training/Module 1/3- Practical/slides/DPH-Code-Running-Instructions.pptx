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12"/>
  </p:notesMasterIdLst>
  <p:sldIdLst>
    <p:sldId id="279" r:id="rId5"/>
    <p:sldId id="284" r:id="rId6"/>
    <p:sldId id="285" r:id="rId7"/>
    <p:sldId id="286" r:id="rId8"/>
    <p:sldId id="287" r:id="rId9"/>
    <p:sldId id="288" r:id="rId10"/>
    <p:sldId id="290" r:id="rId1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052F6E-88BA-E571-2C95-D7FAAFC2D13E}" name="Kiryutina, Tatyana" initials="TK" userId="S::tatyana.kiryutina@dph.ga.gov::23cac6bc-0902-457d-b23a-6c394a05bad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1AEEDF-AF05-4305-82D2-2C723B94BA03}" v="1" dt="2026-08-19T13:31:16.098"/>
    <p1510:client id="{B5060C92-5205-408E-B787-0917C8A147F2}" v="6" dt="2026-08-19T17:05:48.9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67" autoAdjust="0"/>
    <p:restoredTop sz="92615" autoAdjust="0"/>
  </p:normalViewPr>
  <p:slideViewPr>
    <p:cSldViewPr snapToGrid="0">
      <p:cViewPr varScale="1">
        <p:scale>
          <a:sx n="78" d="100"/>
          <a:sy n="78" d="100"/>
        </p:scale>
        <p:origin x="120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58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340522-36E5-48FC-9595-AEACEECE8F3F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9B3408-7438-40E2-A3B2-93A35E855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63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9B3408-7438-40E2-A3B2-93A35E855D8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14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9B3408-7438-40E2-A3B2-93A35E855D8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246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76101"/>
            <a:ext cx="9867900" cy="7538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33400" y="1669122"/>
            <a:ext cx="8699500" cy="77986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000" baseline="0">
                <a:solidFill>
                  <a:srgbClr val="EC1C28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Title Heading 1, Segoe, 40(as needed)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2547302"/>
            <a:ext cx="8699500" cy="576072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4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5pPr marL="1828800" indent="0">
              <a:buNone/>
              <a:defRPr/>
            </a:lvl5pPr>
          </a:lstStyle>
          <a:p>
            <a:pPr algn="ctr"/>
            <a:r>
              <a:rPr lang="en-US" sz="4500" dirty="0">
                <a:solidFill>
                  <a:schemeClr val="bg1"/>
                </a:solidFill>
                <a:latin typeface="Segoe UI Light" panose="020B0502040204020203" pitchFamily="34" charset="0"/>
              </a:rPr>
              <a:t>Title Heading 2, Segoe, 40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5396580"/>
            <a:ext cx="9633585" cy="4196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 dirty="0"/>
              <a:t>Audience   /   Presenter’s name   /   Date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273800" y="3390900"/>
            <a:ext cx="2959100" cy="4064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Sub Heading (as needed)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206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w/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>
            <a:off x="838200" y="1394086"/>
            <a:ext cx="10515600" cy="0"/>
          </a:xfrm>
          <a:prstGeom prst="line">
            <a:avLst/>
          </a:prstGeom>
          <a:ln>
            <a:solidFill>
              <a:srgbClr val="EC1C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838200" y="1784350"/>
            <a:ext cx="10515600" cy="44370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Content should be written in Segoe UI. Font size should be 24 or 28 depending on amount of text. Font should not be smaller than 18 point. 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4C05CB-ABCC-BB87-2C4A-C58BB69CAA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745434"/>
            <a:ext cx="10515600" cy="64865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aseline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Page Title (Segoe UI – 40)</a:t>
            </a:r>
          </a:p>
        </p:txBody>
      </p:sp>
    </p:spTree>
    <p:extLst>
      <p:ext uri="{BB962C8B-B14F-4D97-AF65-F5344CB8AC3E}">
        <p14:creationId xmlns:p14="http://schemas.microsoft.com/office/powerpoint/2010/main" val="1875140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w/1 content &amp;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>
            <a:off x="838200" y="1394086"/>
            <a:ext cx="10515600" cy="0"/>
          </a:xfrm>
          <a:prstGeom prst="line">
            <a:avLst/>
          </a:prstGeom>
          <a:ln>
            <a:solidFill>
              <a:srgbClr val="EC1C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838200" y="1784350"/>
            <a:ext cx="10515600" cy="44370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Content should be written in Segoe UI. Font size should be 24 or 28 depending on amount of text. Font should not be smaller than 18 point. 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6332276"/>
            <a:ext cx="3225800" cy="2794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Source: Segoe UI 10 or 12</a:t>
            </a:r>
          </a:p>
          <a:p>
            <a:pPr lvl="0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8C1B9C9-02E4-D920-568D-248E94D337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745434"/>
            <a:ext cx="10515600" cy="64865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aseline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Page Title (Segoe UI – 40)</a:t>
            </a:r>
          </a:p>
        </p:txBody>
      </p:sp>
    </p:spTree>
    <p:extLst>
      <p:ext uri="{BB962C8B-B14F-4D97-AF65-F5344CB8AC3E}">
        <p14:creationId xmlns:p14="http://schemas.microsoft.com/office/powerpoint/2010/main" val="217361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w/ Contact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>
            <a:off x="838200" y="1394086"/>
            <a:ext cx="10515600" cy="0"/>
          </a:xfrm>
          <a:prstGeom prst="line">
            <a:avLst/>
          </a:prstGeom>
          <a:ln>
            <a:solidFill>
              <a:srgbClr val="EC1C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838200" y="2631993"/>
            <a:ext cx="10515600" cy="3589420"/>
          </a:xfrm>
          <a:prstGeom prst="rect">
            <a:avLst/>
          </a:prstGeom>
        </p:spPr>
        <p:txBody>
          <a:bodyPr/>
          <a:lstStyle>
            <a:lvl1pPr>
              <a:defRPr sz="1800" b="0" i="0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Contact information should be in Segoe UI, font size 18. 1st line (Full Name) in bold; 2nd line (Job Title); 3rd line (Work Phone); 4th line (Work Email).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6CBC02-1DC0-8A4E-ABC4-99AC95A7FB2B}"/>
              </a:ext>
            </a:extLst>
          </p:cNvPr>
          <p:cNvSpPr txBox="1"/>
          <p:nvPr userDrawn="1"/>
        </p:nvSpPr>
        <p:spPr>
          <a:xfrm>
            <a:off x="838200" y="670720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2525784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w/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625652" y="1648919"/>
            <a:ext cx="4728148" cy="4512038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Content should be written in Segoe UI. Font size should not be smaller than 18 point.  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838200" y="1394086"/>
            <a:ext cx="10515600" cy="0"/>
          </a:xfrm>
          <a:prstGeom prst="line">
            <a:avLst/>
          </a:prstGeom>
          <a:ln>
            <a:solidFill>
              <a:srgbClr val="EC1C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6086007" y="1648919"/>
            <a:ext cx="39973" cy="4512038"/>
          </a:xfrm>
          <a:prstGeom prst="line">
            <a:avLst/>
          </a:prstGeom>
          <a:ln>
            <a:solidFill>
              <a:srgbClr val="EC1C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/>
          <p:cNvSpPr>
            <a:spLocks noGrp="1"/>
          </p:cNvSpPr>
          <p:nvPr>
            <p:ph sz="half" idx="10" hasCustomPrompt="1"/>
          </p:nvPr>
        </p:nvSpPr>
        <p:spPr>
          <a:xfrm>
            <a:off x="838200" y="1648919"/>
            <a:ext cx="4728148" cy="4512038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Content should be written in Segoe UI. Font size should not be smaller than 18 point.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BCE49E-96B0-E8D1-70C9-719CB99B8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08121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Content should be written in Segoe UI. Font size should not to be smaller than 18 point. 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Content should be written in Segoe UI Light. Font size should not to be smaller than 18 point.  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745434"/>
            <a:ext cx="10515600" cy="64865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aseline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Page Title (Segoe UI – 40)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838200" y="1394086"/>
            <a:ext cx="10515600" cy="0"/>
          </a:xfrm>
          <a:prstGeom prst="line">
            <a:avLst/>
          </a:prstGeom>
          <a:ln>
            <a:solidFill>
              <a:srgbClr val="EC1C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428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5616" y="4582697"/>
            <a:ext cx="10193313" cy="349068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000" baseline="0">
                <a:latin typeface="Segoe UI Semibold" panose="020B0702040204020203" pitchFamily="34" charset="0"/>
              </a:defRPr>
            </a:lvl1pPr>
          </a:lstStyle>
          <a:p>
            <a:pPr lvl="0"/>
            <a:br>
              <a:rPr lang="en-US" dirty="0"/>
            </a:br>
            <a:r>
              <a:rPr lang="en-US" dirty="0"/>
              <a:t>Font for caption should be Segoe UI </a:t>
            </a:r>
            <a:r>
              <a:rPr lang="en-US" dirty="0" err="1"/>
              <a:t>Semibold</a:t>
            </a:r>
            <a:r>
              <a:rPr lang="en-US" dirty="0"/>
              <a:t>.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65617" y="342424"/>
            <a:ext cx="10193312" cy="41132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944380" y="5058749"/>
            <a:ext cx="9233941" cy="135704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Content should be written in Segoe UI. Font size should be at least 18 point.</a:t>
            </a:r>
          </a:p>
        </p:txBody>
      </p:sp>
    </p:spTree>
    <p:extLst>
      <p:ext uri="{BB962C8B-B14F-4D97-AF65-F5344CB8AC3E}">
        <p14:creationId xmlns:p14="http://schemas.microsoft.com/office/powerpoint/2010/main" val="2030174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3406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706" y="6662657"/>
            <a:ext cx="6514294" cy="2028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88072" y="6639701"/>
            <a:ext cx="34692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spc="100" baseline="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GEORGIA DEPARTMENT OF PUBLIC HEALTH</a:t>
            </a:r>
          </a:p>
        </p:txBody>
      </p:sp>
    </p:spTree>
    <p:extLst>
      <p:ext uri="{BB962C8B-B14F-4D97-AF65-F5344CB8AC3E}">
        <p14:creationId xmlns:p14="http://schemas.microsoft.com/office/powerpoint/2010/main" val="117502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686" r:id="rId2"/>
    <p:sldLayoutId id="2147483708" r:id="rId3"/>
    <p:sldLayoutId id="2147483711" r:id="rId4"/>
    <p:sldLayoutId id="2147483665" r:id="rId5"/>
    <p:sldLayoutId id="2147483678" r:id="rId6"/>
    <p:sldLayoutId id="2147483670" r:id="rId7"/>
    <p:sldLayoutId id="2147483712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baseline="0">
          <a:solidFill>
            <a:schemeClr val="tx1">
              <a:lumMod val="75000"/>
              <a:lumOff val="25000"/>
            </a:schemeClr>
          </a:solidFill>
          <a:latin typeface="Segoe UI Light" panose="020B0502040204020203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Segoe UI Light" panose="020B05020402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ftp-trace.ncbi.nlm.nih.gov/sra/sdk/3.4.1/sratoolkit.3.4.1-ubuntu64.tar.gz" TargetMode="External"/><Relationship Id="rId2" Type="http://schemas.openxmlformats.org/officeDocument/2006/relationships/hyperlink" Target="https://github.com/ncbi/sra-tools/wiki/01.-Downloading-SRA-Toolki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DCgov/phoenix/wiki" TargetMode="External"/><Relationship Id="rId2" Type="http://schemas.openxmlformats.org/officeDocument/2006/relationships/hyperlink" Target="https://github.com/CDCgov/phoenix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W-PaGe/bigbacter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tatyana.kiryutina@dph.ga.gov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0E5E9-0C2C-45D6-C4E5-A347800B9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43394-5C5E-2EA0-2FAC-5432A341D1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757" y="1055126"/>
            <a:ext cx="11428485" cy="1278998"/>
          </a:xfrm>
        </p:spPr>
        <p:txBody>
          <a:bodyPr>
            <a:noAutofit/>
          </a:bodyPr>
          <a:lstStyle/>
          <a:p>
            <a:r>
              <a:rPr lang="en-US" sz="3600" dirty="0"/>
              <a:t>2026 Molecular Epidemiology Training Series</a:t>
            </a:r>
            <a:br>
              <a:rPr lang="en-US" sz="3600" dirty="0"/>
            </a:br>
            <a:r>
              <a:rPr lang="en-US" sz="3600" dirty="0"/>
              <a:t>Module 1: Foundations of Genomic Epidemiology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E9AA65E-58A8-EC8D-10B9-40242317EB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1616" y="2547302"/>
            <a:ext cx="8699500" cy="576072"/>
          </a:xfrm>
        </p:spPr>
        <p:txBody>
          <a:bodyPr/>
          <a:lstStyle/>
          <a:p>
            <a:pPr algn="l"/>
            <a:r>
              <a:rPr lang="en-US" sz="3600" dirty="0">
                <a:latin typeface="Segoe UI Light" panose="020B0502040204020203" pitchFamily="34" charset="0"/>
                <a:cs typeface="Segoe UI Light" panose="020B0502040204020203" pitchFamily="34" charset="0"/>
              </a:rPr>
              <a:t>Practical: CRAB Outbreak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6EB65-C14F-294A-9376-614B585D4FB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05596" y="5440314"/>
            <a:ext cx="11180806" cy="984467"/>
          </a:xfrm>
        </p:spPr>
        <p:txBody>
          <a:bodyPr/>
          <a:lstStyle/>
          <a:p>
            <a:r>
              <a:rPr lang="en-US" dirty="0"/>
              <a:t>Georgia Public Health Laboratory / Tatyana Kiryutina, Bioinformatics Manager / Sept. 4, 2026</a:t>
            </a:r>
          </a:p>
          <a:p>
            <a:r>
              <a:rPr lang="en-US" sz="2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22613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B3D97BC-9FEF-8CAF-530A-B0A2E4D96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Downloading FASTQs from NCBI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C324AC-0D6A-0F15-0FCF-92D25722396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84350"/>
            <a:ext cx="10258168" cy="44370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u="sng" dirty="0"/>
              <a:t>Installing SRA Toolkit:</a:t>
            </a:r>
          </a:p>
          <a:p>
            <a:pPr marL="731520" lvl="1" indent="-342900">
              <a:lnSpc>
                <a:spcPct val="11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https://github.com/ncbi/sra-tools/wiki/01.-Downloading-SRA-Toolkit</a:t>
            </a:r>
            <a:endParaRPr 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31520" lvl="1" indent="-342900">
              <a:lnSpc>
                <a:spcPct val="11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  <a:r>
              <a:rPr lang="en-US" sz="2200" u="sng" dirty="0"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Ubuntu Linux </a:t>
            </a:r>
            <a:r>
              <a:rPr lang="en-US" sz="2200" u="sng" dirty="0"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64 bit</a:t>
            </a:r>
            <a:r>
              <a:rPr lang="en-US" sz="2200" u="sng" dirty="0"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 architecture</a:t>
            </a:r>
            <a:endParaRPr 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u="sng" dirty="0"/>
              <a:t>Downloading FASTQs:</a:t>
            </a:r>
            <a:r>
              <a:rPr lang="en-US" sz="2200" dirty="0"/>
              <a:t> steps in </a:t>
            </a:r>
            <a:r>
              <a:rPr lang="en-US" sz="2200" b="1" dirty="0"/>
              <a:t>download-srr.sh</a:t>
            </a:r>
            <a:r>
              <a:rPr lang="en-US" sz="2200" dirty="0"/>
              <a:t> outlines the installation of the </a:t>
            </a:r>
            <a:r>
              <a:rPr lang="en-US" sz="2200" b="1" dirty="0"/>
              <a:t>SRA Toolkit</a:t>
            </a:r>
            <a:r>
              <a:rPr lang="en-US" sz="2200" dirty="0"/>
              <a:t>, then use </a:t>
            </a:r>
            <a:r>
              <a:rPr lang="en-US" sz="2200" b="1" dirty="0" err="1"/>
              <a:t>fasterq</a:t>
            </a:r>
            <a:r>
              <a:rPr lang="en-US" sz="2200" b="1" dirty="0"/>
              <a:t>-dump</a:t>
            </a:r>
            <a:r>
              <a:rPr lang="en-US" sz="2200" dirty="0"/>
              <a:t> to download FASTQ files for each provided SRR ID.</a:t>
            </a:r>
          </a:p>
          <a:p>
            <a:pPr marL="731520" lvl="1" indent="-342900">
              <a:lnSpc>
                <a:spcPct val="11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A list of 24 SRR IDs for CRAB isolates sequenced at GPHL is provided in </a:t>
            </a:r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srr_ids.txt</a:t>
            </a: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u="sng" dirty="0"/>
              <a:t>Renaming FASTQs:</a:t>
            </a:r>
            <a:r>
              <a:rPr lang="en-US" sz="2200" dirty="0"/>
              <a:t> optional steps to rename FASTQ files from SRR IDs to WGS IDs.</a:t>
            </a:r>
          </a:p>
          <a:p>
            <a:pPr marL="731520" lvl="1" indent="-342900">
              <a:lnSpc>
                <a:spcPct val="11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Example ID conversions are provided in </a:t>
            </a:r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sample_ids.txt</a:t>
            </a: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429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F24119-3927-3807-38C1-93FA864DD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Running the PHoeNIx Pipeline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F19066-F2CB-EE8D-AE35-64D2D0C2E51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PHoeNIx</a:t>
            </a:r>
            <a:r>
              <a:rPr lang="en-US" dirty="0"/>
              <a:t> pipeline is used to characterize the CRAB isolates and evaluate sequence quality:</a:t>
            </a:r>
          </a:p>
          <a:p>
            <a:pPr marL="731520" lvl="1" indent="-342900">
              <a:lnSpc>
                <a:spcPct val="11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https://github.com/CDCgov/phoenix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31520" lvl="1" indent="-342900">
              <a:lnSpc>
                <a:spcPct val="11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https://github.com/CDCgov/phoenix/wiki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An example SLURM job is included:</a:t>
            </a:r>
          </a:p>
          <a:p>
            <a:pPr marL="731520" lvl="1" indent="-342900">
              <a:lnSpc>
                <a:spcPct val="11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Run </a:t>
            </a: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sbatch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 sbatch-phoenix.sh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on HiPerGator after modifying your email and file names. </a:t>
            </a:r>
          </a:p>
          <a:p>
            <a:pPr marL="731520" lvl="1" indent="-342900">
              <a:lnSpc>
                <a:spcPct val="11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Modify the job parameters as needed if running on a different cluster.</a:t>
            </a:r>
          </a:p>
          <a:p>
            <a:pPr marL="731520" lvl="1" indent="-342900">
              <a:lnSpc>
                <a:spcPct val="11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If needed, manually pull failed containers as demonstrated in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fix-run.sh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, then re-run the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sbatch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script.</a:t>
            </a:r>
          </a:p>
        </p:txBody>
      </p:sp>
    </p:spTree>
    <p:extLst>
      <p:ext uri="{BB962C8B-B14F-4D97-AF65-F5344CB8AC3E}">
        <p14:creationId xmlns:p14="http://schemas.microsoft.com/office/powerpoint/2010/main" val="4078853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BFE1C3-2437-781A-4646-1A7C56D6F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Running the </a:t>
            </a:r>
            <a:r>
              <a:rPr lang="en-US" dirty="0" err="1"/>
              <a:t>BigBacter</a:t>
            </a:r>
            <a:r>
              <a:rPr lang="en-US" dirty="0"/>
              <a:t> Pipeline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FF35A3-DA75-0CB3-4CB7-7E3D9BF39D1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 err="1"/>
              <a:t>BigBacter</a:t>
            </a:r>
            <a:r>
              <a:rPr lang="en-US" dirty="0"/>
              <a:t> pipeline is used to perform phylogenetic analysis of the CRAB isolates and generate a </a:t>
            </a:r>
            <a:r>
              <a:rPr lang="en-US" b="1" dirty="0" err="1"/>
              <a:t>Microreact</a:t>
            </a:r>
            <a:r>
              <a:rPr lang="en-US" b="1" dirty="0"/>
              <a:t> file </a:t>
            </a:r>
            <a:r>
              <a:rPr lang="en-US" dirty="0"/>
              <a:t>for downstream visualization and interpretation.</a:t>
            </a:r>
          </a:p>
          <a:p>
            <a:pPr marL="731520" lvl="1" indent="-342900">
              <a:lnSpc>
                <a:spcPct val="11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https://github.com/NW-PaGe/bigbacter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Run the example SLURM script with </a:t>
            </a:r>
            <a:r>
              <a:rPr lang="en-US" b="1" dirty="0" err="1"/>
              <a:t>sbatch</a:t>
            </a:r>
            <a:r>
              <a:rPr lang="en-US" dirty="0"/>
              <a:t> </a:t>
            </a:r>
            <a:r>
              <a:rPr lang="en-US" b="1" dirty="0"/>
              <a:t>sbatch-bigbacter.sh</a:t>
            </a:r>
            <a:r>
              <a:rPr lang="en-US" dirty="0"/>
              <a:t> after modifying the file paths.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Run </a:t>
            </a:r>
            <a:r>
              <a:rPr lang="en-US" dirty="0" err="1"/>
              <a:t>BigBacter</a:t>
            </a:r>
            <a:r>
              <a:rPr lang="en-US" dirty="0"/>
              <a:t> again with </a:t>
            </a:r>
            <a:r>
              <a:rPr lang="en-US" b="1" dirty="0" err="1"/>
              <a:t>sbatch</a:t>
            </a:r>
            <a:r>
              <a:rPr lang="en-US" b="1" dirty="0"/>
              <a:t> sbatch-bigbacter-add-to-database.sh</a:t>
            </a:r>
            <a:r>
              <a:rPr lang="en-US" dirty="0"/>
              <a:t> to add the analyzed isolates to the </a:t>
            </a:r>
            <a:r>
              <a:rPr lang="en-US" b="1" dirty="0" err="1"/>
              <a:t>PopPUNK</a:t>
            </a:r>
            <a:r>
              <a:rPr lang="en-US" b="1" dirty="0"/>
              <a:t> </a:t>
            </a:r>
            <a:r>
              <a:rPr lang="en-US" i="1" dirty="0"/>
              <a:t>Acinetobacter baumannii </a:t>
            </a:r>
            <a:r>
              <a:rPr lang="en-US" dirty="0"/>
              <a:t>database.</a:t>
            </a:r>
          </a:p>
          <a:p>
            <a:pPr marL="731520" lvl="1" indent="-342900">
              <a:lnSpc>
                <a:spcPct val="11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This creates an outbreak-specific database and prepares it for the next example, in which additional isolates will be added.</a:t>
            </a:r>
          </a:p>
        </p:txBody>
      </p:sp>
    </p:spTree>
    <p:extLst>
      <p:ext uri="{BB962C8B-B14F-4D97-AF65-F5344CB8AC3E}">
        <p14:creationId xmlns:p14="http://schemas.microsoft.com/office/powerpoint/2010/main" val="1702793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7A87BA6-FABF-4089-6B23-18667A84D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4-6: Repeat with Additional Isolates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A711BE-F8B1-3B90-A071-1A7196905F9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Step 4 is a repeat of Step 1, downloading 27 additional outbreak-associated CRAB isolates sequenced at GPHL and submitted to NCBI.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Step 5 is a repeat of Step 2, running </a:t>
            </a:r>
            <a:r>
              <a:rPr lang="en-US" b="1" dirty="0"/>
              <a:t>PHoeNIx</a:t>
            </a:r>
            <a:r>
              <a:rPr lang="en-US" dirty="0"/>
              <a:t> on the additional isolates.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Step 6 is a repeat of Step 3, running </a:t>
            </a:r>
            <a:r>
              <a:rPr lang="en-US" b="1" dirty="0" err="1"/>
              <a:t>BigBacter</a:t>
            </a:r>
            <a:r>
              <a:rPr lang="en-US" dirty="0"/>
              <a:t> to add these isolates to the phylogenetic analysis.</a:t>
            </a:r>
          </a:p>
        </p:txBody>
      </p:sp>
    </p:spTree>
    <p:extLst>
      <p:ext uri="{BB962C8B-B14F-4D97-AF65-F5344CB8AC3E}">
        <p14:creationId xmlns:p14="http://schemas.microsoft.com/office/powerpoint/2010/main" val="4071565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FBC1B44-6069-F95A-89C1-28DD3252E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BigBacter</a:t>
            </a:r>
            <a:r>
              <a:rPr lang="en-US" dirty="0"/>
              <a:t> Outputs in Step 6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74F875-631D-2D57-4016-055190F0586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Microreact</a:t>
            </a:r>
            <a:r>
              <a:rPr lang="en-US" dirty="0"/>
              <a:t> file (</a:t>
            </a:r>
            <a:r>
              <a:rPr lang="en-US" b="1" dirty="0"/>
              <a:t>*.</a:t>
            </a:r>
            <a:r>
              <a:rPr lang="en-US" b="1" dirty="0" err="1"/>
              <a:t>snippy.microreact</a:t>
            </a:r>
            <a:r>
              <a:rPr lang="en-US" dirty="0"/>
              <a:t>)</a:t>
            </a:r>
          </a:p>
          <a:p>
            <a:pPr marL="731520" lvl="1" indent="-342900">
              <a:buFont typeface="Courier New" panose="02070309020205020404" pitchFamily="49" charset="0"/>
              <a:buChar char="o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Main output used in this practical for uploading to </a:t>
            </a:r>
            <a:r>
              <a:rPr lang="en-US" sz="22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Microreact</a:t>
            </a: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731520" lvl="1" indent="-342900">
              <a:buFont typeface="Courier New" panose="02070309020205020404" pitchFamily="49" charset="0"/>
              <a:buChar char="o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Contains phylogenetic results needed for visualization and interpretation.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Maximum-likelihood phylogenetic tree (</a:t>
            </a:r>
            <a:r>
              <a:rPr lang="en-US" b="1" dirty="0"/>
              <a:t>*_core-snps_ML.snippy.jpg</a:t>
            </a:r>
            <a:r>
              <a:rPr lang="en-US" dirty="0"/>
              <a:t>)</a:t>
            </a:r>
          </a:p>
          <a:p>
            <a:pPr marL="731520" lvl="1" indent="-342900">
              <a:buFont typeface="Courier New" panose="02070309020205020404" pitchFamily="49" charset="0"/>
              <a:buChar char="o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Displays the phylogenetic relationships among isolates based on core-genome single nucleotide polymorphisms (SNPs).</a:t>
            </a:r>
          </a:p>
          <a:p>
            <a:pPr marL="731520" lvl="1" indent="-342900">
              <a:buFont typeface="Courier New" panose="02070309020205020404" pitchFamily="49" charset="0"/>
              <a:buChar char="o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Provides a static visualization of the tree used in the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Core SNP distance plot (</a:t>
            </a:r>
            <a:r>
              <a:rPr lang="en-US" b="1" dirty="0"/>
              <a:t>*_core-snps_dist.snippy.jpg</a:t>
            </a:r>
            <a:r>
              <a:rPr lang="en-US" dirty="0"/>
              <a:t>)</a:t>
            </a:r>
          </a:p>
          <a:p>
            <a:pPr marL="731520" lvl="1" indent="-342900">
              <a:buFont typeface="Courier New" panose="02070309020205020404" pitchFamily="49" charset="0"/>
              <a:buChar char="o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Visualizes pairwise core SNP distances among isolates.</a:t>
            </a:r>
          </a:p>
          <a:p>
            <a:pPr marL="731520" lvl="1" indent="-342900">
              <a:buFont typeface="Courier New" panose="02070309020205020404" pitchFamily="49" charset="0"/>
              <a:buChar char="o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Helps evaluate how genetically similar or different the isolates are.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175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00A1CE8-E248-CB4C-7294-A1EA00FD3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014DD3-F9AD-0F5C-565E-4D151788267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199" y="1784350"/>
            <a:ext cx="10842523" cy="4437063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Practice modifying and running the code on your own time.</a:t>
            </a:r>
          </a:p>
          <a:p>
            <a:endParaRPr lang="en-US" dirty="0"/>
          </a:p>
          <a:p>
            <a:r>
              <a:rPr lang="en-US" dirty="0"/>
              <a:t>For additional information or questions, please contact:</a:t>
            </a:r>
          </a:p>
          <a:p>
            <a:r>
              <a:rPr lang="en-US" dirty="0">
                <a:hlinkClick r:id="rId2"/>
              </a:rPr>
              <a:t>tatyana.kiryutina@dph.ga.gov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902660"/>
      </p:ext>
    </p:extLst>
  </p:cSld>
  <p:clrMapOvr>
    <a:masterClrMapping/>
  </p:clrMapOvr>
</p:sld>
</file>

<file path=ppt/theme/theme1.xml><?xml version="1.0" encoding="utf-8"?>
<a:theme xmlns:a="http://schemas.openxmlformats.org/drawingml/2006/main" name="Final DPH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PH_PowerPoint_template" id="{CB0874B1-8365-6A4B-B852-3F2897034437}" vid="{3BB029D3-DC44-F446-820A-560263CF7B0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58f4ec5-84af-47d7-822e-05e14ccb2632" xsi:nil="true"/>
    <TaxCatchAll xmlns="bb8a9f79-d918-4566-82ee-8343ec74cd6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B425105392C44B94434CEE755DA5AC" ma:contentTypeVersion="2" ma:contentTypeDescription="Create a new document." ma:contentTypeScope="" ma:versionID="eb2441bea8d196a1acd50d680c4e2945">
  <xsd:schema xmlns:xsd="http://www.w3.org/2001/XMLSchema" xmlns:xs="http://www.w3.org/2001/XMLSchema" xmlns:p="http://schemas.microsoft.com/office/2006/metadata/properties" xmlns:ns2="a58f4ec5-84af-47d7-822e-05e14ccb2632" xmlns:ns3="bb8a9f79-d918-4566-82ee-8343ec74cd69" targetNamespace="http://schemas.microsoft.com/office/2006/metadata/properties" ma:root="true" ma:fieldsID="d4eb9c654f062cdb73447b43c26c92e0" ns2:_="" ns3:_="">
    <xsd:import namespace="a58f4ec5-84af-47d7-822e-05e14ccb2632"/>
    <xsd:import namespace="bb8a9f79-d918-4566-82ee-8343ec74cd69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8f4ec5-84af-47d7-822e-05e14ccb2632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8" nillable="true" ma:displayName="Image Tags_0" ma:hidden="true" ma:internalName="lcf76f155ced4ddcb4097134ff3c332f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8a9f79-d918-4566-82ee-8343ec74cd69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hidden="true" ma:list="{e4e6c44a-700d-46b7-9c1f-2c5e8e433b8f}" ma:internalName="TaxCatchAll" ma:showField="CatchAllData" ma:web="bb8a9f79-d918-4566-82ee-8343ec74cd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B642EF-DBB6-49AF-B727-D4FA0599104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6174DA3-DDEF-4265-9A68-40C710D471EA}">
  <ds:schemaRefs>
    <ds:schemaRef ds:uri="http://schemas.microsoft.com/office/2006/metadata/properties"/>
    <ds:schemaRef ds:uri="http://schemas.microsoft.com/office/infopath/2007/PartnerControls"/>
    <ds:schemaRef ds:uri="1c0417ab-d2e7-45cd-8a5a-511ee909dc1a"/>
    <ds:schemaRef ds:uri="f2c7b61c-b728-4598-8815-1c9a9dd9b243"/>
    <ds:schemaRef ds:uri="a58f4ec5-84af-47d7-822e-05e14ccb2632"/>
    <ds:schemaRef ds:uri="bb8a9f79-d918-4566-82ee-8343ec74cd69"/>
  </ds:schemaRefs>
</ds:datastoreItem>
</file>

<file path=customXml/itemProps3.xml><?xml version="1.0" encoding="utf-8"?>
<ds:datastoreItem xmlns:ds="http://schemas.openxmlformats.org/officeDocument/2006/customXml" ds:itemID="{8850637D-D36A-43D5-BED8-E47FC10284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58f4ec5-84af-47d7-822e-05e14ccb2632"/>
    <ds:schemaRef ds:uri="bb8a9f79-d918-4566-82ee-8343ec74cd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512da10d-071b-4b94-8abc-9ec4044d1516}" enabled="0" method="" siteId="{512da10d-071b-4b94-8abc-9ec4044d151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2023DPH_PowerPoint_template</Template>
  <TotalTime>3437</TotalTime>
  <Words>540</Words>
  <Application>Microsoft Office PowerPoint</Application>
  <PresentationFormat>Widescreen</PresentationFormat>
  <Paragraphs>48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Arial</vt:lpstr>
      <vt:lpstr>Courier New</vt:lpstr>
      <vt:lpstr>Segoe UI</vt:lpstr>
      <vt:lpstr>Segoe UI Light</vt:lpstr>
      <vt:lpstr>Segoe UI Semibold</vt:lpstr>
      <vt:lpstr>Final DPH Theme</vt:lpstr>
      <vt:lpstr>2026 Molecular Epidemiology Training Series Module 1: Foundations of Genomic Epidemiology</vt:lpstr>
      <vt:lpstr>Step 1: Downloading FASTQs from NCBI</vt:lpstr>
      <vt:lpstr>Step 2: Running the PHoeNIx Pipeline</vt:lpstr>
      <vt:lpstr>Step 3: Running the BigBacter Pipeline </vt:lpstr>
      <vt:lpstr>Steps 4-6: Repeat with Additional Isolates</vt:lpstr>
      <vt:lpstr>BigBacter Outputs in Step 6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Kiryutina, Tatyana</dc:creator>
  <cp:lastModifiedBy>Nydam Shirek, Nancy</cp:lastModifiedBy>
  <cp:revision>701</cp:revision>
  <dcterms:created xsi:type="dcterms:W3CDTF">2024-04-16T15:14:30Z</dcterms:created>
  <dcterms:modified xsi:type="dcterms:W3CDTF">2026-08-20T22:00:26Z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0x010100D4B425105392C44B94434CEE755DA5AC</vt:lpwstr>
  </property>
  <property fmtid="{D5CDD505-2E9C-101B-9397-08002B2CF9AE}" pid="3" name="Request">
    <vt:lpwstr>2893</vt:lpwstr>
  </property>
  <property fmtid="{D5CDD505-2E9C-101B-9397-08002B2CF9AE}" pid="4" name="MediaServiceImageTags">
    <vt:lpwstr/>
  </property>
</Properties>
</file>