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6"/>
  </p:notes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5CFD6-93F8-D64F-B0C5-5B29CF910A03}" v="23" dt="2026-08-17T20:33:48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05"/>
    <p:restoredTop sz="94639"/>
  </p:normalViewPr>
  <p:slideViewPr>
    <p:cSldViewPr snapToGrid="0" showGuides="1">
      <p:cViewPr>
        <p:scale>
          <a:sx n="80" d="100"/>
          <a:sy n="80" d="100"/>
        </p:scale>
        <p:origin x="144" y="1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dy Registre Carmola" userId="af9c9160-5150-4217-979a-ef27ac81a3b6" providerId="ADAL" clId="{9627E5F1-9541-5533-ACF0-AB40D52520FD}"/>
    <pc:docChg chg="undo custSel addSld delSld modSld">
      <pc:chgData name="Ludy Registre Carmola" userId="af9c9160-5150-4217-979a-ef27ac81a3b6" providerId="ADAL" clId="{9627E5F1-9541-5533-ACF0-AB40D52520FD}" dt="2026-08-17T21:05:32.861" v="171" actId="2696"/>
      <pc:docMkLst>
        <pc:docMk/>
      </pc:docMkLst>
      <pc:sldChg chg="del">
        <pc:chgData name="Ludy Registre Carmola" userId="af9c9160-5150-4217-979a-ef27ac81a3b6" providerId="ADAL" clId="{9627E5F1-9541-5533-ACF0-AB40D52520FD}" dt="2026-08-17T19:41:48.854" v="0" actId="2696"/>
        <pc:sldMkLst>
          <pc:docMk/>
          <pc:sldMk cId="0" sldId="258"/>
        </pc:sldMkLst>
      </pc:sldChg>
      <pc:sldChg chg="modSp">
        <pc:chgData name="Ludy Registre Carmola" userId="af9c9160-5150-4217-979a-ef27ac81a3b6" providerId="ADAL" clId="{9627E5F1-9541-5533-ACF0-AB40D52520FD}" dt="2026-08-17T20:33:48.398" v="131"/>
        <pc:sldMkLst>
          <pc:docMk/>
          <pc:sldMk cId="387112594" sldId="259"/>
        </pc:sldMkLst>
        <pc:graphicFrameChg chg="mod">
          <ac:chgData name="Ludy Registre Carmola" userId="af9c9160-5150-4217-979a-ef27ac81a3b6" providerId="ADAL" clId="{9627E5F1-9541-5533-ACF0-AB40D52520FD}" dt="2026-08-17T20:33:48.398" v="131"/>
          <ac:graphicFrameMkLst>
            <pc:docMk/>
            <pc:sldMk cId="387112594" sldId="259"/>
            <ac:graphicFrameMk id="6" creationId="{F6FD0257-0750-774C-B9B4-440A27AFE784}"/>
          </ac:graphicFrameMkLst>
        </pc:graphicFrameChg>
      </pc:sldChg>
      <pc:sldChg chg="delSp modSp mod">
        <pc:chgData name="Ludy Registre Carmola" userId="af9c9160-5150-4217-979a-ef27ac81a3b6" providerId="ADAL" clId="{9627E5F1-9541-5533-ACF0-AB40D52520FD}" dt="2026-08-17T20:34:05.086" v="165" actId="1036"/>
        <pc:sldMkLst>
          <pc:docMk/>
          <pc:sldMk cId="3171076479" sldId="260"/>
        </pc:sldMkLst>
        <pc:spChg chg="mod">
          <ac:chgData name="Ludy Registre Carmola" userId="af9c9160-5150-4217-979a-ef27ac81a3b6" providerId="ADAL" clId="{9627E5F1-9541-5533-ACF0-AB40D52520FD}" dt="2026-08-17T20:29:17.403" v="127" actId="20577"/>
          <ac:spMkLst>
            <pc:docMk/>
            <pc:sldMk cId="3171076479" sldId="260"/>
            <ac:spMk id="2" creationId="{8FA50CA0-6CB0-3281-572D-BE581AC81A3C}"/>
          </ac:spMkLst>
        </pc:spChg>
        <pc:spChg chg="mod">
          <ac:chgData name="Ludy Registre Carmola" userId="af9c9160-5150-4217-979a-ef27ac81a3b6" providerId="ADAL" clId="{9627E5F1-9541-5533-ACF0-AB40D52520FD}" dt="2026-08-17T20:34:05.086" v="165" actId="1036"/>
          <ac:spMkLst>
            <pc:docMk/>
            <pc:sldMk cId="3171076479" sldId="260"/>
            <ac:spMk id="6" creationId="{249C2FDB-4FA5-B1BE-F233-7C2A6C32DE55}"/>
          </ac:spMkLst>
        </pc:spChg>
        <pc:spChg chg="mod">
          <ac:chgData name="Ludy Registre Carmola" userId="af9c9160-5150-4217-979a-ef27ac81a3b6" providerId="ADAL" clId="{9627E5F1-9541-5533-ACF0-AB40D52520FD}" dt="2026-08-17T20:34:05.086" v="165" actId="1036"/>
          <ac:spMkLst>
            <pc:docMk/>
            <pc:sldMk cId="3171076479" sldId="260"/>
            <ac:spMk id="7" creationId="{FF82472B-0F7E-A576-5DA0-FB2B902D00C5}"/>
          </ac:spMkLst>
        </pc:spChg>
        <pc:spChg chg="mod">
          <ac:chgData name="Ludy Registre Carmola" userId="af9c9160-5150-4217-979a-ef27ac81a3b6" providerId="ADAL" clId="{9627E5F1-9541-5533-ACF0-AB40D52520FD}" dt="2026-08-17T20:34:05.086" v="165" actId="1036"/>
          <ac:spMkLst>
            <pc:docMk/>
            <pc:sldMk cId="3171076479" sldId="260"/>
            <ac:spMk id="8" creationId="{02C77825-2BFD-69A7-1025-31F318A425EA}"/>
          </ac:spMkLst>
        </pc:spChg>
        <pc:spChg chg="mod">
          <ac:chgData name="Ludy Registre Carmola" userId="af9c9160-5150-4217-979a-ef27ac81a3b6" providerId="ADAL" clId="{9627E5F1-9541-5533-ACF0-AB40D52520FD}" dt="2026-08-17T20:34:05.086" v="165" actId="1036"/>
          <ac:spMkLst>
            <pc:docMk/>
            <pc:sldMk cId="3171076479" sldId="260"/>
            <ac:spMk id="9" creationId="{43815775-156D-83A3-05D3-8F272D644F5C}"/>
          </ac:spMkLst>
        </pc:spChg>
        <pc:spChg chg="mod">
          <ac:chgData name="Ludy Registre Carmola" userId="af9c9160-5150-4217-979a-ef27ac81a3b6" providerId="ADAL" clId="{9627E5F1-9541-5533-ACF0-AB40D52520FD}" dt="2026-08-17T20:34:05.086" v="165" actId="1036"/>
          <ac:spMkLst>
            <pc:docMk/>
            <pc:sldMk cId="3171076479" sldId="260"/>
            <ac:spMk id="10" creationId="{8664107F-912E-0FC1-B2D3-626669086214}"/>
          </ac:spMkLst>
        </pc:spChg>
        <pc:spChg chg="mod">
          <ac:chgData name="Ludy Registre Carmola" userId="af9c9160-5150-4217-979a-ef27ac81a3b6" providerId="ADAL" clId="{9627E5F1-9541-5533-ACF0-AB40D52520FD}" dt="2026-08-17T20:34:05.086" v="165" actId="1036"/>
          <ac:spMkLst>
            <pc:docMk/>
            <pc:sldMk cId="3171076479" sldId="260"/>
            <ac:spMk id="11" creationId="{72BC64CD-4F88-DEE3-007D-BA6A6BBB4F8D}"/>
          </ac:spMkLst>
        </pc:spChg>
        <pc:picChg chg="del mod">
          <ac:chgData name="Ludy Registre Carmola" userId="af9c9160-5150-4217-979a-ef27ac81a3b6" providerId="ADAL" clId="{9627E5F1-9541-5533-ACF0-AB40D52520FD}" dt="2026-08-17T20:27:55.967" v="115" actId="478"/>
          <ac:picMkLst>
            <pc:docMk/>
            <pc:sldMk cId="3171076479" sldId="260"/>
            <ac:picMk id="3" creationId="{418E9D6C-9A46-1BB2-5DEA-912BC25EEDAB}"/>
          </ac:picMkLst>
        </pc:picChg>
        <pc:picChg chg="del">
          <ac:chgData name="Ludy Registre Carmola" userId="af9c9160-5150-4217-979a-ef27ac81a3b6" providerId="ADAL" clId="{9627E5F1-9541-5533-ACF0-AB40D52520FD}" dt="2026-08-17T20:27:58.907" v="116" actId="478"/>
          <ac:picMkLst>
            <pc:docMk/>
            <pc:sldMk cId="3171076479" sldId="260"/>
            <ac:picMk id="4" creationId="{ED5497DB-21A6-813E-E57A-940CEADBD3A6}"/>
          </ac:picMkLst>
        </pc:picChg>
        <pc:picChg chg="del">
          <ac:chgData name="Ludy Registre Carmola" userId="af9c9160-5150-4217-979a-ef27ac81a3b6" providerId="ADAL" clId="{9627E5F1-9541-5533-ACF0-AB40D52520FD}" dt="2026-08-17T20:29:24.512" v="128" actId="478"/>
          <ac:picMkLst>
            <pc:docMk/>
            <pc:sldMk cId="3171076479" sldId="260"/>
            <ac:picMk id="5" creationId="{39EFA9F1-566E-F9B8-C977-5F2976E9A34C}"/>
          </ac:picMkLst>
        </pc:picChg>
        <pc:picChg chg="mod">
          <ac:chgData name="Ludy Registre Carmola" userId="af9c9160-5150-4217-979a-ef27ac81a3b6" providerId="ADAL" clId="{9627E5F1-9541-5533-ACF0-AB40D52520FD}" dt="2026-08-17T20:34:05.086" v="165" actId="1036"/>
          <ac:picMkLst>
            <pc:docMk/>
            <pc:sldMk cId="3171076479" sldId="260"/>
            <ac:picMk id="12" creationId="{B11EE6C1-6DBC-0EDB-0048-C0761AB7FEC6}"/>
          </ac:picMkLst>
        </pc:picChg>
        <pc:picChg chg="mod">
          <ac:chgData name="Ludy Registre Carmola" userId="af9c9160-5150-4217-979a-ef27ac81a3b6" providerId="ADAL" clId="{9627E5F1-9541-5533-ACF0-AB40D52520FD}" dt="2026-08-17T20:34:05.086" v="165" actId="1036"/>
          <ac:picMkLst>
            <pc:docMk/>
            <pc:sldMk cId="3171076479" sldId="260"/>
            <ac:picMk id="13" creationId="{E723EFD6-4482-0324-B32C-6116312903A0}"/>
          </ac:picMkLst>
        </pc:picChg>
        <pc:picChg chg="mod">
          <ac:chgData name="Ludy Registre Carmola" userId="af9c9160-5150-4217-979a-ef27ac81a3b6" providerId="ADAL" clId="{9627E5F1-9541-5533-ACF0-AB40D52520FD}" dt="2026-08-17T20:34:05.086" v="165" actId="1036"/>
          <ac:picMkLst>
            <pc:docMk/>
            <pc:sldMk cId="3171076479" sldId="260"/>
            <ac:picMk id="14" creationId="{7BCBCC11-2613-48D2-EB36-FAEEA448A388}"/>
          </ac:picMkLst>
        </pc:picChg>
      </pc:sldChg>
      <pc:sldChg chg="addSp modSp mod">
        <pc:chgData name="Ludy Registre Carmola" userId="af9c9160-5150-4217-979a-ef27ac81a3b6" providerId="ADAL" clId="{9627E5F1-9541-5533-ACF0-AB40D52520FD}" dt="2026-08-17T21:04:32.504" v="170" actId="113"/>
        <pc:sldMkLst>
          <pc:docMk/>
          <pc:sldMk cId="2475779688" sldId="261"/>
        </pc:sldMkLst>
        <pc:spChg chg="mod">
          <ac:chgData name="Ludy Registre Carmola" userId="af9c9160-5150-4217-979a-ef27ac81a3b6" providerId="ADAL" clId="{9627E5F1-9541-5533-ACF0-AB40D52520FD}" dt="2026-08-17T21:04:32.504" v="170" actId="113"/>
          <ac:spMkLst>
            <pc:docMk/>
            <pc:sldMk cId="2475779688" sldId="261"/>
            <ac:spMk id="3" creationId="{EC53124B-CD6B-B74F-FDFC-F80A6370D22A}"/>
          </ac:spMkLst>
        </pc:spChg>
        <pc:picChg chg="add mod modCrop">
          <ac:chgData name="Ludy Registre Carmola" userId="af9c9160-5150-4217-979a-ef27ac81a3b6" providerId="ADAL" clId="{9627E5F1-9541-5533-ACF0-AB40D52520FD}" dt="2026-08-17T19:58:27.991" v="53" actId="732"/>
          <ac:picMkLst>
            <pc:docMk/>
            <pc:sldMk cId="2475779688" sldId="261"/>
            <ac:picMk id="5" creationId="{66FC08C2-DA06-608B-0B36-9540859DC939}"/>
          </ac:picMkLst>
        </pc:picChg>
        <pc:picChg chg="add mod modCrop">
          <ac:chgData name="Ludy Registre Carmola" userId="af9c9160-5150-4217-979a-ef27ac81a3b6" providerId="ADAL" clId="{9627E5F1-9541-5533-ACF0-AB40D52520FD}" dt="2026-08-17T19:57:51.169" v="34" actId="1038"/>
          <ac:picMkLst>
            <pc:docMk/>
            <pc:sldMk cId="2475779688" sldId="261"/>
            <ac:picMk id="6" creationId="{38871147-20BD-1685-C766-F4F53C4B8084}"/>
          </ac:picMkLst>
        </pc:picChg>
        <pc:picChg chg="add mod modCrop">
          <ac:chgData name="Ludy Registre Carmola" userId="af9c9160-5150-4217-979a-ef27ac81a3b6" providerId="ADAL" clId="{9627E5F1-9541-5533-ACF0-AB40D52520FD}" dt="2026-08-17T20:06:40.085" v="69" actId="1038"/>
          <ac:picMkLst>
            <pc:docMk/>
            <pc:sldMk cId="2475779688" sldId="261"/>
            <ac:picMk id="7" creationId="{EE246E82-B0B8-A157-EAFE-FB954CD4E16C}"/>
          </ac:picMkLst>
        </pc:picChg>
      </pc:sldChg>
      <pc:sldChg chg="modSp new del mod">
        <pc:chgData name="Ludy Registre Carmola" userId="af9c9160-5150-4217-979a-ef27ac81a3b6" providerId="ADAL" clId="{9627E5F1-9541-5533-ACF0-AB40D52520FD}" dt="2026-08-17T21:05:32.861" v="171" actId="2696"/>
        <pc:sldMkLst>
          <pc:docMk/>
          <pc:sldMk cId="3976353230" sldId="262"/>
        </pc:sldMkLst>
        <pc:spChg chg="mod">
          <ac:chgData name="Ludy Registre Carmola" userId="af9c9160-5150-4217-979a-ef27ac81a3b6" providerId="ADAL" clId="{9627E5F1-9541-5533-ACF0-AB40D52520FD}" dt="2026-08-17T20:07:55.899" v="96" actId="1076"/>
          <ac:spMkLst>
            <pc:docMk/>
            <pc:sldMk cId="3976353230" sldId="262"/>
            <ac:spMk id="2" creationId="{2C62D99C-C5D8-836D-AC99-8513AB27EE1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8B4696-35C0-452C-A2F0-A4DA81DC3131}" type="doc">
      <dgm:prSet loTypeId="urn:microsoft.com/office/officeart/2018/2/layout/IconVerticalSolidList" loCatId="icon" qsTypeId="urn:microsoft.com/office/officeart/2005/8/quickstyle/simple1#7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40B863-A29A-458B-8B1D-1E4C39D1D9F4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Interpret combined genomic and epidemiological data to understand transmission.</a:t>
          </a:r>
        </a:p>
      </dgm:t>
    </dgm:pt>
    <dgm:pt modelId="{7D778C32-6EC5-4902-A6A5-3629FDF312F5}" type="parTrans" cxnId="{E139B6F4-A43E-4615-A09F-C388861DF78B}">
      <dgm:prSet/>
      <dgm:spPr/>
      <dgm:t>
        <a:bodyPr/>
        <a:lstStyle/>
        <a:p>
          <a:endParaRPr lang="en-US"/>
        </a:p>
      </dgm:t>
    </dgm:pt>
    <dgm:pt modelId="{5B1DAB14-2CF5-412D-B9EA-6EF758A91200}" type="sibTrans" cxnId="{E139B6F4-A43E-4615-A09F-C388861DF78B}">
      <dgm:prSet/>
      <dgm:spPr/>
      <dgm:t>
        <a:bodyPr/>
        <a:lstStyle/>
        <a:p>
          <a:endParaRPr lang="en-US"/>
        </a:p>
      </dgm:t>
    </dgm:pt>
    <dgm:pt modelId="{736C34E7-49FD-4D1A-AEB0-E3CEFF6480B0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Interpret genetic diversity and mutation rates to define active clusters.</a:t>
          </a:r>
        </a:p>
      </dgm:t>
    </dgm:pt>
    <dgm:pt modelId="{7FDD840C-6C2D-4921-B44E-6E95FBB433D6}" type="parTrans" cxnId="{58CE2628-4F63-4B7D-8C0A-96196DA6B6EE}">
      <dgm:prSet/>
      <dgm:spPr/>
      <dgm:t>
        <a:bodyPr/>
        <a:lstStyle/>
        <a:p>
          <a:endParaRPr lang="en-US"/>
        </a:p>
      </dgm:t>
    </dgm:pt>
    <dgm:pt modelId="{E20820EF-7C3F-4C4B-B331-E0C830666119}" type="sibTrans" cxnId="{58CE2628-4F63-4B7D-8C0A-96196DA6B6EE}">
      <dgm:prSet/>
      <dgm:spPr/>
      <dgm:t>
        <a:bodyPr/>
        <a:lstStyle/>
        <a:p>
          <a:endParaRPr lang="en-US"/>
        </a:p>
      </dgm:t>
    </dgm:pt>
    <dgm:pt modelId="{88C14A12-0DC8-4278-B8CC-4E66550E0AD0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Translate genomic findings into targeted public health interventions.</a:t>
          </a:r>
        </a:p>
      </dgm:t>
    </dgm:pt>
    <dgm:pt modelId="{5AA36F62-5A0D-4EC0-BF1A-7B37BC3602CB}" type="parTrans" cxnId="{AA684DAC-74ED-4C58-8BE9-C57667388EB8}">
      <dgm:prSet/>
      <dgm:spPr/>
      <dgm:t>
        <a:bodyPr/>
        <a:lstStyle/>
        <a:p>
          <a:endParaRPr lang="en-US"/>
        </a:p>
      </dgm:t>
    </dgm:pt>
    <dgm:pt modelId="{4FE34577-51EE-46F6-BBCE-EA812EE1ABD4}" type="sibTrans" cxnId="{AA684DAC-74ED-4C58-8BE9-C57667388EB8}">
      <dgm:prSet/>
      <dgm:spPr/>
      <dgm:t>
        <a:bodyPr/>
        <a:lstStyle/>
        <a:p>
          <a:endParaRPr lang="en-US"/>
        </a:p>
      </dgm:t>
    </dgm:pt>
    <dgm:pt modelId="{4C30D170-B576-48BC-8E6A-67B6B793920C}" type="pres">
      <dgm:prSet presAssocID="{AA8B4696-35C0-452C-A2F0-A4DA81DC3131}" presName="root" presStyleCnt="0">
        <dgm:presLayoutVars>
          <dgm:dir/>
          <dgm:resizeHandles val="exact"/>
        </dgm:presLayoutVars>
      </dgm:prSet>
      <dgm:spPr/>
    </dgm:pt>
    <dgm:pt modelId="{A593387B-7165-485D-9243-365472D743D8}" type="pres">
      <dgm:prSet presAssocID="{0440B863-A29A-458B-8B1D-1E4C39D1D9F4}" presName="compNode" presStyleCnt="0"/>
      <dgm:spPr/>
    </dgm:pt>
    <dgm:pt modelId="{2582AB4E-8BB0-4345-A73D-BE88AB93C1E4}" type="pres">
      <dgm:prSet presAssocID="{0440B863-A29A-458B-8B1D-1E4C39D1D9F4}" presName="bgRect" presStyleLbl="bgShp" presStyleIdx="0" presStyleCnt="3"/>
      <dgm:spPr>
        <a:noFill/>
      </dgm:spPr>
    </dgm:pt>
    <dgm:pt modelId="{6DB8CE9C-1470-4B77-83B5-144ACEA16EFC}" type="pres">
      <dgm:prSet presAssocID="{0440B863-A29A-458B-8B1D-1E4C39D1D9F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solidFill>
            <a:schemeClr val="accent2"/>
          </a:solidFill>
        </a:ln>
      </dgm:spPr>
    </dgm:pt>
    <dgm:pt modelId="{DE6BF9A1-F4DB-4DEE-A245-6A367F564BDD}" type="pres">
      <dgm:prSet presAssocID="{0440B863-A29A-458B-8B1D-1E4C39D1D9F4}" presName="spaceRect" presStyleCnt="0"/>
      <dgm:spPr/>
    </dgm:pt>
    <dgm:pt modelId="{C444E3CD-27F8-448E-9BF0-FAB97252CDC3}" type="pres">
      <dgm:prSet presAssocID="{0440B863-A29A-458B-8B1D-1E4C39D1D9F4}" presName="parTx" presStyleLbl="revTx" presStyleIdx="0" presStyleCnt="3">
        <dgm:presLayoutVars>
          <dgm:chMax val="0"/>
          <dgm:chPref val="0"/>
        </dgm:presLayoutVars>
      </dgm:prSet>
      <dgm:spPr/>
    </dgm:pt>
    <dgm:pt modelId="{50F447EF-1806-4458-9760-3D8DBBF36E63}" type="pres">
      <dgm:prSet presAssocID="{5B1DAB14-2CF5-412D-B9EA-6EF758A91200}" presName="sibTrans" presStyleCnt="0"/>
      <dgm:spPr/>
    </dgm:pt>
    <dgm:pt modelId="{445747C5-C52C-412D-BDA3-3E9B2EE5DDB6}" type="pres">
      <dgm:prSet presAssocID="{736C34E7-49FD-4D1A-AEB0-E3CEFF6480B0}" presName="compNode" presStyleCnt="0"/>
      <dgm:spPr/>
    </dgm:pt>
    <dgm:pt modelId="{5BB40BC0-7427-4ABF-8CED-2D480467CDDF}" type="pres">
      <dgm:prSet presAssocID="{736C34E7-49FD-4D1A-AEB0-E3CEFF6480B0}" presName="bgRect" presStyleLbl="bgShp" presStyleIdx="1" presStyleCnt="3"/>
      <dgm:spPr>
        <a:noFill/>
      </dgm:spPr>
    </dgm:pt>
    <dgm:pt modelId="{497C314F-FC08-4173-A6AC-6E333CF67BB5}" type="pres">
      <dgm:prSet presAssocID="{736C34E7-49FD-4D1A-AEB0-E3CEFF6480B0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solidFill>
            <a:schemeClr val="accent3"/>
          </a:solidFill>
        </a:ln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40625C81-3A9F-47A1-99E6-DA9BEA04730E}" type="pres">
      <dgm:prSet presAssocID="{736C34E7-49FD-4D1A-AEB0-E3CEFF6480B0}" presName="spaceRect" presStyleCnt="0"/>
      <dgm:spPr/>
    </dgm:pt>
    <dgm:pt modelId="{AA9996EB-A95B-473B-A32D-A59D3F12CBD8}" type="pres">
      <dgm:prSet presAssocID="{736C34E7-49FD-4D1A-AEB0-E3CEFF6480B0}" presName="parTx" presStyleLbl="revTx" presStyleIdx="1" presStyleCnt="3">
        <dgm:presLayoutVars>
          <dgm:chMax val="0"/>
          <dgm:chPref val="0"/>
        </dgm:presLayoutVars>
      </dgm:prSet>
      <dgm:spPr/>
    </dgm:pt>
    <dgm:pt modelId="{799080E5-F543-4BF5-8BA4-552ED7F97593}" type="pres">
      <dgm:prSet presAssocID="{E20820EF-7C3F-4C4B-B331-E0C830666119}" presName="sibTrans" presStyleCnt="0"/>
      <dgm:spPr/>
    </dgm:pt>
    <dgm:pt modelId="{AF639285-C660-41E2-88DC-EF98C5A395F7}" type="pres">
      <dgm:prSet presAssocID="{88C14A12-0DC8-4278-B8CC-4E66550E0AD0}" presName="compNode" presStyleCnt="0"/>
      <dgm:spPr/>
    </dgm:pt>
    <dgm:pt modelId="{C1CF12E0-2EB0-469A-98A5-15510E360BBA}" type="pres">
      <dgm:prSet presAssocID="{88C14A12-0DC8-4278-B8CC-4E66550E0AD0}" presName="bgRect" presStyleLbl="bgShp" presStyleIdx="2" presStyleCnt="3"/>
      <dgm:spPr>
        <a:noFill/>
      </dgm:spPr>
    </dgm:pt>
    <dgm:pt modelId="{4D455938-106B-4E50-9611-3F5D22AE4B39}" type="pres">
      <dgm:prSet presAssocID="{88C14A12-0DC8-4278-B8CC-4E66550E0AD0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solidFill>
            <a:schemeClr val="accent4"/>
          </a:solidFill>
        </a:ln>
      </dgm:spPr>
      <dgm:extLst>
        <a:ext uri="{E40237B7-FDA0-4F09-8148-C483321AD2D9}">
          <dgm14:cNvPr xmlns:dgm14="http://schemas.microsoft.com/office/drawing/2010/diagram" id="0" name="" descr="Mental Health outline"/>
        </a:ext>
      </dgm:extLst>
    </dgm:pt>
    <dgm:pt modelId="{77FA4817-71EE-4D96-8025-9F3F43CE0D8D}" type="pres">
      <dgm:prSet presAssocID="{88C14A12-0DC8-4278-B8CC-4E66550E0AD0}" presName="spaceRect" presStyleCnt="0"/>
      <dgm:spPr/>
    </dgm:pt>
    <dgm:pt modelId="{CCA626DB-8C4B-45F8-8BEA-E5ACD3607790}" type="pres">
      <dgm:prSet presAssocID="{88C14A12-0DC8-4278-B8CC-4E66550E0A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581F823-36CF-43D4-8857-75693779B68A}" type="presOf" srcId="{736C34E7-49FD-4D1A-AEB0-E3CEFF6480B0}" destId="{AA9996EB-A95B-473B-A32D-A59D3F12CBD8}" srcOrd="0" destOrd="0" presId="urn:microsoft.com/office/officeart/2018/2/layout/IconVerticalSolidList"/>
    <dgm:cxn modelId="{58CE2628-4F63-4B7D-8C0A-96196DA6B6EE}" srcId="{AA8B4696-35C0-452C-A2F0-A4DA81DC3131}" destId="{736C34E7-49FD-4D1A-AEB0-E3CEFF6480B0}" srcOrd="1" destOrd="0" parTransId="{7FDD840C-6C2D-4921-B44E-6E95FBB433D6}" sibTransId="{E20820EF-7C3F-4C4B-B331-E0C830666119}"/>
    <dgm:cxn modelId="{AA5D323C-134A-474C-9BCB-955667855BFE}" type="presOf" srcId="{AA8B4696-35C0-452C-A2F0-A4DA81DC3131}" destId="{4C30D170-B576-48BC-8E6A-67B6B793920C}" srcOrd="0" destOrd="0" presId="urn:microsoft.com/office/officeart/2018/2/layout/IconVerticalSolidList"/>
    <dgm:cxn modelId="{CACDF477-B581-4E78-B33B-1D64188807E0}" type="presOf" srcId="{88C14A12-0DC8-4278-B8CC-4E66550E0AD0}" destId="{CCA626DB-8C4B-45F8-8BEA-E5ACD3607790}" srcOrd="0" destOrd="0" presId="urn:microsoft.com/office/officeart/2018/2/layout/IconVerticalSolidList"/>
    <dgm:cxn modelId="{AA684DAC-74ED-4C58-8BE9-C57667388EB8}" srcId="{AA8B4696-35C0-452C-A2F0-A4DA81DC3131}" destId="{88C14A12-0DC8-4278-B8CC-4E66550E0AD0}" srcOrd="2" destOrd="0" parTransId="{5AA36F62-5A0D-4EC0-BF1A-7B37BC3602CB}" sibTransId="{4FE34577-51EE-46F6-BBCE-EA812EE1ABD4}"/>
    <dgm:cxn modelId="{4920A3EF-E723-4499-A776-237DDBE45787}" type="presOf" srcId="{0440B863-A29A-458B-8B1D-1E4C39D1D9F4}" destId="{C444E3CD-27F8-448E-9BF0-FAB97252CDC3}" srcOrd="0" destOrd="0" presId="urn:microsoft.com/office/officeart/2018/2/layout/IconVerticalSolidList"/>
    <dgm:cxn modelId="{E139B6F4-A43E-4615-A09F-C388861DF78B}" srcId="{AA8B4696-35C0-452C-A2F0-A4DA81DC3131}" destId="{0440B863-A29A-458B-8B1D-1E4C39D1D9F4}" srcOrd="0" destOrd="0" parTransId="{7D778C32-6EC5-4902-A6A5-3629FDF312F5}" sibTransId="{5B1DAB14-2CF5-412D-B9EA-6EF758A91200}"/>
    <dgm:cxn modelId="{97C582D7-494B-47FA-B19C-6AE8C4746B7A}" type="presParOf" srcId="{4C30D170-B576-48BC-8E6A-67B6B793920C}" destId="{A593387B-7165-485D-9243-365472D743D8}" srcOrd="0" destOrd="0" presId="urn:microsoft.com/office/officeart/2018/2/layout/IconVerticalSolidList"/>
    <dgm:cxn modelId="{C3E0438A-7EF7-427A-8B76-337F040421B2}" type="presParOf" srcId="{A593387B-7165-485D-9243-365472D743D8}" destId="{2582AB4E-8BB0-4345-A73D-BE88AB93C1E4}" srcOrd="0" destOrd="0" presId="urn:microsoft.com/office/officeart/2018/2/layout/IconVerticalSolidList"/>
    <dgm:cxn modelId="{2C59CBE0-7530-4D41-9C4B-A35BFAB73A27}" type="presParOf" srcId="{A593387B-7165-485D-9243-365472D743D8}" destId="{6DB8CE9C-1470-4B77-83B5-144ACEA16EFC}" srcOrd="1" destOrd="0" presId="urn:microsoft.com/office/officeart/2018/2/layout/IconVerticalSolidList"/>
    <dgm:cxn modelId="{5E2DBD7A-CE59-4B96-99ED-C732C04F9495}" type="presParOf" srcId="{A593387B-7165-485D-9243-365472D743D8}" destId="{DE6BF9A1-F4DB-4DEE-A245-6A367F564BDD}" srcOrd="2" destOrd="0" presId="urn:microsoft.com/office/officeart/2018/2/layout/IconVerticalSolidList"/>
    <dgm:cxn modelId="{FC98432B-E81A-47A2-BE0F-CEF216B7D82F}" type="presParOf" srcId="{A593387B-7165-485D-9243-365472D743D8}" destId="{C444E3CD-27F8-448E-9BF0-FAB97252CDC3}" srcOrd="3" destOrd="0" presId="urn:microsoft.com/office/officeart/2018/2/layout/IconVerticalSolidList"/>
    <dgm:cxn modelId="{77AD3EB7-EAC3-4E16-8865-9F58D6D9A48B}" type="presParOf" srcId="{4C30D170-B576-48BC-8E6A-67B6B793920C}" destId="{50F447EF-1806-4458-9760-3D8DBBF36E63}" srcOrd="1" destOrd="0" presId="urn:microsoft.com/office/officeart/2018/2/layout/IconVerticalSolidList"/>
    <dgm:cxn modelId="{D84A9380-809B-44F6-9002-0E23A3F08512}" type="presParOf" srcId="{4C30D170-B576-48BC-8E6A-67B6B793920C}" destId="{445747C5-C52C-412D-BDA3-3E9B2EE5DDB6}" srcOrd="2" destOrd="0" presId="urn:microsoft.com/office/officeart/2018/2/layout/IconVerticalSolidList"/>
    <dgm:cxn modelId="{63CE61B8-2BF1-4466-AEB0-6F30B72161E8}" type="presParOf" srcId="{445747C5-C52C-412D-BDA3-3E9B2EE5DDB6}" destId="{5BB40BC0-7427-4ABF-8CED-2D480467CDDF}" srcOrd="0" destOrd="0" presId="urn:microsoft.com/office/officeart/2018/2/layout/IconVerticalSolidList"/>
    <dgm:cxn modelId="{D296907A-88CA-466A-89D1-95BF38A4B73E}" type="presParOf" srcId="{445747C5-C52C-412D-BDA3-3E9B2EE5DDB6}" destId="{497C314F-FC08-4173-A6AC-6E333CF67BB5}" srcOrd="1" destOrd="0" presId="urn:microsoft.com/office/officeart/2018/2/layout/IconVerticalSolidList"/>
    <dgm:cxn modelId="{0EE2E092-0C59-442C-BE30-04CEE0BF82C8}" type="presParOf" srcId="{445747C5-C52C-412D-BDA3-3E9B2EE5DDB6}" destId="{40625C81-3A9F-47A1-99E6-DA9BEA04730E}" srcOrd="2" destOrd="0" presId="urn:microsoft.com/office/officeart/2018/2/layout/IconVerticalSolidList"/>
    <dgm:cxn modelId="{2B2D73B3-3728-4C75-9BC4-51FD3A6313D9}" type="presParOf" srcId="{445747C5-C52C-412D-BDA3-3E9B2EE5DDB6}" destId="{AA9996EB-A95B-473B-A32D-A59D3F12CBD8}" srcOrd="3" destOrd="0" presId="urn:microsoft.com/office/officeart/2018/2/layout/IconVerticalSolidList"/>
    <dgm:cxn modelId="{9B6BFBA9-0A9F-4244-A3F6-ACFB42B5524A}" type="presParOf" srcId="{4C30D170-B576-48BC-8E6A-67B6B793920C}" destId="{799080E5-F543-4BF5-8BA4-552ED7F97593}" srcOrd="3" destOrd="0" presId="urn:microsoft.com/office/officeart/2018/2/layout/IconVerticalSolidList"/>
    <dgm:cxn modelId="{79EC68F6-9C8E-4CF8-9918-4A3B5AC3C97E}" type="presParOf" srcId="{4C30D170-B576-48BC-8E6A-67B6B793920C}" destId="{AF639285-C660-41E2-88DC-EF98C5A395F7}" srcOrd="4" destOrd="0" presId="urn:microsoft.com/office/officeart/2018/2/layout/IconVerticalSolidList"/>
    <dgm:cxn modelId="{6A4ECF2B-9B6E-4828-9F2E-BB2790575AD8}" type="presParOf" srcId="{AF639285-C660-41E2-88DC-EF98C5A395F7}" destId="{C1CF12E0-2EB0-469A-98A5-15510E360BBA}" srcOrd="0" destOrd="0" presId="urn:microsoft.com/office/officeart/2018/2/layout/IconVerticalSolidList"/>
    <dgm:cxn modelId="{3E880C4D-8CC7-4A2D-ACE4-82988204E0F3}" type="presParOf" srcId="{AF639285-C660-41E2-88DC-EF98C5A395F7}" destId="{4D455938-106B-4E50-9611-3F5D22AE4B39}" srcOrd="1" destOrd="0" presId="urn:microsoft.com/office/officeart/2018/2/layout/IconVerticalSolidList"/>
    <dgm:cxn modelId="{3132297B-A79F-4D38-91BB-BCEAB232D50D}" type="presParOf" srcId="{AF639285-C660-41E2-88DC-EF98C5A395F7}" destId="{77FA4817-71EE-4D96-8025-9F3F43CE0D8D}" srcOrd="2" destOrd="0" presId="urn:microsoft.com/office/officeart/2018/2/layout/IconVerticalSolidList"/>
    <dgm:cxn modelId="{134EDBA7-3171-4CB6-BA95-1B760CC76B52}" type="presParOf" srcId="{AF639285-C660-41E2-88DC-EF98C5A395F7}" destId="{CCA626DB-8C4B-45F8-8BEA-E5ACD36077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2AB4E-8BB0-4345-A73D-BE88AB93C1E4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8CE9C-1470-4B77-83B5-144ACEA16EFC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4E3CD-27F8-448E-9BF0-FAB97252CDC3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Interpret combined genomic and epidemiological data to understand transmission.</a:t>
          </a:r>
        </a:p>
      </dsp:txBody>
      <dsp:txXfrm>
        <a:off x="1437631" y="531"/>
        <a:ext cx="9077968" cy="1244702"/>
      </dsp:txXfrm>
    </dsp:sp>
    <dsp:sp modelId="{5BB40BC0-7427-4ABF-8CED-2D480467CDDF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C314F-FC08-4173-A6AC-6E333CF67BB5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996EB-A95B-473B-A32D-A59D3F12CBD8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Interpret genetic diversity and mutation rates to define active clusters.</a:t>
          </a:r>
        </a:p>
      </dsp:txBody>
      <dsp:txXfrm>
        <a:off x="1437631" y="1556410"/>
        <a:ext cx="9077968" cy="1244702"/>
      </dsp:txXfrm>
    </dsp:sp>
    <dsp:sp modelId="{C1CF12E0-2EB0-469A-98A5-15510E360BBA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55938-106B-4E50-9611-3F5D22AE4B39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626DB-8C4B-45F8-8BEA-E5ACD3607790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Translate genomic findings into targeted public health interventions.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16979-F5DE-D542-AAAD-06DCEDA83189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E7367-40CB-CC44-8BF4-1DCF6A498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E7367-40CB-CC44-8BF4-1DCF6A4983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8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E7367-40CB-CC44-8BF4-1DCF6A4983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0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E7367-40CB-CC44-8BF4-1DCF6A4983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2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21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2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02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7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5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6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23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08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38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0DB1C757-D0D2-56A1-2921-53E22986E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3489" y="5621756"/>
            <a:ext cx="4111056" cy="1287887"/>
          </a:xfrm>
        </p:spPr>
        <p:txBody>
          <a:bodyPr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dirty="0"/>
              <a:t>Molecular Epidemiology Training Series</a:t>
            </a:r>
          </a:p>
          <a:p>
            <a:pPr algn="r">
              <a:lnSpc>
                <a:spcPct val="120000"/>
              </a:lnSpc>
            </a:pPr>
            <a:r>
              <a:rPr lang="en-US" dirty="0"/>
              <a:t>August 28, 2026</a:t>
            </a:r>
          </a:p>
          <a:p>
            <a:pPr algn="r">
              <a:lnSpc>
                <a:spcPct val="120000"/>
              </a:lnSpc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D26AC4-80E1-4CF6-C1B7-5F4625854B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"/>
          </a:blip>
          <a:srcRect l="11207" r="4515" b="1"/>
          <a:stretch>
            <a:fillRect/>
          </a:stretch>
        </p:blipFill>
        <p:spPr>
          <a:xfrm>
            <a:off x="0" y="0"/>
            <a:ext cx="8995855" cy="685799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DB35A02-B2E7-4513-F1FA-75F6CAF06852}"/>
              </a:ext>
            </a:extLst>
          </p:cNvPr>
          <p:cNvSpPr/>
          <p:nvPr/>
        </p:nvSpPr>
        <p:spPr>
          <a:xfrm>
            <a:off x="5936151" y="623485"/>
            <a:ext cx="5493457" cy="330984"/>
          </a:xfrm>
          <a:prstGeom prst="roundRect">
            <a:avLst/>
          </a:prstGeom>
          <a:solidFill>
            <a:srgbClr val="E1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rgbClr val="046CB8"/>
                </a:solidFill>
              </a:rPr>
              <a:t>Molecular Epidemiology Case Study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C59044-B976-3A55-8405-0A011B0FF7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rcRect l="11208" t="1" r="19834" b="1"/>
          <a:stretch>
            <a:fillRect/>
          </a:stretch>
        </p:blipFill>
        <p:spPr>
          <a:xfrm>
            <a:off x="0" y="0"/>
            <a:ext cx="736061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BF8C6B-D904-4532-3BEB-1A8EF197A4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l="11208" t="1" r="37327" b="1"/>
          <a:stretch>
            <a:fillRect/>
          </a:stretch>
        </p:blipFill>
        <p:spPr>
          <a:xfrm>
            <a:off x="0" y="0"/>
            <a:ext cx="5493457" cy="68579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EB3BBF-DA56-B4E1-62CE-B0FBDCF9AF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3000"/>
          </a:blip>
          <a:srcRect l="11207" t="1" r="54465" b="1"/>
          <a:stretch>
            <a:fillRect/>
          </a:stretch>
        </p:blipFill>
        <p:spPr>
          <a:xfrm>
            <a:off x="0" y="0"/>
            <a:ext cx="3664173" cy="6857990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4E6CA6-D5F7-3B1C-81D5-0104B4F2A0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1207" t="1" r="71509" b="1"/>
          <a:stretch>
            <a:fillRect/>
          </a:stretch>
        </p:blipFill>
        <p:spPr>
          <a:xfrm>
            <a:off x="0" y="0"/>
            <a:ext cx="184495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F696CB-DD48-33DD-5960-96C4E5742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8116" y="1432051"/>
            <a:ext cx="6684211" cy="3030842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800" dirty="0">
                <a:latin typeface="Plus Jakarta Sans Medium"/>
              </a:rPr>
              <a:t>Whole-Genome Sequencing &amp; Social-Network Analysis of a Tuberculosis Outbreak</a:t>
            </a:r>
            <a:br>
              <a:rPr lang="en-US" sz="3800" dirty="0">
                <a:latin typeface="Plus Jakarta Sans Medium"/>
              </a:rPr>
            </a:br>
            <a:r>
              <a:rPr lang="en-US" sz="3800" b="1" i="0" u="none" dirty="0">
                <a:latin typeface="Space Grotesk"/>
              </a:rPr>
              <a:t>Gardy et al. (2011)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85104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AABA18-69D3-12EA-8E83-BE12663FA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48654"/>
            <a:ext cx="10890929" cy="1097280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6FD0257-0750-774C-B9B4-440A27AFE7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4401594"/>
              </p:ext>
            </p:extLst>
          </p:nvPr>
        </p:nvGraphicFramePr>
        <p:xfrm>
          <a:off x="437147" y="1637508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1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0CA0-6CB0-3281-572D-BE581AC8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700" y="264696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</a:rPr>
              <a:t>Outbreak Context &amp; I</a:t>
            </a:r>
            <a:r>
              <a:rPr lang="en-US" dirty="0"/>
              <a:t>nvestigative</a:t>
            </a:r>
            <a:r>
              <a:rPr lang="en-US" dirty="0">
                <a:solidFill>
                  <a:srgbClr val="0F172A"/>
                </a:solidFill>
              </a:rPr>
              <a:t> Approach</a:t>
            </a:r>
            <a:br>
              <a:rPr lang="en-US" dirty="0">
                <a:solidFill>
                  <a:srgbClr val="0F172A"/>
                </a:solidFill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C2FDB-4FA5-B1BE-F233-7C2A6C32DE55}"/>
              </a:ext>
            </a:extLst>
          </p:cNvPr>
          <p:cNvSpPr txBox="1"/>
          <p:nvPr/>
        </p:nvSpPr>
        <p:spPr>
          <a:xfrm>
            <a:off x="847725" y="2375113"/>
            <a:ext cx="31271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Space Grotesk"/>
              </a:rPr>
              <a:t>The Outbreak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2472B-0F7E-A576-5DA0-FB2B902D00C5}"/>
              </a:ext>
            </a:extLst>
          </p:cNvPr>
          <p:cNvSpPr txBox="1"/>
          <p:nvPr/>
        </p:nvSpPr>
        <p:spPr>
          <a:xfrm>
            <a:off x="847725" y="2737063"/>
            <a:ext cx="2978199" cy="1956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0" i="0" u="none" dirty="0">
                <a:solidFill>
                  <a:srgbClr val="334155"/>
                </a:solidFill>
                <a:latin typeface="Plus Jakarta Sans"/>
              </a:rPr>
              <a:t>A sudden 3-year Tuberculosis surge occurred in British Columbia. Standard MIRU-VNTR typing showed identical patterns, raising fears of a novel hyper-transmissible superbug.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C77825-2BFD-69A7-1025-31F318A425EA}"/>
              </a:ext>
            </a:extLst>
          </p:cNvPr>
          <p:cNvSpPr txBox="1"/>
          <p:nvPr/>
        </p:nvSpPr>
        <p:spPr>
          <a:xfrm>
            <a:off x="4606974" y="2375113"/>
            <a:ext cx="31271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Space Grotesk"/>
              </a:rPr>
              <a:t>Genomic Sequencing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5775-156D-83A3-05D3-8F272D644F5C}"/>
              </a:ext>
            </a:extLst>
          </p:cNvPr>
          <p:cNvSpPr txBox="1"/>
          <p:nvPr/>
        </p:nvSpPr>
        <p:spPr>
          <a:xfrm>
            <a:off x="4606974" y="2737063"/>
            <a:ext cx="3127109" cy="1468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0" i="0" u="none" dirty="0">
                <a:solidFill>
                  <a:srgbClr val="334155"/>
                </a:solidFill>
                <a:latin typeface="Plus Jakarta Sans"/>
              </a:rPr>
              <a:t>Sequenced 36 </a:t>
            </a:r>
            <a:r>
              <a:rPr sz="2000" b="0" i="1" u="none" dirty="0">
                <a:solidFill>
                  <a:srgbClr val="334155"/>
                </a:solidFill>
                <a:latin typeface="Plus Jakarta Sans"/>
              </a:rPr>
              <a:t>M. tuberculosis</a:t>
            </a:r>
            <a:r>
              <a:rPr sz="2000" b="0" i="0" u="none" dirty="0">
                <a:solidFill>
                  <a:srgbClr val="334155"/>
                </a:solidFill>
                <a:latin typeface="Plus Jakarta Sans"/>
              </a:rPr>
              <a:t> isolates (32 outbreak, 4 historical) down to single-nucleotide polymorphisms (SNPs) to build precise phylogenetic trees.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4107F-912E-0FC1-B2D3-626669086214}"/>
              </a:ext>
            </a:extLst>
          </p:cNvPr>
          <p:cNvSpPr txBox="1"/>
          <p:nvPr/>
        </p:nvSpPr>
        <p:spPr>
          <a:xfrm>
            <a:off x="8366224" y="2375113"/>
            <a:ext cx="31271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Space Grotesk"/>
              </a:rPr>
              <a:t>Social Network Overlay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C64CD-4F88-DEE3-007D-BA6A6BBB4F8D}"/>
              </a:ext>
            </a:extLst>
          </p:cNvPr>
          <p:cNvSpPr txBox="1"/>
          <p:nvPr/>
        </p:nvSpPr>
        <p:spPr>
          <a:xfrm>
            <a:off x="8366224" y="2737063"/>
            <a:ext cx="2978199" cy="1468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0" i="0" u="none" dirty="0">
                <a:solidFill>
                  <a:srgbClr val="334155"/>
                </a:solidFill>
                <a:latin typeface="Plus Jakarta Sans"/>
              </a:rPr>
              <a:t>Integrated genomic trees with contact tracing data and shared location networks to map exact transmission chains and resolve contact </a:t>
            </a:r>
            <a:r>
              <a:rPr sz="2000" b="0" i="0" u="none" dirty="0" err="1">
                <a:solidFill>
                  <a:srgbClr val="334155"/>
                </a:solidFill>
                <a:latin typeface="Plus Jakarta Sans"/>
              </a:rPr>
              <a:t>blindspots</a:t>
            </a:r>
            <a:r>
              <a:rPr sz="200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B11EE6C1-6DBC-0EDB-0048-C0761AB7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851238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E723EFD6-4482-0324-B32C-611631290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974" y="1851238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7BCBCC11-2613-48D2-EB36-FAEEA448A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224" y="1851238"/>
            <a:ext cx="3905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7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EA06-0EC6-FAC4-4170-33AC4138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44906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</a:rPr>
              <a:t>Key Findings</a:t>
            </a:r>
            <a:br>
              <a:rPr lang="en-US" dirty="0">
                <a:solidFill>
                  <a:srgbClr val="0F172A"/>
                </a:solidFill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C08C2-DA06-608B-0B36-9540859DC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01" t="-971" r="8406" b="91238"/>
          <a:stretch>
            <a:fillRect/>
          </a:stretch>
        </p:blipFill>
        <p:spPr>
          <a:xfrm>
            <a:off x="8360152" y="5504231"/>
            <a:ext cx="3631320" cy="451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871147-20BD-1685-C766-F4F53C4B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72"/>
          <a:stretch>
            <a:fillRect/>
          </a:stretch>
        </p:blipFill>
        <p:spPr>
          <a:xfrm>
            <a:off x="4467725" y="1827440"/>
            <a:ext cx="7523747" cy="35172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53124B-CD6B-B74F-FDFC-F80A6370D22A}"/>
              </a:ext>
            </a:extLst>
          </p:cNvPr>
          <p:cNvSpPr txBox="1"/>
          <p:nvPr/>
        </p:nvSpPr>
        <p:spPr>
          <a:xfrm>
            <a:off x="495299" y="2031190"/>
            <a:ext cx="4172954" cy="3300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i="0" u="none" dirty="0">
                <a:solidFill>
                  <a:srgbClr val="0F172A"/>
                </a:solidFill>
                <a:latin typeface="Space Grotesk"/>
              </a:rPr>
              <a:t>1. </a:t>
            </a:r>
            <a:r>
              <a:rPr lang="en-US" dirty="0">
                <a:solidFill>
                  <a:srgbClr val="334155"/>
                </a:solidFill>
                <a:latin typeface="Plus Jakarta Sans"/>
              </a:rPr>
              <a:t>Genomic SNP mapping revealed two distinct bacterial lineages (Lineage A &amp; B) co-circulating under identical traditional MIRU-VNTR fingerprints.</a:t>
            </a:r>
          </a:p>
          <a:p>
            <a:endParaRPr lang="en-US" dirty="0">
              <a:solidFill>
                <a:srgbClr val="334155"/>
              </a:solidFill>
              <a:latin typeface="Plus Jakarta Sans"/>
            </a:endParaRPr>
          </a:p>
          <a:p>
            <a:r>
              <a:rPr lang="en-US" dirty="0">
                <a:solidFill>
                  <a:srgbClr val="0F172A"/>
                </a:solidFill>
                <a:latin typeface="Space Grotesk"/>
              </a:rPr>
              <a:t>2. </a:t>
            </a:r>
            <a:r>
              <a:rPr lang="en-US" dirty="0">
                <a:solidFill>
                  <a:srgbClr val="334155"/>
                </a:solidFill>
                <a:latin typeface="Plus Jakarta Sans"/>
              </a:rPr>
              <a:t>Rather than a novel genetic mutation, the surge was triggered by increased crack cocaine use in shared, poorly ventilated locations acting as transmission hubs.</a:t>
            </a:r>
          </a:p>
          <a:p>
            <a:endParaRPr lang="en-US" dirty="0">
              <a:solidFill>
                <a:srgbClr val="0F172A"/>
              </a:solidFill>
              <a:latin typeface="Space Grotesk"/>
            </a:endParaRPr>
          </a:p>
          <a:p>
            <a:endParaRPr lang="en-US" dirty="0">
              <a:solidFill>
                <a:srgbClr val="334155"/>
              </a:solidFill>
              <a:latin typeface="Plus Jakarta Sans"/>
            </a:endParaRPr>
          </a:p>
          <a:p>
            <a:pPr algn="l"/>
            <a:endParaRPr sz="1650" i="0" u="none" dirty="0">
              <a:solidFill>
                <a:srgbClr val="0F172A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246E82-B0B8-A157-EAFE-FB954CD4E1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71" r="63751" b="91238"/>
          <a:stretch>
            <a:fillRect/>
          </a:stretch>
        </p:blipFill>
        <p:spPr>
          <a:xfrm>
            <a:off x="4892841" y="5504231"/>
            <a:ext cx="3242723" cy="4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796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205</Words>
  <Application>Microsoft Macintosh PowerPoint</Application>
  <PresentationFormat>Widescreen</PresentationFormat>
  <Paragraphs>23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Plus Jakarta Sans</vt:lpstr>
      <vt:lpstr>Plus Jakarta Sans Medium</vt:lpstr>
      <vt:lpstr>Space Grotesk</vt:lpstr>
      <vt:lpstr>Aptos</vt:lpstr>
      <vt:lpstr>Arial</vt:lpstr>
      <vt:lpstr>Grandview Display</vt:lpstr>
      <vt:lpstr>DashVTI</vt:lpstr>
      <vt:lpstr>Whole-Genome Sequencing &amp; Social-Network Analysis of a Tuberculosis Outbreak Gardy et al. (2011)</vt:lpstr>
      <vt:lpstr>Learning Objectives</vt:lpstr>
      <vt:lpstr>Outbreak Context &amp; Investigative Approach </vt:lpstr>
      <vt:lpstr>Key Findings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Ludy Registre Carmola</dc:creator>
  <cp:lastModifiedBy>Ludy Registre Carmola</cp:lastModifiedBy>
  <cp:revision>1</cp:revision>
  <dcterms:created xsi:type="dcterms:W3CDTF">2026-08-17T17:00:34Z</dcterms:created>
  <dcterms:modified xsi:type="dcterms:W3CDTF">2026-08-17T21:05:42Z</dcterms:modified>
</cp:coreProperties>
</file>