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6"/>
  </p:notesMasterIdLst>
  <p:sldIdLst>
    <p:sldId id="256" r:id="rId2"/>
    <p:sldId id="257" r:id="rId3"/>
    <p:sldId id="300" r:id="rId4"/>
    <p:sldId id="258" r:id="rId5"/>
    <p:sldId id="30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302" r:id="rId16"/>
    <p:sldId id="285" r:id="rId17"/>
    <p:sldId id="273" r:id="rId18"/>
    <p:sldId id="274" r:id="rId19"/>
    <p:sldId id="275" r:id="rId20"/>
    <p:sldId id="277" r:id="rId21"/>
    <p:sldId id="310" r:id="rId22"/>
    <p:sldId id="311" r:id="rId23"/>
    <p:sldId id="312" r:id="rId24"/>
    <p:sldId id="281" r:id="rId25"/>
    <p:sldId id="282" r:id="rId26"/>
    <p:sldId id="303" r:id="rId27"/>
    <p:sldId id="305" r:id="rId28"/>
    <p:sldId id="307" r:id="rId29"/>
    <p:sldId id="308" r:id="rId30"/>
    <p:sldId id="309" r:id="rId31"/>
    <p:sldId id="306" r:id="rId32"/>
    <p:sldId id="283" r:id="rId33"/>
    <p:sldId id="304" r:id="rId34"/>
    <p:sldId id="286" r:id="rId35"/>
    <p:sldId id="287" r:id="rId36"/>
    <p:sldId id="288" r:id="rId37"/>
    <p:sldId id="268" r:id="rId38"/>
    <p:sldId id="269" r:id="rId39"/>
    <p:sldId id="270" r:id="rId40"/>
    <p:sldId id="271" r:id="rId41"/>
    <p:sldId id="272" r:id="rId42"/>
    <p:sldId id="276" r:id="rId43"/>
    <p:sldId id="284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D80FA4-C5E0-47F1-AB11-3DA70E4F6F51}">
  <a:tblStyle styleId="{58D80FA4-C5E0-47F1-AB11-3DA70E4F6F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6" y="4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fbbc6aa57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fbbc6aa57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34d841cb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34d841cb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Char char="●"/>
            </a:pPr>
            <a:r>
              <a:rPr lang="en" sz="1800">
                <a:solidFill>
                  <a:srgbClr val="ADADAD"/>
                </a:solidFill>
              </a:rPr>
              <a:t>Sequence data contain a record of mutations over time</a:t>
            </a:r>
            <a:endParaRPr sz="1800">
              <a:solidFill>
                <a:srgbClr val="ADADAD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Char char="●"/>
            </a:pPr>
            <a:r>
              <a:rPr lang="en" sz="1800">
                <a:solidFill>
                  <a:srgbClr val="ADADAD"/>
                </a:solidFill>
              </a:rPr>
              <a:t>Molecular epidemiology uses the information contained in sequence data to infer evolutionary histories and infer epidemiologically relevant parameters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0b694040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0b694040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0b694040c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0b694040c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b34d841c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b34d841c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Passive surveillance often over-represents severe clinical cases or well-resourced jurisdictions while under-sampling agricultural or rural spillover events.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6a39fc13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6a39fc13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6a39fc13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6a39fc13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b2d03ac2d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b2d03ac2d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How do we subsample for phylogenetic analysis while preserving key epidemiological covariates like jurisdiction, collection date, case counts, and host species?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0b694040c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00b694040c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2d03ac2d2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b2d03ac2d2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Model-assisted subsampling strategy using the local cube method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Randomly selects a </a:t>
            </a:r>
            <a:r>
              <a:rPr lang="en" sz="1300" i="1">
                <a:solidFill>
                  <a:schemeClr val="dk1"/>
                </a:solidFill>
              </a:rPr>
              <a:t>well-spread </a:t>
            </a:r>
            <a:r>
              <a:rPr lang="en" sz="1300">
                <a:solidFill>
                  <a:schemeClr val="dk1"/>
                </a:solidFill>
              </a:rPr>
              <a:t>and </a:t>
            </a:r>
            <a:r>
              <a:rPr lang="en" sz="1300" i="1">
                <a:solidFill>
                  <a:schemeClr val="dk1"/>
                </a:solidFill>
              </a:rPr>
              <a:t>balanced</a:t>
            </a:r>
            <a:r>
              <a:rPr lang="en" sz="1300">
                <a:solidFill>
                  <a:schemeClr val="dk1"/>
                </a:solidFill>
              </a:rPr>
              <a:t> subsample across multiple variables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Allows for weighting of sequences to include things like case counts or known biases in sequence availability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b34d841cb4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b34d841cb4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0b69404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00b69404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0b694040c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00b694040c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0b694040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00b694040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2d03ac2d2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2d03ac2d2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0b694040c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00b694040c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8F638112-9EA0-9C10-2D8D-B9E769C3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ff13e6326_0_20:notes">
            <a:extLst>
              <a:ext uri="{FF2B5EF4-FFF2-40B4-BE49-F238E27FC236}">
                <a16:creationId xmlns:a16="http://schemas.microsoft.com/office/drawing/2014/main" id="{8211F08D-2FB3-D39C-8DCD-3BBF46AFC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ff13e6326_0_20:notes">
            <a:extLst>
              <a:ext uri="{FF2B5EF4-FFF2-40B4-BE49-F238E27FC236}">
                <a16:creationId xmlns:a16="http://schemas.microsoft.com/office/drawing/2014/main" id="{CE574BDF-C0CD-447A-0984-CF7C92767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5682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A774BD26-3FE4-4C0D-E3DB-3AB27BCD5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fff13e6326_0_13:notes">
            <a:extLst>
              <a:ext uri="{FF2B5EF4-FFF2-40B4-BE49-F238E27FC236}">
                <a16:creationId xmlns:a16="http://schemas.microsoft.com/office/drawing/2014/main" id="{38E54D31-9A82-9443-DE1A-3AD77B41D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fff13e6326_0_13:notes">
            <a:extLst>
              <a:ext uri="{FF2B5EF4-FFF2-40B4-BE49-F238E27FC236}">
                <a16:creationId xmlns:a16="http://schemas.microsoft.com/office/drawing/2014/main" id="{5253B666-8FEA-27F3-CFA5-75CCC5CA2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1090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B466669E-511D-2EA6-10A1-D3F5E07B3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ff13e6326_0_6:notes">
            <a:extLst>
              <a:ext uri="{FF2B5EF4-FFF2-40B4-BE49-F238E27FC236}">
                <a16:creationId xmlns:a16="http://schemas.microsoft.com/office/drawing/2014/main" id="{8B15E30C-358C-2762-0B09-421FB6891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fff13e6326_0_6:notes">
            <a:extLst>
              <a:ext uri="{FF2B5EF4-FFF2-40B4-BE49-F238E27FC236}">
                <a16:creationId xmlns:a16="http://schemas.microsoft.com/office/drawing/2014/main" id="{17025D0F-6F14-7C8F-6051-5CD76EA9A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256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01bb6d58f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01bb6d58f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00b694040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00b694040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BE7A81DA-92B6-8D0D-F575-09B4728F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ff13e6326_0_20:notes">
            <a:extLst>
              <a:ext uri="{FF2B5EF4-FFF2-40B4-BE49-F238E27FC236}">
                <a16:creationId xmlns:a16="http://schemas.microsoft.com/office/drawing/2014/main" id="{FA8B770E-322E-DDAB-73EC-D8C800550F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ff13e6326_0_20:notes">
            <a:extLst>
              <a:ext uri="{FF2B5EF4-FFF2-40B4-BE49-F238E27FC236}">
                <a16:creationId xmlns:a16="http://schemas.microsoft.com/office/drawing/2014/main" id="{B9106F5B-D380-3924-472B-4476617ED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06575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218DE312-CAC3-FD61-308F-E7D1DDAB4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fff13e6326_0_13:notes">
            <a:extLst>
              <a:ext uri="{FF2B5EF4-FFF2-40B4-BE49-F238E27FC236}">
                <a16:creationId xmlns:a16="http://schemas.microsoft.com/office/drawing/2014/main" id="{B4345FFE-3D7F-A8E5-EA7F-D7C553E32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fff13e6326_0_13:notes">
            <a:extLst>
              <a:ext uri="{FF2B5EF4-FFF2-40B4-BE49-F238E27FC236}">
                <a16:creationId xmlns:a16="http://schemas.microsoft.com/office/drawing/2014/main" id="{3036A164-0D6D-7D18-E8B6-B6AE20F26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77493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D239C7D9-82D9-BA82-FE71-A8686523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ff13e6326_0_6:notes">
            <a:extLst>
              <a:ext uri="{FF2B5EF4-FFF2-40B4-BE49-F238E27FC236}">
                <a16:creationId xmlns:a16="http://schemas.microsoft.com/office/drawing/2014/main" id="{3071E08B-16A4-4D64-9F65-6EACAF0DD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fff13e6326_0_6:notes">
            <a:extLst>
              <a:ext uri="{FF2B5EF4-FFF2-40B4-BE49-F238E27FC236}">
                <a16:creationId xmlns:a16="http://schemas.microsoft.com/office/drawing/2014/main" id="{CF107FBB-6722-BE29-EF5E-7712CB383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50358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00b694040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00b694040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00b694040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00b694040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00b694040c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00b694040c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00b694040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00b694040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b59674eaf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b59674eaf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b34d841cb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b34d841cb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b34d841cb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b34d841cb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59674eaf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b59674eaf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b59674eaf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b59674eaf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ff13e632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ff13e6326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00b694040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00b694040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01bb6d58f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01bb6d58f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00b694040c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00b694040c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00b694040c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00b694040c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00b694040c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00b694040c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00b694040c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00b694040c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00b694040c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00b694040c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00b694040c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00b694040c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b2e31323e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b2e31323e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00b694040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00b694040c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00b694040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00b694040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00b694040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00b694040c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tott.garrick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mailto:guppy.stott@uga.edu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00" dirty="0"/>
              <a:t>Balanced and Well-spread Subsampling for Better Phylogenetic Inferences in Epidemiology</a:t>
            </a:r>
            <a:endParaRPr sz="398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800" b="1" dirty="0"/>
              <a:t>Hands-On Practical: Detecting &amp; Mitigating Sampling Bias with PAST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2026/10/16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Guppy Stott (they/them)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stott.garrick@gmail.com</a:t>
            </a:r>
            <a:r>
              <a:rPr lang="en" dirty="0"/>
              <a:t> 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36" dirty="0"/>
              <a:t>Institute of Bioinformatics, Center for the Ecology of Infectious Diseases, University of Georgia</a:t>
            </a:r>
            <a:endParaRPr sz="2436"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Expect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650"/>
              <a:buAutoNum type="arabicPeriod"/>
            </a:pPr>
            <a:r>
              <a:rPr lang="en" sz="1650" dirty="0"/>
              <a:t>Lab-to-Epi workflow &amp; why sampling bias matters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50"/>
              <a:buAutoNum type="arabicPeriod"/>
            </a:pPr>
            <a:r>
              <a:rPr lang="en" sz="1650" dirty="0"/>
              <a:t>How PAST balances convenience surveillance data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50"/>
              <a:buAutoNum type="arabicPeriod"/>
            </a:pPr>
            <a:r>
              <a:rPr lang="en" sz="1650" dirty="0"/>
              <a:t>Tool walkthrough: inputs</a:t>
            </a:r>
            <a:r>
              <a:rPr lang="en" sz="1650"/>
              <a:t>, interface, </a:t>
            </a:r>
            <a:r>
              <a:rPr lang="en" sz="1650" dirty="0"/>
              <a:t>&amp; outputs (≤30 min)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50"/>
              <a:buAutoNum type="arabicPeriod"/>
            </a:pPr>
            <a:r>
              <a:rPr lang="en" sz="1650" dirty="0"/>
              <a:t>Small-group exercise: interpreting outputs (15 min)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50"/>
              <a:buAutoNum type="arabicPeriod"/>
            </a:pPr>
            <a:r>
              <a:rPr lang="en" sz="1650" dirty="0"/>
              <a:t>Large-group debrief &amp; discussion answers (10 min)</a:t>
            </a: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Learning Objectives &amp; Pre-Session Setup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600"/>
              <a:buChar char="●"/>
            </a:pPr>
            <a:r>
              <a:rPr lang="en" sz="1600"/>
              <a:t>Practical Session Learning Objectives: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Detect geographic, temporal, and host sampling biases in genomic surveillance datasets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Evaluate how different subsampling strategies handle missing or skewed sequence data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Assess the reliability of phylogenetic conclusions before guiding outbreak response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00"/>
              <a:buChar char="●"/>
            </a:pPr>
            <a:r>
              <a:rPr lang="en" sz="1600"/>
              <a:t>Session Format &amp; Pre-Session Instructions: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Hands-on interpretation focus: No command-line coding or software installation required prior to today’s session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Download the practical packet: example FASTA alignment, surveillance metadata CSV, and pre-generated PAST output figures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1/5: 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phylogenetic inference?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2987625"/>
            <a:ext cx="8520600" cy="16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550"/>
              <a:buChar char="●"/>
            </a:pPr>
            <a:r>
              <a:rPr lang="en" sz="1550"/>
              <a:t>As viruses replicate, mutations accumulate in their genomes and act as genetic timestamps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/>
              <a:t>Sequence data provide a record of a pathogen’s transmission and evolutionary history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/>
              <a:t>Combining genomic trees with surveillance metadata helps estimate introductions, geographic spread, and effective reproduction number (Rt)</a:t>
            </a:r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000" y="1110113"/>
            <a:ext cx="1600200" cy="162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l="3351" r="18181"/>
          <a:stretch/>
        </p:blipFill>
        <p:spPr>
          <a:xfrm>
            <a:off x="4518500" y="1156163"/>
            <a:ext cx="2202200" cy="1532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5">
            <a:alphaModFix/>
          </a:blip>
          <a:srcRect l="6698" t="2905" r="6088" b="13615"/>
          <a:stretch/>
        </p:blipFill>
        <p:spPr>
          <a:xfrm>
            <a:off x="7094000" y="1221575"/>
            <a:ext cx="1860001" cy="140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1017725"/>
            <a:ext cx="1860000" cy="180932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2208788" y="1763838"/>
            <a:ext cx="299100" cy="317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4182300" y="1763825"/>
            <a:ext cx="299100" cy="317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6757800" y="1763813"/>
            <a:ext cx="299100" cy="317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1/5: Introduction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Where Subsampling Fits: Lab-to-Bioinformatics-to-Epi Workflow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600"/>
              <a:buChar char="●"/>
            </a:pPr>
            <a:r>
              <a:rPr lang="en" sz="1600"/>
              <a:t>1. Clinical &amp; Field Surveillance (Lab &amp; Field Epidemiology):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Collect specimens, run diagnostic sequencing, and log case metadata (collection date, jurisdiction, host species, regional case counts)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00"/>
              <a:buChar char="●"/>
            </a:pPr>
            <a:r>
              <a:rPr lang="en" sz="1600"/>
              <a:t>2. Data Curation &amp; Subsampling (Bioinformatics):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Merge sequence repositories with surveillance metadata and run PAST (github.com/glstott/past) to select a balanced subsample before tree inference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00"/>
              <a:buChar char="●"/>
            </a:pPr>
            <a:r>
              <a:rPr lang="en" sz="1600"/>
              <a:t>3. Outbreak Interpretation &amp; Public Health Action (Epidemiology):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Interpret cross-jurisdiction importation rates, source-sink dynamics, and 95% credible intervals to prioritize surveillance and interventions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1/5: Introduction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rapid growth in sequence data has created challenges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4735650" y="1152475"/>
            <a:ext cx="4096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700"/>
              <a:buChar char="●"/>
            </a:pPr>
            <a:r>
              <a:rPr lang="en" sz="1700"/>
              <a:t>Large sequence datasets overwhelm complex outbreak reconstruction models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700"/>
              <a:buChar char="●"/>
            </a:pPr>
            <a:r>
              <a:rPr lang="en" sz="1700"/>
              <a:t>Sequencing volume is uneven across state/county testing capacity, hospital vs. community sampling, and outbreak-driven testing surges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423952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1/5: Introduction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How can public health teams handle large, biased datasets?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700"/>
              <a:buChar char="●"/>
            </a:pPr>
            <a:r>
              <a:rPr lang="en" sz="1700"/>
              <a:t>Option 1: Adjust the statistical tree-building model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50"/>
              <a:buChar char="○"/>
            </a:pPr>
            <a:r>
              <a:rPr lang="en" sz="1450"/>
              <a:t>Use simplified approximations to speed up runs (sacrifices epidemiological detail)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50"/>
              <a:buChar char="○"/>
            </a:pPr>
            <a:r>
              <a:rPr lang="en" sz="1450"/>
              <a:t>Use complex structured models to account for uneven sampling (computationally slow for routine surveillance)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700"/>
              <a:buChar char="●"/>
            </a:pPr>
            <a:r>
              <a:rPr lang="en" sz="1700"/>
              <a:t>Option 2: Select a representative subsample up front (Our Focus)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50"/>
              <a:buChar char="○"/>
            </a:pPr>
            <a:r>
              <a:rPr lang="en" sz="1450"/>
              <a:t>Downsample oversized convenience datasets before running phylodynamic models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50"/>
              <a:buChar char="○"/>
            </a:pPr>
            <a:r>
              <a:rPr lang="en" sz="1450"/>
              <a:t>Reduces computation time while mitigating regional, temporal, and host sampling biases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1/5: Introduction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311700" y="173200"/>
            <a:ext cx="8520600" cy="8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Why does subsampling surveillance sequences pose a challenge?</a:t>
            </a: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6121375" y="1152475"/>
            <a:ext cx="2710800" cy="36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700"/>
              <a:buChar char="●"/>
            </a:pPr>
            <a:r>
              <a:rPr lang="en" sz="1700"/>
              <a:t>Publicly available sequences are passive convenience samples shaped by clinical reporting and local lab capacity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700"/>
              <a:buChar char="●"/>
            </a:pPr>
            <a:r>
              <a:rPr lang="en" sz="1700"/>
              <a:t>Subsampling without accounting for underlying outbreak structure amplifies regional and temporal biases</a:t>
            </a:r>
          </a:p>
        </p:txBody>
      </p:sp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14400"/>
            <a:ext cx="5940372" cy="3303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1/5: Introduction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bias can have a significant impact on our phylogeographic analyses</a:t>
            </a:r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1"/>
          </p:nvPr>
        </p:nvSpPr>
        <p:spPr>
          <a:xfrm>
            <a:off x="311700" y="1249125"/>
            <a:ext cx="8520600" cy="289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700"/>
              <a:buChar char="●"/>
            </a:pPr>
            <a:r>
              <a:rPr lang="en" sz="1700"/>
              <a:t>Overall tree reconstruction is accurate when pathogen movement between jurisdictions is low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700"/>
              <a:buChar char="●"/>
            </a:pPr>
            <a:r>
              <a:rPr lang="en" sz="1700"/>
              <a:t>Uneven regional sequencing strongly distorts estimated cross-jurisdiction transmission and importation rates</a:t>
            </a:r>
          </a:p>
        </p:txBody>
      </p:sp>
      <p:sp>
        <p:nvSpPr>
          <p:cNvPr id="112" name="Google Shape;11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2853000" y="4295800"/>
            <a:ext cx="5979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1. Liu, P., Yexuan Song, Caroline Colijn &amp; MacPherson, A. The impact of sampling bias on viral phylogeographic reconstruction. PLOS global public health 2, e0000577–e0000577 (2022).</a:t>
            </a:r>
            <a:endParaRPr sz="12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2"/>
              </a:solidFill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1/5: Introduction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downsampling outperforms no downsampling, but some are better than others…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1"/>
          </p:nvPr>
        </p:nvSpPr>
        <p:spPr>
          <a:xfrm>
            <a:off x="311700" y="1302900"/>
            <a:ext cx="8520600" cy="29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700"/>
              <a:buChar char="●"/>
            </a:pPr>
            <a:r>
              <a:rPr lang="en" sz="1700"/>
              <a:t>When estimating Rt and regional source-sink dynamics, analyzing raw un-downsampled sequences produces biased point estimates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700"/>
              <a:buChar char="●"/>
            </a:pPr>
            <a:r>
              <a:rPr lang="en" sz="1700"/>
              <a:t>Opportunistic sampling over-represents jurisdictions with high sequencing capacity rather than true outbreak burden</a:t>
            </a:r>
          </a:p>
        </p:txBody>
      </p:sp>
      <p:sp>
        <p:nvSpPr>
          <p:cNvPr id="121" name="Google Shape;12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1/5: Introduction</a:t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3081975" y="4228975"/>
            <a:ext cx="5161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1. Rhys PD Inward, Nuno R Faria &amp; Parag, K. V. Using multiple sampling strategies to estimate SARS-CoV-2 epidemiological parameters from genomic sequencing data. https://doi.org/10.1101/2022.02.04.22270165 (2022) doi:10.1101/2022.02.04.22270165.</a:t>
            </a:r>
            <a:endParaRPr sz="12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What surveillance metadata should guide subsampling?</a:t>
            </a:r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aphicFrame>
        <p:nvGraphicFramePr>
          <p:cNvPr id="130" name="Google Shape;130;p21"/>
          <p:cNvGraphicFramePr/>
          <p:nvPr>
            <p:extLst>
              <p:ext uri="{D42A27DB-BD31-4B8C-83A1-F6EECF244321}">
                <p14:modId xmlns:p14="http://schemas.microsoft.com/office/powerpoint/2010/main" val="14882137"/>
              </p:ext>
            </p:extLst>
          </p:nvPr>
        </p:nvGraphicFramePr>
        <p:xfrm>
          <a:off x="571525" y="1281075"/>
          <a:ext cx="8000925" cy="3099250"/>
        </p:xfrm>
        <a:graphic>
          <a:graphicData uri="http://schemas.openxmlformats.org/drawingml/2006/table">
            <a:tbl>
              <a:tblPr>
                <a:noFill/>
                <a:tableStyleId>{58D80FA4-C5E0-47F1-AB11-3DA70E4F6F51}</a:tableStyleId>
              </a:tblPr>
              <a:tblGrid>
                <a:gridCol w="150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2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TARDIS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PARNAS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PDA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CovSampler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Subsampler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FFFFFF"/>
                          </a:solidFill>
                        </a:rPr>
                        <a:t>PAST 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FFFFFF"/>
                          </a:solidFill>
                        </a:rPr>
                        <a:t>(our tool)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Genetic Diversity (Lineages)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Temporal Spread (Collection Date)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Proportional to Case Counts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Weighting (Surveillance Bias)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Host Species Diversity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Spatial Distance (Jurisdiction)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</a:rPr>
                        <a:t>+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1" name="Google Shape;131;p21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1/5: Introduction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How PAST Balances Surveillance Data &amp; Tool Walkthrough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a desirable subsample?</a:t>
            </a:r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650" y="1268350"/>
            <a:ext cx="4220350" cy="260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268350"/>
            <a:ext cx="4220351" cy="260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/>
          <p:nvPr/>
        </p:nvSpPr>
        <p:spPr>
          <a:xfrm>
            <a:off x="337475" y="1234025"/>
            <a:ext cx="4220400" cy="2714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Well-spread samples span the full outbreak timeline and geography—capturing early/late cases and outlying counties without clumping in one cluster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4474650" y="1234025"/>
            <a:ext cx="4317600" cy="2714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Balanced samples ensure the subsample’s average traits (e.g., proportion of avian vs. human hosts or regional share) match the broader outbreak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2/5: PAST Walkthrough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achieve a balanced and well-spread sample?</a:t>
            </a:r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650"/>
              <a:buChar char="●"/>
            </a:pPr>
            <a:r>
              <a:rPr lang="en" sz="1650" dirty="0"/>
              <a:t>PAST uses the LCUBE method (Grafström &amp; Tillé, 2013), designed for representative ecological and public health surveys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50"/>
              <a:buChar char="●"/>
            </a:pPr>
            <a:r>
              <a:rPr lang="en" sz="1650" dirty="0"/>
              <a:t>Combines two intuitive principles: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 dirty="0"/>
              <a:t>Spread across clusters: Avoids picking redundant sequences from the exact same local outbreak cluster or epidemic week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 dirty="0"/>
              <a:t>Proportional balancing: Keeps overall subsample proportions aligned with </a:t>
            </a:r>
            <a:r>
              <a:rPr lang="en" dirty="0"/>
              <a:t>what is observed across the population</a:t>
            </a:r>
            <a:r>
              <a:rPr lang="en" sz="1400" dirty="0"/>
              <a:t> (host species, jurisdiction, date, or case counts)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50"/>
              <a:buChar char="●"/>
            </a:pPr>
            <a:r>
              <a:rPr lang="en" sz="1650" dirty="0"/>
              <a:t>Result: Preserves both rare spillover events and overall outbreak proportions</a:t>
            </a:r>
          </a:p>
        </p:txBody>
      </p:sp>
      <p:sp>
        <p:nvSpPr>
          <p:cNvPr id="155" name="Google Shape;15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56" name="Google Shape;156;p24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2/5: PAST Walkthrough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Accessing PAST &amp; Input Materials Walkthrough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600"/>
              <a:buChar char="●"/>
            </a:pPr>
            <a:r>
              <a:rPr lang="en" sz="1600" dirty="0"/>
              <a:t>How to Access PAST (≤30-Minute Walkthrough):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Source code, documentation, and tutorial files: https://github.com/glstott/past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00"/>
              <a:buChar char="●"/>
            </a:pPr>
            <a:r>
              <a:rPr lang="en" sz="1600" dirty="0"/>
              <a:t>Input &amp; Output Files Provided to Participants: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Input Sequence Alignment (.fasta): Aligned viral genomes from the outbreak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Input Surveillance Metadata (.csv): Sample ID, collection date, jurisdiction/region, host species, and regional case counts for weighting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Tool Outputs (.csv): Subsampled isolate list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2/5: PAST Walkthrough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Tool Walkthrough: Point-and-Click GUI Applet for PAST</a:t>
            </a:r>
            <a:endParaRPr/>
          </a:p>
        </p:txBody>
      </p:sp>
      <p:sp>
        <p:nvSpPr>
          <p:cNvPr id="309" name="Google Shape;309;p42"/>
          <p:cNvSpPr txBox="1">
            <a:spLocks noGrp="1"/>
          </p:cNvSpPr>
          <p:nvPr>
            <p:ph type="body" idx="1"/>
          </p:nvPr>
        </p:nvSpPr>
        <p:spPr>
          <a:xfrm>
            <a:off x="6352525" y="1152475"/>
            <a:ext cx="2479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500"/>
              <a:buChar char="●"/>
            </a:pPr>
            <a:r>
              <a:rPr lang="en" sz="1500"/>
              <a:t>User-friendly interface designed for epidemiologists (no coding required)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00"/>
              <a:buChar char="●"/>
            </a:pPr>
            <a:r>
              <a:rPr lang="en" sz="1500"/>
              <a:t>Upload FASTA sequences &amp; metadata CSV, then pick balancing variables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00"/>
              <a:buChar char="●"/>
            </a:pPr>
            <a:r>
              <a:rPr lang="en" sz="1500"/>
              <a:t>Easily swap between Simple Random, Stratified, and LCUBE strategies</a:t>
            </a:r>
          </a:p>
        </p:txBody>
      </p:sp>
      <p:sp>
        <p:nvSpPr>
          <p:cNvPr id="310" name="Google Shape;310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311" name="Google Shape;31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040833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2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2/5: PAST Walkthrough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Surveillance Scenarios for the Practical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Three Public Health Surveillance Scenarios</a:t>
            </a:r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650"/>
              <a:buChar char="●"/>
            </a:pPr>
            <a:r>
              <a:rPr lang="en" sz="1650" dirty="0"/>
              <a:t>We evaluate Simple Random, Stratified Random, and PAST (LCUBE) across three public health surveillance conditions: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50"/>
              <a:buChar char="○"/>
            </a:pPr>
            <a:r>
              <a:rPr lang="en" sz="1450" dirty="0"/>
              <a:t>1. Equal Regional Sequencing Capacity (Proportional): Every jurisdiction sequences the same proportion of cases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50"/>
              <a:buChar char="○"/>
            </a:pPr>
            <a:r>
              <a:rPr lang="en" sz="1450" dirty="0"/>
              <a:t>2. High- vs. Low-Resource Jurisdictions: One region has lower testing/sequencing capacity and contributes fewer sequences despite active spread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50"/>
              <a:buChar char="○"/>
            </a:pPr>
            <a:r>
              <a:rPr lang="en" sz="1450" dirty="0"/>
              <a:t>3. Delayed Regional Surveillance: One region sequences early outbreak isolates but lags behind during later epidemic waves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50"/>
              <a:buChar char="●"/>
            </a:pPr>
            <a:r>
              <a:rPr lang="en" sz="1650" dirty="0"/>
              <a:t>Goal: Test how each subsampling strategy impacts downstream outbreak conclusions</a:t>
            </a:r>
          </a:p>
        </p:txBody>
      </p:sp>
      <p:sp>
        <p:nvSpPr>
          <p:cNvPr id="214" name="Google Shape;21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15" name="Google Shape;215;p31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3/5: Scenarios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Outbreak Scenario Map: 5 Connected Jurisdictions</a:t>
            </a:r>
            <a:endParaRPr/>
          </a:p>
        </p:txBody>
      </p:sp>
      <p:sp>
        <p:nvSpPr>
          <p:cNvPr id="221" name="Google Shape;221;p32"/>
          <p:cNvSpPr txBox="1">
            <a:spLocks noGrp="1"/>
          </p:cNvSpPr>
          <p:nvPr>
            <p:ph type="body" idx="1"/>
          </p:nvPr>
        </p:nvSpPr>
        <p:spPr>
          <a:xfrm>
            <a:off x="4990800" y="1152475"/>
            <a:ext cx="3841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650"/>
              <a:buChar char="●"/>
            </a:pPr>
            <a:r>
              <a:rPr lang="en" sz="1650"/>
              <a:t>All simulated outbreaks originate in Region 1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50"/>
              <a:buChar char="●"/>
            </a:pPr>
            <a:r>
              <a:rPr lang="en" sz="1650"/>
              <a:t>Pathogen spreads across 5 connected jurisdictions: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50"/>
              <a:buChar char="○"/>
            </a:pPr>
            <a:r>
              <a:rPr lang="en" sz="1450"/>
              <a:t>Known cross-jurisdiction transmission rates (low, medium, and high movement corridors)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50"/>
              <a:buChar char="○"/>
            </a:pPr>
            <a:r>
              <a:rPr lang="en" sz="1450"/>
              <a:t>Allows us to compare inferred importation rates against the true outbreak history</a:t>
            </a:r>
          </a:p>
        </p:txBody>
      </p:sp>
      <p:sp>
        <p:nvSpPr>
          <p:cNvPr id="222" name="Google Shape;22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23" name="Google Shape;22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685998" cy="328111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2"/>
          <p:cNvSpPr txBox="1"/>
          <p:nvPr/>
        </p:nvSpPr>
        <p:spPr>
          <a:xfrm>
            <a:off x="641125" y="2365125"/>
            <a:ext cx="391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1</a:t>
            </a:r>
            <a:endParaRPr sz="2400" b="1"/>
          </a:p>
        </p:txBody>
      </p:sp>
      <p:sp>
        <p:nvSpPr>
          <p:cNvPr id="225" name="Google Shape;225;p32"/>
          <p:cNvSpPr txBox="1"/>
          <p:nvPr/>
        </p:nvSpPr>
        <p:spPr>
          <a:xfrm>
            <a:off x="3073175" y="3351025"/>
            <a:ext cx="391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</a:rPr>
              <a:t>5</a:t>
            </a:r>
            <a:endParaRPr sz="2400" b="1">
              <a:solidFill>
                <a:schemeClr val="lt1"/>
              </a:solidFill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1636950" y="3303975"/>
            <a:ext cx="391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</a:rPr>
              <a:t>2</a:t>
            </a:r>
            <a:endParaRPr sz="2400" b="1">
              <a:solidFill>
                <a:schemeClr val="lt1"/>
              </a:solidFill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2402000" y="1966125"/>
            <a:ext cx="391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</a:rPr>
              <a:t>3</a:t>
            </a:r>
            <a:endParaRPr sz="2400" b="1">
              <a:solidFill>
                <a:schemeClr val="lt1"/>
              </a:solidFill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3793975" y="2258275"/>
            <a:ext cx="391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</a:rPr>
              <a:t>4</a:t>
            </a:r>
            <a:endParaRPr sz="2400" b="1">
              <a:solidFill>
                <a:schemeClr val="lt1"/>
              </a:solidFill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3/5: Scenarios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Interpreting Tool Output</a:t>
            </a:r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3F810CF1-067B-C2B5-BBF1-867072D3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>
            <a:extLst>
              <a:ext uri="{FF2B5EF4-FFF2-40B4-BE49-F238E27FC236}">
                <a16:creationId xmlns:a16="http://schemas.microsoft.com/office/drawing/2014/main" id="{8AD125B9-6704-264E-5CCC-F687C82BE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Output Interpretation 1: Tree Shape &amp; Case Grouping</a:t>
            </a:r>
            <a:endParaRPr/>
          </a:p>
        </p:txBody>
      </p:sp>
      <p:sp>
        <p:nvSpPr>
          <p:cNvPr id="250" name="Google Shape;250;p35">
            <a:extLst>
              <a:ext uri="{FF2B5EF4-FFF2-40B4-BE49-F238E27FC236}">
                <a16:creationId xmlns:a16="http://schemas.microsoft.com/office/drawing/2014/main" id="{09CF9602-88C6-B070-7492-239044F66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2350" y="1152475"/>
            <a:ext cx="5030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How accurately does the tree group related cases without creating false links?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Shared information: True transmission groupings accurately recovered in the tree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Absent information: Branches left unresolved due to limited genetic signal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Misinformation: False case groupings compared to the true outbreak history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Takeaway: All three subsampling strategies preserve overall tree topology</a:t>
            </a:r>
          </a:p>
        </p:txBody>
      </p:sp>
      <p:sp>
        <p:nvSpPr>
          <p:cNvPr id="251" name="Google Shape;251;p35">
            <a:extLst>
              <a:ext uri="{FF2B5EF4-FFF2-40B4-BE49-F238E27FC236}">
                <a16:creationId xmlns:a16="http://schemas.microsoft.com/office/drawing/2014/main" id="{97EF73C4-EB1F-354A-8919-D6F75E49B0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252" name="Google Shape;252;p35">
            <a:extLst>
              <a:ext uri="{FF2B5EF4-FFF2-40B4-BE49-F238E27FC236}">
                <a16:creationId xmlns:a16="http://schemas.microsoft.com/office/drawing/2014/main" id="{31068CFE-6B09-4D7A-206B-B943CC8D64E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490659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5">
            <a:extLst>
              <a:ext uri="{FF2B5EF4-FFF2-40B4-BE49-F238E27FC236}">
                <a16:creationId xmlns:a16="http://schemas.microsoft.com/office/drawing/2014/main" id="{6C68BF37-A66E-0D58-0AEC-DD3B24AF1F47}"/>
              </a:ext>
            </a:extLst>
          </p:cNvPr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4/5: Interpretation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65615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6312EBBD-46C0-AC42-ABEB-3CA064DAC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>
            <a:extLst>
              <a:ext uri="{FF2B5EF4-FFF2-40B4-BE49-F238E27FC236}">
                <a16:creationId xmlns:a16="http://schemas.microsoft.com/office/drawing/2014/main" id="{F312FB1F-6E78-0750-8AE9-4526D17444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Output Interpretation 2: Cross-Region Rates &amp; Uncertainty</a:t>
            </a:r>
            <a:endParaRPr/>
          </a:p>
        </p:txBody>
      </p:sp>
      <p:sp>
        <p:nvSpPr>
          <p:cNvPr id="259" name="Google Shape;259;p36">
            <a:extLst>
              <a:ext uri="{FF2B5EF4-FFF2-40B4-BE49-F238E27FC236}">
                <a16:creationId xmlns:a16="http://schemas.microsoft.com/office/drawing/2014/main" id="{60CD626A-3613-DA33-8EA5-307733E80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367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sz="1400"/>
              <a:t>Transition rate: Estimated pathogen movement rate between jurisdictions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400"/>
              <a:buChar char="●"/>
            </a:pPr>
            <a:r>
              <a:rPr lang="en" sz="1400"/>
              <a:t>95% HPD (Credible Interval): 95% uncertainty range for the true rate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400"/>
              <a:buChar char="●"/>
            </a:pPr>
            <a:r>
              <a:rPr lang="en" sz="1400"/>
              <a:t>Reading the plot: Points at 0.00 mean the 95% interval captured the true movement rate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400"/>
              <a:buChar char="●"/>
            </a:pPr>
            <a:r>
              <a:rPr lang="en" sz="1400"/>
              <a:t>LCUBE &amp; Stratified maintain high accuracy; Simple Random misses true rates</a:t>
            </a:r>
          </a:p>
        </p:txBody>
      </p:sp>
      <p:sp>
        <p:nvSpPr>
          <p:cNvPr id="260" name="Google Shape;260;p36">
            <a:extLst>
              <a:ext uri="{FF2B5EF4-FFF2-40B4-BE49-F238E27FC236}">
                <a16:creationId xmlns:a16="http://schemas.microsoft.com/office/drawing/2014/main" id="{67C8E8AC-CDC5-17A4-9B2B-4AF0DA445D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61" name="Google Shape;261;p36">
            <a:extLst>
              <a:ext uri="{FF2B5EF4-FFF2-40B4-BE49-F238E27FC236}">
                <a16:creationId xmlns:a16="http://schemas.microsoft.com/office/drawing/2014/main" id="{D8E14636-4628-ABAC-DFAF-4A64E4168EF6}"/>
              </a:ext>
            </a:extLst>
          </p:cNvPr>
          <p:cNvSpPr txBox="1"/>
          <p:nvPr/>
        </p:nvSpPr>
        <p:spPr>
          <a:xfrm>
            <a:off x="8201775" y="1310800"/>
            <a:ext cx="19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</a:t>
            </a:r>
            <a:endParaRPr sz="1000"/>
          </a:p>
        </p:txBody>
      </p:sp>
      <p:sp>
        <p:nvSpPr>
          <p:cNvPr id="262" name="Google Shape;262;p36">
            <a:extLst>
              <a:ext uri="{FF2B5EF4-FFF2-40B4-BE49-F238E27FC236}">
                <a16:creationId xmlns:a16="http://schemas.microsoft.com/office/drawing/2014/main" id="{F639C432-0684-9646-7488-2D3DEE36C862}"/>
              </a:ext>
            </a:extLst>
          </p:cNvPr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4/5: Interpretation</a:t>
            </a:r>
            <a:endParaRPr/>
          </a:p>
        </p:txBody>
      </p:sp>
      <p:pic>
        <p:nvPicPr>
          <p:cNvPr id="263" name="Google Shape;263;p36" title="Rplot08.png">
            <a:extLst>
              <a:ext uri="{FF2B5EF4-FFF2-40B4-BE49-F238E27FC236}">
                <a16:creationId xmlns:a16="http://schemas.microsoft.com/office/drawing/2014/main" id="{AFBD70DD-B6A3-CFEC-49F2-15979E2B71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5275" y="1064900"/>
            <a:ext cx="4836689" cy="3551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9063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B590018A-33C8-1E06-3FB0-84EF7951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AAA649FF-F0B5-D140-6DD4-37EDC6F5D6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Output Interpretation 3: Spotting Surveillance Bias</a:t>
            </a:r>
            <a:endParaRPr/>
          </a:p>
        </p:txBody>
      </p:sp>
      <p:sp>
        <p:nvSpPr>
          <p:cNvPr id="269" name="Google Shape;269;p37">
            <a:extLst>
              <a:ext uri="{FF2B5EF4-FFF2-40B4-BE49-F238E27FC236}">
                <a16:creationId xmlns:a16="http://schemas.microsoft.com/office/drawing/2014/main" id="{26A743B7-0EB5-B001-8580-F272BAADCF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98475" y="1152475"/>
            <a:ext cx="223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sz="1400" dirty="0"/>
              <a:t>Uneven or delayed sequencing shifts point estimates of cross-region importation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400"/>
              <a:buChar char="●"/>
            </a:pPr>
            <a:r>
              <a:rPr lang="en" sz="1400" dirty="0"/>
              <a:t>Simple &amp; Stratified Random yield narrow, overconfident intervals around biased estimates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400"/>
              <a:buChar char="●"/>
            </a:pPr>
            <a:r>
              <a:rPr lang="en" sz="1400" dirty="0"/>
              <a:t>PAST (LCUBE) captures wider, realistic uncertainty across resamples</a:t>
            </a:r>
          </a:p>
        </p:txBody>
      </p:sp>
      <p:sp>
        <p:nvSpPr>
          <p:cNvPr id="270" name="Google Shape;270;p37">
            <a:extLst>
              <a:ext uri="{FF2B5EF4-FFF2-40B4-BE49-F238E27FC236}">
                <a16:creationId xmlns:a16="http://schemas.microsoft.com/office/drawing/2014/main" id="{282F8DF8-0CA8-A2EB-AF98-E8296EC510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271" name="Google Shape;271;p37">
            <a:extLst>
              <a:ext uri="{FF2B5EF4-FFF2-40B4-BE49-F238E27FC236}">
                <a16:creationId xmlns:a16="http://schemas.microsoft.com/office/drawing/2014/main" id="{86641E75-500F-B002-9BAF-3F397C2FB6CC}"/>
              </a:ext>
            </a:extLst>
          </p:cNvPr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4/5: Interpretation</a:t>
            </a:r>
            <a:endParaRPr/>
          </a:p>
        </p:txBody>
      </p:sp>
      <p:pic>
        <p:nvPicPr>
          <p:cNvPr id="272" name="Google Shape;272;p37" title="Rplot08.png">
            <a:extLst>
              <a:ext uri="{FF2B5EF4-FFF2-40B4-BE49-F238E27FC236}">
                <a16:creationId xmlns:a16="http://schemas.microsoft.com/office/drawing/2014/main" id="{AF4F05A0-33B1-832B-78AF-75A8FAD6AC1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25" y="1152463"/>
            <a:ext cx="6293674" cy="30928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3724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Visualizing the Output Tree: Preserving Key Lineages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279" name="Google Shape;279;p38"/>
          <p:cNvPicPr preferRelativeResize="0"/>
          <p:nvPr/>
        </p:nvPicPr>
        <p:blipFill rotWithShape="1">
          <a:blip r:embed="rId3">
            <a:alphaModFix/>
          </a:blip>
          <a:srcRect l="26137" r="14258"/>
          <a:stretch/>
        </p:blipFill>
        <p:spPr>
          <a:xfrm>
            <a:off x="840625" y="1152475"/>
            <a:ext cx="3448001" cy="34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8"/>
          <p:cNvPicPr preferRelativeResize="0"/>
          <p:nvPr/>
        </p:nvPicPr>
        <p:blipFill rotWithShape="1">
          <a:blip r:embed="rId4">
            <a:alphaModFix/>
          </a:blip>
          <a:srcRect l="27363"/>
          <a:stretch/>
        </p:blipFill>
        <p:spPr>
          <a:xfrm>
            <a:off x="4977700" y="1139925"/>
            <a:ext cx="4201926" cy="340107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8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4/5: Interpretation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Conclusions, Limitations &amp; Group Exercises</a:t>
            </a:r>
            <a:endParaRPr/>
          </a:p>
        </p:txBody>
      </p:sp>
      <p:sp>
        <p:nvSpPr>
          <p:cNvPr id="287" name="Google Shape;287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Interpreting PAST Output: Conclusions You Can and Cannot Draw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550"/>
              <a:buChar char="●"/>
            </a:pPr>
            <a:r>
              <a:rPr lang="en" sz="1550"/>
              <a:t>Conclusions You CAN Draw from Subsampled Phylodynamic Output: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/>
              <a:t>Identify broad regional source-sink patterns and major cross-jurisdiction introduction corridors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/>
              <a:t>Evaluate whether importation rate estimates are robust or highly uncertain by inspecting the 95% credible interval (HPD)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/>
              <a:t>Determine whether conclusions remain stable across Simple Random, Stratified, and LCUBE subsampling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/>
              <a:t>Conclusions You CANNOT Draw: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/>
              <a:t>Cannot infer direct person-to-person or farm-to-farm transmission pairs ('who infected whom') from regional phylogeography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/>
              <a:t>Cannot treat point estimates from convenience samples as exact counts of importation events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/>
              <a:t>Cannot infer absence of transmission in jurisdictions or host species that have zero sequences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5/5: Conclusions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Small-Group Discussion: Interpreting Output (15 Minutes)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Question 1 — High- vs. Low-Resource Jurisdictions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How does Simple Random sampling change your conclusion about whether Region 1 is the primary source of introductions compared to PAST (LCUBE)?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Question 2 — Delayed Regional Surveillance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Why do transition rate point estimates shift when one region sequences late? What are some strategies to mitigate this source of bias?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Question 3 — Designing Your Subsampling Strategy: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If your jurisdiction experiences a high case surge but limited sequencing capacity during peak weeks, which metadata variables would you balance or weight on in PAST?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5/5: Group Exercise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3F620B03-FC14-D056-9F84-3DE3C824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>
            <a:extLst>
              <a:ext uri="{FF2B5EF4-FFF2-40B4-BE49-F238E27FC236}">
                <a16:creationId xmlns:a16="http://schemas.microsoft.com/office/drawing/2014/main" id="{CB2747AB-7DB8-5731-F672-790D825F6A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Output Interpretation 1: Tree Shape &amp; Case Grouping</a:t>
            </a:r>
            <a:endParaRPr/>
          </a:p>
        </p:txBody>
      </p:sp>
      <p:sp>
        <p:nvSpPr>
          <p:cNvPr id="250" name="Google Shape;250;p35">
            <a:extLst>
              <a:ext uri="{FF2B5EF4-FFF2-40B4-BE49-F238E27FC236}">
                <a16:creationId xmlns:a16="http://schemas.microsoft.com/office/drawing/2014/main" id="{124726BC-72E9-91C2-44BD-81685A860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2350" y="1152475"/>
            <a:ext cx="5030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How accurately does the tree group related cases without creating false links?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Shared information: True transmission groupings accurately recovered in the tree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Absent information: Branches left unresolved due to limited genetic signal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 dirty="0"/>
              <a:t>Misinformation: False case groupings compared to the true outbreak history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Takeaway: All three subsampling strategies preserve overall tree topology</a:t>
            </a:r>
          </a:p>
        </p:txBody>
      </p:sp>
      <p:sp>
        <p:nvSpPr>
          <p:cNvPr id="251" name="Google Shape;251;p35">
            <a:extLst>
              <a:ext uri="{FF2B5EF4-FFF2-40B4-BE49-F238E27FC236}">
                <a16:creationId xmlns:a16="http://schemas.microsoft.com/office/drawing/2014/main" id="{1A6A33CD-76AA-32AC-1946-09CAF4A719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252" name="Google Shape;252;p35">
            <a:extLst>
              <a:ext uri="{FF2B5EF4-FFF2-40B4-BE49-F238E27FC236}">
                <a16:creationId xmlns:a16="http://schemas.microsoft.com/office/drawing/2014/main" id="{207A4493-D064-BC80-4DCD-B1A225E35D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490659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5">
            <a:extLst>
              <a:ext uri="{FF2B5EF4-FFF2-40B4-BE49-F238E27FC236}">
                <a16:creationId xmlns:a16="http://schemas.microsoft.com/office/drawing/2014/main" id="{F4781A0F-D5A7-7975-5FE4-6ADBA6CBB581}"/>
              </a:ext>
            </a:extLst>
          </p:cNvPr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4/5: Interpretation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41930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5C177F11-2B3B-579D-821E-D87BFDD23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>
            <a:extLst>
              <a:ext uri="{FF2B5EF4-FFF2-40B4-BE49-F238E27FC236}">
                <a16:creationId xmlns:a16="http://schemas.microsoft.com/office/drawing/2014/main" id="{2B794B8F-050D-E5F7-57E0-D9A6BC0F6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Output Interpretation 2: Cross-Region Rates &amp; Uncertainty</a:t>
            </a:r>
            <a:endParaRPr/>
          </a:p>
        </p:txBody>
      </p:sp>
      <p:sp>
        <p:nvSpPr>
          <p:cNvPr id="259" name="Google Shape;259;p36">
            <a:extLst>
              <a:ext uri="{FF2B5EF4-FFF2-40B4-BE49-F238E27FC236}">
                <a16:creationId xmlns:a16="http://schemas.microsoft.com/office/drawing/2014/main" id="{8A2505DE-0368-933B-5A90-9FB1E2F49E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367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sz="1400"/>
              <a:t>Transition rate: Estimated pathogen movement rate between jurisdictions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400"/>
              <a:buChar char="●"/>
            </a:pPr>
            <a:r>
              <a:rPr lang="en" sz="1400"/>
              <a:t>95% HPD (Credible Interval): 95% uncertainty range for the true rate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400"/>
              <a:buChar char="●"/>
            </a:pPr>
            <a:r>
              <a:rPr lang="en" sz="1400"/>
              <a:t>Reading the plot: Points at 0.00 mean the 95% interval captured the true movement rate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400"/>
              <a:buChar char="●"/>
            </a:pPr>
            <a:r>
              <a:rPr lang="en" sz="1400"/>
              <a:t>LCUBE &amp; Stratified maintain high accuracy; Simple Random misses true rates</a:t>
            </a:r>
          </a:p>
        </p:txBody>
      </p:sp>
      <p:sp>
        <p:nvSpPr>
          <p:cNvPr id="260" name="Google Shape;260;p36">
            <a:extLst>
              <a:ext uri="{FF2B5EF4-FFF2-40B4-BE49-F238E27FC236}">
                <a16:creationId xmlns:a16="http://schemas.microsoft.com/office/drawing/2014/main" id="{37701C7A-9436-FA42-914B-3ABD589FF0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261" name="Google Shape;261;p36">
            <a:extLst>
              <a:ext uri="{FF2B5EF4-FFF2-40B4-BE49-F238E27FC236}">
                <a16:creationId xmlns:a16="http://schemas.microsoft.com/office/drawing/2014/main" id="{7CBA004E-1641-A3EE-F411-31651BCECBC6}"/>
              </a:ext>
            </a:extLst>
          </p:cNvPr>
          <p:cNvSpPr txBox="1"/>
          <p:nvPr/>
        </p:nvSpPr>
        <p:spPr>
          <a:xfrm>
            <a:off x="8201775" y="1310800"/>
            <a:ext cx="19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</a:t>
            </a:r>
            <a:endParaRPr sz="1000"/>
          </a:p>
        </p:txBody>
      </p:sp>
      <p:sp>
        <p:nvSpPr>
          <p:cNvPr id="262" name="Google Shape;262;p36">
            <a:extLst>
              <a:ext uri="{FF2B5EF4-FFF2-40B4-BE49-F238E27FC236}">
                <a16:creationId xmlns:a16="http://schemas.microsoft.com/office/drawing/2014/main" id="{1FDB95FC-A5AB-71F0-1046-EC0F5FF84840}"/>
              </a:ext>
            </a:extLst>
          </p:cNvPr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4/5: Interpretation</a:t>
            </a:r>
            <a:endParaRPr/>
          </a:p>
        </p:txBody>
      </p:sp>
      <p:pic>
        <p:nvPicPr>
          <p:cNvPr id="263" name="Google Shape;263;p36" title="Rplot08.png">
            <a:extLst>
              <a:ext uri="{FF2B5EF4-FFF2-40B4-BE49-F238E27FC236}">
                <a16:creationId xmlns:a16="http://schemas.microsoft.com/office/drawing/2014/main" id="{3881EBA4-3996-3A63-AE06-BB59FF51C6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5275" y="1064900"/>
            <a:ext cx="4836689" cy="3551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6874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85886382-366A-70AA-E3F8-390750A7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FC12FD30-197F-833D-92E8-2C1FCEB56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Output Interpretation 3: Spotting Surveillance Bias</a:t>
            </a:r>
            <a:endParaRPr/>
          </a:p>
        </p:txBody>
      </p:sp>
      <p:sp>
        <p:nvSpPr>
          <p:cNvPr id="269" name="Google Shape;269;p37">
            <a:extLst>
              <a:ext uri="{FF2B5EF4-FFF2-40B4-BE49-F238E27FC236}">
                <a16:creationId xmlns:a16="http://schemas.microsoft.com/office/drawing/2014/main" id="{82BF452B-5DFA-253F-5F76-A7D20FC0EC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98475" y="1152475"/>
            <a:ext cx="223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sz="1400" dirty="0"/>
              <a:t>Uneven or delayed sequencing shifts point estimates of cross-region importation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400"/>
              <a:buChar char="●"/>
            </a:pPr>
            <a:r>
              <a:rPr lang="en" sz="1400" dirty="0"/>
              <a:t>Simple &amp; Stratified Random yield narrow, overconfident intervals around biased estimates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400"/>
              <a:buChar char="●"/>
            </a:pPr>
            <a:r>
              <a:rPr lang="en" sz="1400" dirty="0"/>
              <a:t>PAST (LCUBE) captures wider, realistic uncertainty across resamples</a:t>
            </a:r>
          </a:p>
        </p:txBody>
      </p:sp>
      <p:sp>
        <p:nvSpPr>
          <p:cNvPr id="270" name="Google Shape;270;p37">
            <a:extLst>
              <a:ext uri="{FF2B5EF4-FFF2-40B4-BE49-F238E27FC236}">
                <a16:creationId xmlns:a16="http://schemas.microsoft.com/office/drawing/2014/main" id="{42F189E3-C98C-B331-6268-574B3DCF8E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271" name="Google Shape;271;p37">
            <a:extLst>
              <a:ext uri="{FF2B5EF4-FFF2-40B4-BE49-F238E27FC236}">
                <a16:creationId xmlns:a16="http://schemas.microsoft.com/office/drawing/2014/main" id="{8FDF4610-DBF2-2503-CF18-653EFAE77A7B}"/>
              </a:ext>
            </a:extLst>
          </p:cNvPr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4/5: Interpretation</a:t>
            </a:r>
            <a:endParaRPr/>
          </a:p>
        </p:txBody>
      </p:sp>
      <p:pic>
        <p:nvPicPr>
          <p:cNvPr id="272" name="Google Shape;272;p37" title="Rplot08.png">
            <a:extLst>
              <a:ext uri="{FF2B5EF4-FFF2-40B4-BE49-F238E27FC236}">
                <a16:creationId xmlns:a16="http://schemas.microsoft.com/office/drawing/2014/main" id="{E435059C-D408-8F5B-66D1-A1CD894D34A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25" y="1152463"/>
            <a:ext cx="6293674" cy="30928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68159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Large-Group Debrief: Discussion Key (10 Minutes)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550"/>
              <a:buChar char="●"/>
            </a:pPr>
            <a:r>
              <a:rPr lang="en" sz="1550"/>
              <a:t>Response 1 — High- vs. Low-Resource Jurisdictions: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/>
              <a:t>Simple Random under-samples the low-resource jurisdiction, masking bidirectional spread; LCUBE preserves regional representation so low-resource transmission corridors are detected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/>
              <a:t>Response 2 — Delayed Regional Surveillance: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/>
              <a:t>Missing late sequences underestimates ongoing local spread; reporting LCUBE’s wider 95% credible interval prevents overconfident policy decisions based on a biased point estimate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/>
              <a:t>Response 3 — Designing Your Subsampling Strategy: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350"/>
              <a:buChar char="○"/>
            </a:pPr>
            <a:r>
              <a:rPr lang="en" sz="1350"/>
              <a:t>Balance on collection date (temporal spread) and jurisdiction (spatial distance), and weight inclusion by regional case counts so under-sequenced peak weeks are represented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5/5: Group Debrief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650"/>
              <a:buChar char="●"/>
            </a:pPr>
            <a:r>
              <a:rPr lang="en" sz="1650" dirty="0"/>
              <a:t>Cross-jurisdiction transmission estimates are highly sensitive to local sequencing capacity and timing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50"/>
              <a:buChar char="●"/>
            </a:pPr>
            <a:r>
              <a:rPr lang="en" sz="1650" dirty="0"/>
              <a:t>Simple and stratified random subsampling can produce consistent yet biased importation estimates under uneven surveillance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50"/>
              <a:buChar char="●"/>
            </a:pPr>
            <a:r>
              <a:rPr lang="en" sz="1650" dirty="0"/>
              <a:t>PAST balances across multiple surveillance traits to better capture true outbreak variation and uncertainty</a:t>
            </a:r>
          </a:p>
        </p:txBody>
      </p:sp>
      <p:sp>
        <p:nvSpPr>
          <p:cNvPr id="294" name="Google Shape;29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295" name="Google Shape;295;p40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5/5: Conclusions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Limitations of PAST &amp; Phylogenetic Interpretation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600"/>
              <a:buChar char="●"/>
            </a:pPr>
            <a:r>
              <a:rPr lang="en" sz="1600"/>
              <a:t>Subsampling cannot invent missing surveillance data: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PAST re-balances existing sequences; it cannot recover transmission dynamics for completely unsampled jurisdictions, hosts, or time periods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00"/>
              <a:buChar char="●"/>
            </a:pPr>
            <a:r>
              <a:rPr lang="en" sz="1600"/>
              <a:t>Balancing quality depends on metadata completeness: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Inaccurate collection dates, missing county/state labels, or biased case count weights will limit bias correction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600"/>
              <a:buChar char="●"/>
            </a:pPr>
            <a:r>
              <a:rPr lang="en" sz="1600"/>
              <a:t>Severe surveillance delays still shift point estimates:</a:t>
            </a:r>
          </a:p>
          <a:p>
            <a:pPr marL="914400" lvl="1" indent="-317500" algn="l" rtl="0">
              <a:spcBef>
                <a:spcPts val="150"/>
              </a:spcBef>
              <a:spcAft>
                <a:spcPts val="150"/>
              </a:spcAft>
              <a:buSzPts val="1400"/>
              <a:buChar char="○"/>
            </a:pPr>
            <a:r>
              <a:rPr lang="en" sz="1400"/>
              <a:t>Under extreme delayed regional sequencing, point estimates still drift—analysts must rely on LCUBE’s wider 95% uncertainty bounds rather than point estimates alone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5/5: Conclusions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Acknowledgements</a:t>
            </a:r>
            <a:endParaRPr/>
          </a:p>
        </p:txBody>
      </p:sp>
      <p:sp>
        <p:nvSpPr>
          <p:cNvPr id="318" name="Google Shape;318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Bahl Lab (Applied Molecular Epidemiology Research Group)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Leke Lyu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Gabriella Veytsel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Cody Dailey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Justin Bahl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Stephani Mock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PIPP Phase I Research Group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Barbara Han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Hailey Robertson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Ellie Graeden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John Drake</a:t>
            </a:r>
            <a:endParaRPr/>
          </a:p>
        </p:txBody>
      </p:sp>
      <p:sp>
        <p:nvSpPr>
          <p:cNvPr id="319" name="Google Shape;319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320" name="Google Shape;320;p4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Institute of Bioinformatics Staff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April King Mosley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Sandra Getz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Jara Usherwood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My dissertation committee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Amy Winter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Mandev Gill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Liang Liu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21" name="Google Shape;3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3799" y="3473449"/>
            <a:ext cx="1868649" cy="10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8374" y="3473449"/>
            <a:ext cx="1095425" cy="10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950" y="3473444"/>
            <a:ext cx="1095425" cy="1100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29" name="Google Shape;329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Genomic surveillance helps track pathogen spread, but convenience datasets require careful subsampling before phylodynamic analysis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Cross-jurisdiction transmission estimates are strongly affected by low-resource and delayed sequencing scenarios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Simple and stratified random sampling can yield overconfident, biased importation estimates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PAST (LCUBE) balances across time, geography, and host metadata to preserve realistic uncertainty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200"/>
              </a:spcAft>
              <a:buSzPts val="1550"/>
              <a:buChar char="●"/>
            </a:pPr>
            <a:r>
              <a:rPr lang="en" sz="1550" dirty="0"/>
              <a:t>Always report 95% credible intervals and account for unsampled jurisdictions when briefing public health leadership</a:t>
            </a:r>
          </a:p>
        </p:txBody>
      </p:sp>
      <p:sp>
        <p:nvSpPr>
          <p:cNvPr id="330" name="Google Shape;330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331" name="Google Shape;331;p44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5/5: Conclusions</a:t>
            </a:r>
            <a:endParaRPr/>
          </a:p>
        </p:txBody>
      </p:sp>
      <p:sp>
        <p:nvSpPr>
          <p:cNvPr id="332" name="Google Shape;332;p44"/>
          <p:cNvSpPr txBox="1"/>
          <p:nvPr/>
        </p:nvSpPr>
        <p:spPr>
          <a:xfrm>
            <a:off x="3362450" y="4629175"/>
            <a:ext cx="491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guppy.stott@uga.edu</a:t>
            </a:r>
            <a:r>
              <a:rPr lang="en" sz="1800">
                <a:solidFill>
                  <a:schemeClr val="lt2"/>
                </a:solidFill>
              </a:rPr>
              <a:t> (Guppy Stott, they/them)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338" name="Google Shape;33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Clustering</a:t>
            </a:r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3952075" y="1152475"/>
            <a:ext cx="48801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by creating clusters of </a:t>
            </a:r>
            <a:r>
              <a:rPr lang="en" i="1"/>
              <a:t>p+1</a:t>
            </a:r>
            <a:r>
              <a:rPr lang="en"/>
              <a:t> samples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</a:t>
            </a:r>
            <a:r>
              <a:rPr lang="en" i="1"/>
              <a:t>p</a:t>
            </a:r>
            <a:r>
              <a:rPr lang="en"/>
              <a:t> is the number of balancing variables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cluster, we will perform a CUBE subsampling step</a:t>
            </a:r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1400"/>
            <a:ext cx="3640376" cy="341639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2/5: LCUBE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cluster, we use cube sampling</a:t>
            </a:r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4425025" y="1152475"/>
            <a:ext cx="4407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Samples in a population can be represented geometrically by an n-dimensional space where n is the total size of the population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example, we have a population size of 3 with different hosts: pigeon, chicken, and human.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want a sample of size 2, there are 3 valid points (red)</a:t>
            </a:r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1400"/>
            <a:ext cx="4113336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2/5: LCUBE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Balancing equations constrain the space</a:t>
            </a:r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4425025" y="1152475"/>
            <a:ext cx="4407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leverage a system of balancing equations to generate an intersecting plane (yellow)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plane may intersect a valid sample (e.g. 2 of the red dots) or not</a:t>
            </a:r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1400"/>
            <a:ext cx="4113336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2/5: LCUBE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random walk maintains “randomness”</a:t>
            </a:r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body" idx="1"/>
          </p:nvPr>
        </p:nvSpPr>
        <p:spPr>
          <a:xfrm>
            <a:off x="4425050" y="1152475"/>
            <a:ext cx="4407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then use a probability vector directed towards the surface of balancing equations to begin a random walk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wander until we reach an edge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least one individual will be added to our sample at the end of the random walk</a:t>
            </a:r>
            <a:endParaRPr/>
          </a:p>
        </p:txBody>
      </p:sp>
      <p:sp>
        <p:nvSpPr>
          <p:cNvPr id="190" name="Google Shape;19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113341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2/5: LCUBE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Then, we repeat for the remaining data points</a:t>
            </a:r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body" idx="1"/>
          </p:nvPr>
        </p:nvSpPr>
        <p:spPr>
          <a:xfrm>
            <a:off x="3952075" y="1152475"/>
            <a:ext cx="48801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clusters of </a:t>
            </a:r>
            <a:r>
              <a:rPr lang="en" i="1"/>
              <a:t>p+1</a:t>
            </a:r>
            <a:r>
              <a:rPr lang="en"/>
              <a:t> samples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</a:t>
            </a:r>
            <a:r>
              <a:rPr lang="en" i="1"/>
              <a:t>p</a:t>
            </a:r>
            <a:r>
              <a:rPr lang="en"/>
              <a:t> is the number of balancing variables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a CUBE subsampling step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there are less than </a:t>
            </a:r>
            <a:r>
              <a:rPr lang="en" i="1"/>
              <a:t>p+1</a:t>
            </a:r>
            <a:r>
              <a:rPr lang="en"/>
              <a:t> samples left, perform the “landing phase”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Landing phase “rounds up” according to a linear program that optimizes cost of a sample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relaxes the constraint space for large </a:t>
            </a:r>
            <a:r>
              <a:rPr lang="en" i="1"/>
              <a:t>p</a:t>
            </a:r>
            <a:endParaRPr i="1"/>
          </a:p>
        </p:txBody>
      </p:sp>
      <p:sp>
        <p:nvSpPr>
          <p:cNvPr id="199" name="Google Shape;19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pic>
        <p:nvPicPr>
          <p:cNvPr id="200" name="Google Shape;20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640376" cy="341639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2/5: LCUBE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Nextflow workflow diagram</a:t>
            </a:r>
            <a:endParaRPr/>
          </a:p>
        </p:txBody>
      </p:sp>
      <p:sp>
        <p:nvSpPr>
          <p:cNvPr id="235" name="Google Shape;23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638" y="1152475"/>
            <a:ext cx="6930721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3/5: Methodology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01" name="Google Shape;301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GeoSSE model to simulate continuous phylogeography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Investigate proportion of tree which accurately infers location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 features like predicted antigenic distance and host distance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additional data like outbreak size to weight sample inclusion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b="1"/>
              <a:t>Build a user-friendly interface for subsampling to improve adoption</a:t>
            </a:r>
            <a:endParaRPr b="1"/>
          </a:p>
        </p:txBody>
      </p:sp>
      <p:sp>
        <p:nvSpPr>
          <p:cNvPr id="302" name="Google Shape;30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303" name="Google Shape;303;p41"/>
          <p:cNvSpPr/>
          <p:nvPr/>
        </p:nvSpPr>
        <p:spPr>
          <a:xfrm>
            <a:off x="311700" y="4701475"/>
            <a:ext cx="2541300" cy="317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5/5: Conclusions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45" name="Google Shape;345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pic>
        <p:nvPicPr>
          <p:cNvPr id="346" name="Google Shape;34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810" y="445025"/>
            <a:ext cx="6604385" cy="412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53" name="Google Shape;353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pic>
        <p:nvPicPr>
          <p:cNvPr id="354" name="Google Shape;35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523" y="1152475"/>
            <a:ext cx="666095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61" name="Google Shape;361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pic>
        <p:nvPicPr>
          <p:cNvPr id="362" name="Google Shape;36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525" y="1186600"/>
            <a:ext cx="666093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69" name="Google Shape;369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pic>
        <p:nvPicPr>
          <p:cNvPr id="370" name="Google Shape;37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517" y="1152477"/>
            <a:ext cx="666095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77" name="Google Shape;377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pic>
        <p:nvPicPr>
          <p:cNvPr id="378" name="Google Shape;37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549" y="1152475"/>
            <a:ext cx="6844901" cy="35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Update</a:t>
            </a:r>
            <a:endParaRPr/>
          </a:p>
        </p:txBody>
      </p:sp>
      <p:sp>
        <p:nvSpPr>
          <p:cNvPr id="384" name="Google Shape;384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85" name="Google Shape;38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  <p:pic>
        <p:nvPicPr>
          <p:cNvPr id="386" name="Google Shape;38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525" y="1152475"/>
            <a:ext cx="666094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update</a:t>
            </a:r>
            <a:endParaRPr/>
          </a:p>
        </p:txBody>
      </p:sp>
      <p:sp>
        <p:nvSpPr>
          <p:cNvPr id="392" name="Google Shape;392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93" name="Google Shape;393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  <p:pic>
        <p:nvPicPr>
          <p:cNvPr id="394" name="Google Shape;39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517" y="1152477"/>
            <a:ext cx="666095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DAG and Model Description</a:t>
            </a:r>
            <a:endParaRPr/>
          </a:p>
        </p:txBody>
      </p:sp>
      <p:sp>
        <p:nvSpPr>
          <p:cNvPr id="400" name="Google Shape;400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401" name="Google Shape;40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pic>
        <p:nvPicPr>
          <p:cNvPr id="402" name="Google Shape;40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38" y="1085100"/>
            <a:ext cx="5753915" cy="355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0513" y="1085100"/>
            <a:ext cx="5162963" cy="36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Block</a:t>
            </a:r>
            <a:endParaRPr/>
          </a:p>
        </p:txBody>
      </p:sp>
      <p:sp>
        <p:nvSpPr>
          <p:cNvPr id="409" name="Google Shape;409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10" name="Google Shape;41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800" y="1085100"/>
            <a:ext cx="6524389" cy="3551150"/>
          </a:xfrm>
          <a:prstGeom prst="rect">
            <a:avLst/>
          </a:prstGeom>
          <a:noFill/>
          <a:ln w="3810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1" name="Google Shape;411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Block (Sequence Evolution)</a:t>
            </a:r>
            <a:endParaRPr/>
          </a:p>
        </p:txBody>
      </p:sp>
      <p:sp>
        <p:nvSpPr>
          <p:cNvPr id="417" name="Google Shape;417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18" name="Google Shape;41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00" y="1331175"/>
            <a:ext cx="8491400" cy="2481150"/>
          </a:xfrm>
          <a:prstGeom prst="rect">
            <a:avLst/>
          </a:prstGeom>
          <a:noFill/>
          <a:ln w="3810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9" name="Google Shape;41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Block (Discrete Geography)</a:t>
            </a:r>
            <a:endParaRPr/>
          </a:p>
        </p:txBody>
      </p:sp>
      <p:sp>
        <p:nvSpPr>
          <p:cNvPr id="425" name="Google Shape;425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26" name="Google Shape;42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12" y="1153762"/>
            <a:ext cx="8901776" cy="2835975"/>
          </a:xfrm>
          <a:prstGeom prst="rect">
            <a:avLst/>
          </a:prstGeom>
          <a:noFill/>
          <a:ln w="3810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27" name="Google Shape;427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2755</Words>
  <Application>Microsoft Office PowerPoint</Application>
  <PresentationFormat>On-screen Show (16:9)</PresentationFormat>
  <Paragraphs>370</Paragraphs>
  <Slides>54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6" baseType="lpstr">
      <vt:lpstr>Arial</vt:lpstr>
      <vt:lpstr>Simple Dark</vt:lpstr>
      <vt:lpstr>Balanced and Well-spread Subsampling for Better Phylogenetic Inferences in Epidemiology</vt:lpstr>
      <vt:lpstr>What to Expect</vt:lpstr>
      <vt:lpstr>Learning Objectives &amp; Pre-Session Setup</vt:lpstr>
      <vt:lpstr>What is phylogenetic inference?</vt:lpstr>
      <vt:lpstr>Where Subsampling Fits: Lab-to-Bioinformatics-to-Epi Workflow</vt:lpstr>
      <vt:lpstr>The rapid growth in sequence data has created challenges</vt:lpstr>
      <vt:lpstr>How can public health teams handle large, biased datasets?</vt:lpstr>
      <vt:lpstr>Why does subsampling surveillance sequences pose a challenge?</vt:lpstr>
      <vt:lpstr>Sampling bias can have a significant impact on our phylogeographic analyses</vt:lpstr>
      <vt:lpstr>Any downsampling outperforms no downsampling, but some are better than others…</vt:lpstr>
      <vt:lpstr>What surveillance metadata should guide subsampling?</vt:lpstr>
      <vt:lpstr>How PAST Balances Surveillance Data &amp; Tool Walkthrough</vt:lpstr>
      <vt:lpstr>What makes a desirable subsample?</vt:lpstr>
      <vt:lpstr>How do we achieve a balanced and well-spread sample?</vt:lpstr>
      <vt:lpstr>Accessing PAST &amp; Input Materials Walkthrough</vt:lpstr>
      <vt:lpstr>Tool Walkthrough: Point-and-Click GUI Applet for PAST</vt:lpstr>
      <vt:lpstr>Surveillance Scenarios for the Practical</vt:lpstr>
      <vt:lpstr>Three Public Health Surveillance Scenarios</vt:lpstr>
      <vt:lpstr>Outbreak Scenario Map: 5 Connected Jurisdictions</vt:lpstr>
      <vt:lpstr>Interpreting Tool Output</vt:lpstr>
      <vt:lpstr>Output Interpretation 1: Tree Shape &amp; Case Grouping</vt:lpstr>
      <vt:lpstr>Output Interpretation 2: Cross-Region Rates &amp; Uncertainty</vt:lpstr>
      <vt:lpstr>Output Interpretation 3: Spotting Surveillance Bias</vt:lpstr>
      <vt:lpstr>Visualizing the Output Tree: Preserving Key Lineages</vt:lpstr>
      <vt:lpstr>Conclusions, Limitations &amp; Group Exercises</vt:lpstr>
      <vt:lpstr>Interpreting PAST Output: Conclusions You Can and Cannot Draw</vt:lpstr>
      <vt:lpstr>Small-Group Discussion: Interpreting Output (15 Minutes)</vt:lpstr>
      <vt:lpstr>Output Interpretation 1: Tree Shape &amp; Case Grouping</vt:lpstr>
      <vt:lpstr>Output Interpretation 2: Cross-Region Rates &amp; Uncertainty</vt:lpstr>
      <vt:lpstr>Output Interpretation 3: Spotting Surveillance Bias</vt:lpstr>
      <vt:lpstr>Large-Group Debrief: Discussion Key (10 Minutes)</vt:lpstr>
      <vt:lpstr>Key takeaways</vt:lpstr>
      <vt:lpstr>Limitations of PAST &amp; Phylogenetic Interpretation</vt:lpstr>
      <vt:lpstr>Acknowledgements</vt:lpstr>
      <vt:lpstr>Summary</vt:lpstr>
      <vt:lpstr>Appendix</vt:lpstr>
      <vt:lpstr>Phase 1: Clustering</vt:lpstr>
      <vt:lpstr>For each cluster, we use cube sampling</vt:lpstr>
      <vt:lpstr>Balancing equations constrain the space</vt:lpstr>
      <vt:lpstr>A random walk maintains “randomness”</vt:lpstr>
      <vt:lpstr>Then, we repeat for the remaining data points</vt:lpstr>
      <vt:lpstr>Our Nextflow workflow diagram</vt:lpstr>
      <vt:lpstr>Next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Update</vt:lpstr>
      <vt:lpstr>Results update</vt:lpstr>
      <vt:lpstr>DAG and Model Description</vt:lpstr>
      <vt:lpstr>Data Block</vt:lpstr>
      <vt:lpstr>Model Block (Sequence Evolution)</vt:lpstr>
      <vt:lpstr>Model Block (Discrete Geography)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Guppy Stott</cp:lastModifiedBy>
  <cp:revision>1</cp:revision>
  <dcterms:modified xsi:type="dcterms:W3CDTF">2026-10-16T14:45:21Z</dcterms:modified>
</cp:coreProperties>
</file>