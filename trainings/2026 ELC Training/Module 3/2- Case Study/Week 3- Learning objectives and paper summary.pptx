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64" r:id="rId3"/>
    <p:sldId id="265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4"/>
    <p:restoredTop sz="82659"/>
  </p:normalViewPr>
  <p:slideViewPr>
    <p:cSldViewPr snapToGrid="0" snapToObjects="1">
      <p:cViewPr>
        <p:scale>
          <a:sx n="146" d="100"/>
          <a:sy n="146" d="100"/>
        </p:scale>
        <p:origin x="12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8B4696-35C0-452C-A2F0-A4DA81DC31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0440B863-A29A-458B-8B1D-1E4C39D1D9F4}">
      <dgm:prSet/>
      <dgm:spPr>
        <a:solidFill>
          <a:schemeClr val="bg1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 panose="020B0004020202020204" pitchFamily="34" charset="0"/>
            </a:rPr>
            <a:t>Identify potential sources of sampling bias in a genomic surveillance dataset, including geographic, temporal, clinical, and outbreak/cluster-related differences in sampling.</a:t>
          </a:r>
        </a:p>
      </dgm:t>
    </dgm:pt>
    <dgm:pt modelId="{7D778C32-6EC5-4902-A6A5-3629FDF312F5}" type="parTrans" cxnId="{E139B6F4-A43E-4615-A09F-C388861DF78B}">
      <dgm:prSet/>
      <dgm:spPr/>
      <dgm:t>
        <a:bodyPr/>
        <a:lstStyle/>
        <a:p>
          <a:endParaRPr lang="en-US"/>
        </a:p>
      </dgm:t>
    </dgm:pt>
    <dgm:pt modelId="{5B1DAB14-2CF5-412D-B9EA-6EF758A91200}" type="sibTrans" cxnId="{E139B6F4-A43E-4615-A09F-C388861DF78B}">
      <dgm:prSet/>
      <dgm:spPr/>
      <dgm:t>
        <a:bodyPr/>
        <a:lstStyle/>
        <a:p>
          <a:endParaRPr lang="en-US"/>
        </a:p>
      </dgm:t>
    </dgm:pt>
    <dgm:pt modelId="{736C34E7-49FD-4D1A-AEB0-E3CEFF6480B0}">
      <dgm:prSet/>
      <dgm:spPr>
        <a:solidFill>
          <a:schemeClr val="bg1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 panose="020B0004020202020204" pitchFamily="34" charset="0"/>
            </a:rPr>
            <a:t>Explain how sampling bias can affect interpretation of genomic epidemiology findings, including apparent lineage distribution, introductions, transmission patterns, and source attribution.</a:t>
          </a:r>
        </a:p>
      </dgm:t>
    </dgm:pt>
    <dgm:pt modelId="{7FDD840C-6C2D-4921-B44E-6E95FBB433D6}" type="parTrans" cxnId="{58CE2628-4F63-4B7D-8C0A-96196DA6B6EE}">
      <dgm:prSet/>
      <dgm:spPr/>
      <dgm:t>
        <a:bodyPr/>
        <a:lstStyle/>
        <a:p>
          <a:endParaRPr lang="en-US"/>
        </a:p>
      </dgm:t>
    </dgm:pt>
    <dgm:pt modelId="{E20820EF-7C3F-4C4B-B331-E0C830666119}" type="sibTrans" cxnId="{58CE2628-4F63-4B7D-8C0A-96196DA6B6EE}">
      <dgm:prSet/>
      <dgm:spPr/>
      <dgm:t>
        <a:bodyPr/>
        <a:lstStyle/>
        <a:p>
          <a:endParaRPr lang="en-US"/>
        </a:p>
      </dgm:t>
    </dgm:pt>
    <dgm:pt modelId="{88C14A12-0DC8-4278-B8CC-4E66550E0AD0}">
      <dgm:prSet/>
      <dgm:spPr>
        <a:solidFill>
          <a:schemeClr val="bg1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 panose="020B0004020202020204" pitchFamily="34" charset="0"/>
            </a:rPr>
            <a:t>Assess the robustness of genomic epidemiology conclusions by considering sampling coverage, missing populations, and how conclusions might change under alternative sampling or analytical approaches.</a:t>
          </a:r>
        </a:p>
      </dgm:t>
    </dgm:pt>
    <dgm:pt modelId="{5AA36F62-5A0D-4EC0-BF1A-7B37BC3602CB}" type="parTrans" cxnId="{AA684DAC-74ED-4C58-8BE9-C57667388EB8}">
      <dgm:prSet/>
      <dgm:spPr/>
      <dgm:t>
        <a:bodyPr/>
        <a:lstStyle/>
        <a:p>
          <a:endParaRPr lang="en-US"/>
        </a:p>
      </dgm:t>
    </dgm:pt>
    <dgm:pt modelId="{4FE34577-51EE-46F6-BBCE-EA812EE1ABD4}" type="sibTrans" cxnId="{AA684DAC-74ED-4C58-8BE9-C57667388EB8}">
      <dgm:prSet/>
      <dgm:spPr/>
      <dgm:t>
        <a:bodyPr/>
        <a:lstStyle/>
        <a:p>
          <a:endParaRPr lang="en-US"/>
        </a:p>
      </dgm:t>
    </dgm:pt>
    <dgm:pt modelId="{4C30D170-B576-48BC-8E6A-67B6B793920C}" type="pres">
      <dgm:prSet presAssocID="{AA8B4696-35C0-452C-A2F0-A4DA81DC3131}" presName="root" presStyleCnt="0">
        <dgm:presLayoutVars>
          <dgm:dir/>
          <dgm:resizeHandles val="exact"/>
        </dgm:presLayoutVars>
      </dgm:prSet>
      <dgm:spPr/>
    </dgm:pt>
    <dgm:pt modelId="{A593387B-7165-485D-9243-365472D743D8}" type="pres">
      <dgm:prSet presAssocID="{0440B863-A29A-458B-8B1D-1E4C39D1D9F4}" presName="compNode" presStyleCnt="0"/>
      <dgm:spPr/>
    </dgm:pt>
    <dgm:pt modelId="{2582AB4E-8BB0-4345-A73D-BE88AB93C1E4}" type="pres">
      <dgm:prSet presAssocID="{0440B863-A29A-458B-8B1D-1E4C39D1D9F4}" presName="bgRect" presStyleLbl="bgShp" presStyleIdx="0" presStyleCnt="3"/>
      <dgm:spPr/>
    </dgm:pt>
    <dgm:pt modelId="{6DB8CE9C-1470-4B77-83B5-144ACEA16EFC}" type="pres">
      <dgm:prSet presAssocID="{0440B863-A29A-458B-8B1D-1E4C39D1D9F4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 with solid fill"/>
        </a:ext>
      </dgm:extLst>
    </dgm:pt>
    <dgm:pt modelId="{DE6BF9A1-F4DB-4DEE-A245-6A367F564BDD}" type="pres">
      <dgm:prSet presAssocID="{0440B863-A29A-458B-8B1D-1E4C39D1D9F4}" presName="spaceRect" presStyleCnt="0"/>
      <dgm:spPr/>
    </dgm:pt>
    <dgm:pt modelId="{C444E3CD-27F8-448E-9BF0-FAB97252CDC3}" type="pres">
      <dgm:prSet presAssocID="{0440B863-A29A-458B-8B1D-1E4C39D1D9F4}" presName="parTx" presStyleLbl="revTx" presStyleIdx="0" presStyleCnt="3">
        <dgm:presLayoutVars>
          <dgm:chMax val="0"/>
          <dgm:chPref val="0"/>
        </dgm:presLayoutVars>
      </dgm:prSet>
      <dgm:spPr/>
    </dgm:pt>
    <dgm:pt modelId="{50F447EF-1806-4458-9760-3D8DBBF36E63}" type="pres">
      <dgm:prSet presAssocID="{5B1DAB14-2CF5-412D-B9EA-6EF758A91200}" presName="sibTrans" presStyleCnt="0"/>
      <dgm:spPr/>
    </dgm:pt>
    <dgm:pt modelId="{445747C5-C52C-412D-BDA3-3E9B2EE5DDB6}" type="pres">
      <dgm:prSet presAssocID="{736C34E7-49FD-4D1A-AEB0-E3CEFF6480B0}" presName="compNode" presStyleCnt="0"/>
      <dgm:spPr/>
    </dgm:pt>
    <dgm:pt modelId="{5BB40BC0-7427-4ABF-8CED-2D480467CDDF}" type="pres">
      <dgm:prSet presAssocID="{736C34E7-49FD-4D1A-AEB0-E3CEFF6480B0}" presName="bgRect" presStyleLbl="bgShp" presStyleIdx="1" presStyleCnt="3"/>
      <dgm:spPr/>
    </dgm:pt>
    <dgm:pt modelId="{497C314F-FC08-4173-A6AC-6E333CF67BB5}" type="pres">
      <dgm:prSet presAssocID="{736C34E7-49FD-4D1A-AEB0-E3CEFF6480B0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40625C81-3A9F-47A1-99E6-DA9BEA04730E}" type="pres">
      <dgm:prSet presAssocID="{736C34E7-49FD-4D1A-AEB0-E3CEFF6480B0}" presName="spaceRect" presStyleCnt="0"/>
      <dgm:spPr/>
    </dgm:pt>
    <dgm:pt modelId="{AA9996EB-A95B-473B-A32D-A59D3F12CBD8}" type="pres">
      <dgm:prSet presAssocID="{736C34E7-49FD-4D1A-AEB0-E3CEFF6480B0}" presName="parTx" presStyleLbl="revTx" presStyleIdx="1" presStyleCnt="3">
        <dgm:presLayoutVars>
          <dgm:chMax val="0"/>
          <dgm:chPref val="0"/>
        </dgm:presLayoutVars>
      </dgm:prSet>
      <dgm:spPr/>
    </dgm:pt>
    <dgm:pt modelId="{799080E5-F543-4BF5-8BA4-552ED7F97593}" type="pres">
      <dgm:prSet presAssocID="{E20820EF-7C3F-4C4B-B331-E0C830666119}" presName="sibTrans" presStyleCnt="0"/>
      <dgm:spPr/>
    </dgm:pt>
    <dgm:pt modelId="{AF639285-C660-41E2-88DC-EF98C5A395F7}" type="pres">
      <dgm:prSet presAssocID="{88C14A12-0DC8-4278-B8CC-4E66550E0AD0}" presName="compNode" presStyleCnt="0"/>
      <dgm:spPr/>
    </dgm:pt>
    <dgm:pt modelId="{C1CF12E0-2EB0-469A-98A5-15510E360BBA}" type="pres">
      <dgm:prSet presAssocID="{88C14A12-0DC8-4278-B8CC-4E66550E0AD0}" presName="bgRect" presStyleLbl="bgShp" presStyleIdx="2" presStyleCnt="3"/>
      <dgm:spPr/>
    </dgm:pt>
    <dgm:pt modelId="{4D455938-106B-4E50-9611-3F5D22AE4B39}" type="pres">
      <dgm:prSet presAssocID="{88C14A12-0DC8-4278-B8CC-4E66550E0AD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7FA4817-71EE-4D96-8025-9F3F43CE0D8D}" type="pres">
      <dgm:prSet presAssocID="{88C14A12-0DC8-4278-B8CC-4E66550E0AD0}" presName="spaceRect" presStyleCnt="0"/>
      <dgm:spPr/>
    </dgm:pt>
    <dgm:pt modelId="{CCA626DB-8C4B-45F8-8BEA-E5ACD3607790}" type="pres">
      <dgm:prSet presAssocID="{88C14A12-0DC8-4278-B8CC-4E66550E0A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81F823-36CF-43D4-8857-75693779B68A}" type="presOf" srcId="{736C34E7-49FD-4D1A-AEB0-E3CEFF6480B0}" destId="{AA9996EB-A95B-473B-A32D-A59D3F12CBD8}" srcOrd="0" destOrd="0" presId="urn:microsoft.com/office/officeart/2018/2/layout/IconVerticalSolidList"/>
    <dgm:cxn modelId="{58CE2628-4F63-4B7D-8C0A-96196DA6B6EE}" srcId="{AA8B4696-35C0-452C-A2F0-A4DA81DC3131}" destId="{736C34E7-49FD-4D1A-AEB0-E3CEFF6480B0}" srcOrd="1" destOrd="0" parTransId="{7FDD840C-6C2D-4921-B44E-6E95FBB433D6}" sibTransId="{E20820EF-7C3F-4C4B-B331-E0C830666119}"/>
    <dgm:cxn modelId="{AA5D323C-134A-474C-9BCB-955667855BFE}" type="presOf" srcId="{AA8B4696-35C0-452C-A2F0-A4DA81DC3131}" destId="{4C30D170-B576-48BC-8E6A-67B6B793920C}" srcOrd="0" destOrd="0" presId="urn:microsoft.com/office/officeart/2018/2/layout/IconVerticalSolidList"/>
    <dgm:cxn modelId="{CACDF477-B581-4E78-B33B-1D64188807E0}" type="presOf" srcId="{88C14A12-0DC8-4278-B8CC-4E66550E0AD0}" destId="{CCA626DB-8C4B-45F8-8BEA-E5ACD3607790}" srcOrd="0" destOrd="0" presId="urn:microsoft.com/office/officeart/2018/2/layout/IconVerticalSolidList"/>
    <dgm:cxn modelId="{AA684DAC-74ED-4C58-8BE9-C57667388EB8}" srcId="{AA8B4696-35C0-452C-A2F0-A4DA81DC3131}" destId="{88C14A12-0DC8-4278-B8CC-4E66550E0AD0}" srcOrd="2" destOrd="0" parTransId="{5AA36F62-5A0D-4EC0-BF1A-7B37BC3602CB}" sibTransId="{4FE34577-51EE-46F6-BBCE-EA812EE1ABD4}"/>
    <dgm:cxn modelId="{4920A3EF-E723-4499-A776-237DDBE45787}" type="presOf" srcId="{0440B863-A29A-458B-8B1D-1E4C39D1D9F4}" destId="{C444E3CD-27F8-448E-9BF0-FAB97252CDC3}" srcOrd="0" destOrd="0" presId="urn:microsoft.com/office/officeart/2018/2/layout/IconVerticalSolidList"/>
    <dgm:cxn modelId="{E139B6F4-A43E-4615-A09F-C388861DF78B}" srcId="{AA8B4696-35C0-452C-A2F0-A4DA81DC3131}" destId="{0440B863-A29A-458B-8B1D-1E4C39D1D9F4}" srcOrd="0" destOrd="0" parTransId="{7D778C32-6EC5-4902-A6A5-3629FDF312F5}" sibTransId="{5B1DAB14-2CF5-412D-B9EA-6EF758A91200}"/>
    <dgm:cxn modelId="{97C582D7-494B-47FA-B19C-6AE8C4746B7A}" type="presParOf" srcId="{4C30D170-B576-48BC-8E6A-67B6B793920C}" destId="{A593387B-7165-485D-9243-365472D743D8}" srcOrd="0" destOrd="0" presId="urn:microsoft.com/office/officeart/2018/2/layout/IconVerticalSolidList"/>
    <dgm:cxn modelId="{C3E0438A-7EF7-427A-8B76-337F040421B2}" type="presParOf" srcId="{A593387B-7165-485D-9243-365472D743D8}" destId="{2582AB4E-8BB0-4345-A73D-BE88AB93C1E4}" srcOrd="0" destOrd="0" presId="urn:microsoft.com/office/officeart/2018/2/layout/IconVerticalSolidList"/>
    <dgm:cxn modelId="{2C59CBE0-7530-4D41-9C4B-A35BFAB73A27}" type="presParOf" srcId="{A593387B-7165-485D-9243-365472D743D8}" destId="{6DB8CE9C-1470-4B77-83B5-144ACEA16EFC}" srcOrd="1" destOrd="0" presId="urn:microsoft.com/office/officeart/2018/2/layout/IconVerticalSolidList"/>
    <dgm:cxn modelId="{5E2DBD7A-CE59-4B96-99ED-C732C04F9495}" type="presParOf" srcId="{A593387B-7165-485D-9243-365472D743D8}" destId="{DE6BF9A1-F4DB-4DEE-A245-6A367F564BDD}" srcOrd="2" destOrd="0" presId="urn:microsoft.com/office/officeart/2018/2/layout/IconVerticalSolidList"/>
    <dgm:cxn modelId="{FC98432B-E81A-47A2-BE0F-CEF216B7D82F}" type="presParOf" srcId="{A593387B-7165-485D-9243-365472D743D8}" destId="{C444E3CD-27F8-448E-9BF0-FAB97252CDC3}" srcOrd="3" destOrd="0" presId="urn:microsoft.com/office/officeart/2018/2/layout/IconVerticalSolidList"/>
    <dgm:cxn modelId="{77AD3EB7-EAC3-4E16-8865-9F58D6D9A48B}" type="presParOf" srcId="{4C30D170-B576-48BC-8E6A-67B6B793920C}" destId="{50F447EF-1806-4458-9760-3D8DBBF36E63}" srcOrd="1" destOrd="0" presId="urn:microsoft.com/office/officeart/2018/2/layout/IconVerticalSolidList"/>
    <dgm:cxn modelId="{D84A9380-809B-44F6-9002-0E23A3F08512}" type="presParOf" srcId="{4C30D170-B576-48BC-8E6A-67B6B793920C}" destId="{445747C5-C52C-412D-BDA3-3E9B2EE5DDB6}" srcOrd="2" destOrd="0" presId="urn:microsoft.com/office/officeart/2018/2/layout/IconVerticalSolidList"/>
    <dgm:cxn modelId="{63CE61B8-2BF1-4466-AEB0-6F30B72161E8}" type="presParOf" srcId="{445747C5-C52C-412D-BDA3-3E9B2EE5DDB6}" destId="{5BB40BC0-7427-4ABF-8CED-2D480467CDDF}" srcOrd="0" destOrd="0" presId="urn:microsoft.com/office/officeart/2018/2/layout/IconVerticalSolidList"/>
    <dgm:cxn modelId="{D296907A-88CA-466A-89D1-95BF38A4B73E}" type="presParOf" srcId="{445747C5-C52C-412D-BDA3-3E9B2EE5DDB6}" destId="{497C314F-FC08-4173-A6AC-6E333CF67BB5}" srcOrd="1" destOrd="0" presId="urn:microsoft.com/office/officeart/2018/2/layout/IconVerticalSolidList"/>
    <dgm:cxn modelId="{0EE2E092-0C59-442C-BE30-04CEE0BF82C8}" type="presParOf" srcId="{445747C5-C52C-412D-BDA3-3E9B2EE5DDB6}" destId="{40625C81-3A9F-47A1-99E6-DA9BEA04730E}" srcOrd="2" destOrd="0" presId="urn:microsoft.com/office/officeart/2018/2/layout/IconVerticalSolidList"/>
    <dgm:cxn modelId="{2B2D73B3-3728-4C75-9BC4-51FD3A6313D9}" type="presParOf" srcId="{445747C5-C52C-412D-BDA3-3E9B2EE5DDB6}" destId="{AA9996EB-A95B-473B-A32D-A59D3F12CBD8}" srcOrd="3" destOrd="0" presId="urn:microsoft.com/office/officeart/2018/2/layout/IconVerticalSolidList"/>
    <dgm:cxn modelId="{9B6BFBA9-0A9F-4244-A3F6-ACFB42B5524A}" type="presParOf" srcId="{4C30D170-B576-48BC-8E6A-67B6B793920C}" destId="{799080E5-F543-4BF5-8BA4-552ED7F97593}" srcOrd="3" destOrd="0" presId="urn:microsoft.com/office/officeart/2018/2/layout/IconVerticalSolidList"/>
    <dgm:cxn modelId="{79EC68F6-9C8E-4CF8-9918-4A3B5AC3C97E}" type="presParOf" srcId="{4C30D170-B576-48BC-8E6A-67B6B793920C}" destId="{AF639285-C660-41E2-88DC-EF98C5A395F7}" srcOrd="4" destOrd="0" presId="urn:microsoft.com/office/officeart/2018/2/layout/IconVerticalSolidList"/>
    <dgm:cxn modelId="{6A4ECF2B-9B6E-4828-9F2E-BB2790575AD8}" type="presParOf" srcId="{AF639285-C660-41E2-88DC-EF98C5A395F7}" destId="{C1CF12E0-2EB0-469A-98A5-15510E360BBA}" srcOrd="0" destOrd="0" presId="urn:microsoft.com/office/officeart/2018/2/layout/IconVerticalSolidList"/>
    <dgm:cxn modelId="{3E880C4D-8CC7-4A2D-ACE4-82988204E0F3}" type="presParOf" srcId="{AF639285-C660-41E2-88DC-EF98C5A395F7}" destId="{4D455938-106B-4E50-9611-3F5D22AE4B39}" srcOrd="1" destOrd="0" presId="urn:microsoft.com/office/officeart/2018/2/layout/IconVerticalSolidList"/>
    <dgm:cxn modelId="{3132297B-A79F-4D38-91BB-BCEAB232D50D}" type="presParOf" srcId="{AF639285-C660-41E2-88DC-EF98C5A395F7}" destId="{77FA4817-71EE-4D96-8025-9F3F43CE0D8D}" srcOrd="2" destOrd="0" presId="urn:microsoft.com/office/officeart/2018/2/layout/IconVerticalSolidList"/>
    <dgm:cxn modelId="{134EDBA7-3171-4CB6-BA95-1B760CC76B52}" type="presParOf" srcId="{AF639285-C660-41E2-88DC-EF98C5A395F7}" destId="{CCA626DB-8C4B-45F8-8BEA-E5ACD36077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2AB4E-8BB0-4345-A73D-BE88AB93C1E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8CE9C-1470-4B77-83B5-144ACEA16EF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4E3CD-27F8-448E-9BF0-FAB97252CDC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 panose="020B0004020202020204" pitchFamily="34" charset="0"/>
            </a:rPr>
            <a:t>Identify potential sources of sampling bias in a genomic surveillance dataset, including geographic, temporal, clinical, and outbreak/cluster-related differences in sampling.</a:t>
          </a:r>
        </a:p>
      </dsp:txBody>
      <dsp:txXfrm>
        <a:off x="1435590" y="531"/>
        <a:ext cx="9080009" cy="1242935"/>
      </dsp:txXfrm>
    </dsp:sp>
    <dsp:sp modelId="{5BB40BC0-7427-4ABF-8CED-2D480467CDDF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C314F-FC08-4173-A6AC-6E333CF67BB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996EB-A95B-473B-A32D-A59D3F12CBD8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 panose="020B0004020202020204" pitchFamily="34" charset="0"/>
            </a:rPr>
            <a:t>Explain how sampling bias can affect interpretation of genomic epidemiology findings, including apparent lineage distribution, introductions, transmission patterns, and source attribution.</a:t>
          </a:r>
        </a:p>
      </dsp:txBody>
      <dsp:txXfrm>
        <a:off x="1435590" y="1554201"/>
        <a:ext cx="9080009" cy="1242935"/>
      </dsp:txXfrm>
    </dsp:sp>
    <dsp:sp modelId="{C1CF12E0-2EB0-469A-98A5-15510E360BBA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55938-106B-4E50-9611-3F5D22AE4B3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626DB-8C4B-45F8-8BEA-E5ACD360779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 panose="020B0004020202020204" pitchFamily="34" charset="0"/>
            </a:rPr>
            <a:t>Assess the robustness of genomic epidemiology conclusions by considering sampling coverage, missing populations, and how conclusions might change under alternative sampling or analytical approaches.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8AD07-CF2E-BB41-B897-47DF92870C1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78C60-78D3-6441-83FF-862156677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0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447EDA-0AF7-7643-8D9A-49A6CB434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9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MSSPE, metagenomic sequencing with spiked primer enrichment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SCCPHD, Santa Clara County Public Health Department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CDPH, California Department of Public Health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UCSF, University of California, San Francisco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78C60-78D3-6441-83FF-862156677E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7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phylogenetic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78C60-78D3-6441-83FF-862156677E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4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6EACF-2BDA-9038-7C82-99E361F5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224154"/>
            <a:ext cx="9382759" cy="2946978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b="1" dirty="0">
                <a:latin typeface="Aptos" panose="020B0004020202020204" pitchFamily="34" charset="0"/>
              </a:rPr>
              <a:t>Genomic surveillance reveals multiple introductions of SARS-CoV-2 into Northern California</a:t>
            </a:r>
            <a:br>
              <a:rPr lang="en-US" sz="4800" b="1" dirty="0">
                <a:latin typeface="Aptos" panose="020B0004020202020204" pitchFamily="34" charset="0"/>
              </a:rPr>
            </a:br>
            <a:r>
              <a:rPr lang="en-US" sz="4800" b="1" i="1" dirty="0">
                <a:latin typeface="Aptos" panose="020B0004020202020204" pitchFamily="34" charset="0"/>
              </a:rPr>
              <a:t>Deng et al. (2020)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B3DA-DD6A-11E2-10A7-AC138BDFB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/>
              <a:t>MOLECULAR EPIDEMIOLOGY TRAINING SERIES</a:t>
            </a:r>
          </a:p>
          <a:p>
            <a:pPr algn="l">
              <a:lnSpc>
                <a:spcPct val="90000"/>
              </a:lnSpc>
            </a:pPr>
            <a:r>
              <a:rPr lang="en-US" sz="2700" dirty="0"/>
              <a:t>OCTOBER 9, 2026</a:t>
            </a:r>
          </a:p>
          <a:p>
            <a:pPr algn="l">
              <a:lnSpc>
                <a:spcPct val="90000"/>
              </a:lnSpc>
            </a:pPr>
            <a:endParaRPr lang="en-US" sz="27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F4EBEA-ECA7-46DC-DECD-380FD3986D93}"/>
              </a:ext>
            </a:extLst>
          </p:cNvPr>
          <p:cNvSpPr/>
          <p:nvPr/>
        </p:nvSpPr>
        <p:spPr>
          <a:xfrm>
            <a:off x="5506963" y="443408"/>
            <a:ext cx="5493457" cy="330984"/>
          </a:xfrm>
          <a:prstGeom prst="roundRect">
            <a:avLst/>
          </a:prstGeom>
          <a:solidFill>
            <a:srgbClr val="E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rgbClr val="046CB8"/>
                </a:solidFill>
              </a:rPr>
              <a:t>Molecular Epidemiology Case Study 3</a:t>
            </a:r>
            <a:endParaRPr lang="en-US" sz="2400">
              <a:solidFill>
                <a:srgbClr val="046C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07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14CE7-6493-8334-8490-AEAA0292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810" y="31609"/>
            <a:ext cx="10515600" cy="1133693"/>
          </a:xfrm>
          <a:effectLst/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Aptos" panose="020B0004020202020204" pitchFamily="34" charset="0"/>
              </a:rPr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66D171-787D-D6F7-EF94-689BA8084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052518"/>
              </p:ext>
            </p:extLst>
          </p:nvPr>
        </p:nvGraphicFramePr>
        <p:xfrm>
          <a:off x="836675" y="148292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3F4BAF-DE41-6AA9-717F-E06D1BF9F1D1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AD00E3-383F-E9E4-AB63-3D95A43031B8}"/>
              </a:ext>
            </a:extLst>
          </p:cNvPr>
          <p:cNvCxnSpPr>
            <a:cxnSpLocks/>
          </p:cNvCxnSpPr>
          <p:nvPr/>
        </p:nvCxnSpPr>
        <p:spPr>
          <a:xfrm>
            <a:off x="-1" y="1075851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7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3419-EFE6-4214-6D3F-4B6004D1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296939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Background &amp; context of the outbreak</a:t>
            </a:r>
            <a:br>
              <a:rPr lang="en-US" b="1" dirty="0"/>
            </a:b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8476CF-7221-2401-8F2D-A373EB755F8B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D7F1ED-AE2A-4F0A-2544-7D242B4B640E}"/>
              </a:ext>
            </a:extLst>
          </p:cNvPr>
          <p:cNvCxnSpPr>
            <a:cxnSpLocks/>
          </p:cNvCxnSpPr>
          <p:nvPr/>
        </p:nvCxnSpPr>
        <p:spPr>
          <a:xfrm>
            <a:off x="-1" y="113548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D9ECB-B351-F397-07C1-E8C2B2FBD7B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1099" y="1433438"/>
            <a:ext cx="11383701" cy="452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00">
                <a:solidFill>
                  <a:srgbClr val="182D44"/>
                </a:solidFill>
                <a:latin typeface="Aptos"/>
              </a:defRPr>
            </a:pPr>
            <a:r>
              <a:rPr lang="en-US" sz="1900" dirty="0"/>
              <a:t>Washington had an established WA1 transmission chain after the first U.S. case was identified on 19 January 2020.</a:t>
            </a:r>
          </a:p>
          <a:p>
            <a:pPr marL="114300" indent="0" defTabSz="914400">
              <a:lnSpc>
                <a:spcPct val="90000"/>
              </a:lnSpc>
              <a:spcAft>
                <a:spcPts val="900"/>
              </a:spcAft>
              <a:buNone/>
              <a:defRPr sz="1600">
                <a:solidFill>
                  <a:srgbClr val="182D44"/>
                </a:solidFill>
                <a:latin typeface="Aptos"/>
              </a:defRPr>
            </a:pPr>
            <a:endParaRPr lang="en-US" sz="1900" dirty="0"/>
          </a:p>
          <a:p>
            <a:pPr indent="-228600" defTabSz="914400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00">
                <a:solidFill>
                  <a:srgbClr val="182D44"/>
                </a:solidFill>
                <a:latin typeface="Aptos"/>
              </a:defRPr>
            </a:pPr>
            <a:r>
              <a:rPr lang="en-US" sz="1900" dirty="0"/>
              <a:t>By July 2020, California had reported &gt;365,000 COVID-19 cases; reported counts underestimated infections because many infections were asymptomatic or mild.</a:t>
            </a:r>
          </a:p>
          <a:p>
            <a:pPr marL="114300" indent="0" defTabSz="914400">
              <a:lnSpc>
                <a:spcPct val="90000"/>
              </a:lnSpc>
              <a:spcAft>
                <a:spcPts val="900"/>
              </a:spcAft>
              <a:buNone/>
              <a:defRPr sz="1600">
                <a:solidFill>
                  <a:srgbClr val="182D44"/>
                </a:solidFill>
                <a:latin typeface="Aptos"/>
              </a:defRPr>
            </a:pPr>
            <a:endParaRPr lang="en-US" sz="1900" dirty="0"/>
          </a:p>
          <a:p>
            <a:pPr indent="-228600" defTabSz="914400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00">
                <a:solidFill>
                  <a:srgbClr val="182D44"/>
                </a:solidFill>
                <a:latin typeface="Aptos"/>
              </a:defRPr>
            </a:pPr>
            <a:r>
              <a:rPr lang="en-US" sz="1900" dirty="0"/>
              <a:t>California had limited real-time genomic epidemiology data. The study asked which SARS-CoV-2 lineages were circulating in Northern California and what their genomes could reveal about introduction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212888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0301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sz="4000" dirty="0"/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60" y="1672356"/>
            <a:ext cx="3178987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Screened 62 swabs from 54 patients. </a:t>
            </a:r>
            <a:r>
              <a:rPr dirty="0"/>
              <a:t>Genomes were recovered from 36 patients with &gt;65% coverage; median coverage was 97.7% (IQR 90.4–99.7%).</a:t>
            </a:r>
            <a:endParaRPr lang="en-US"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endParaRPr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Samples represented Grand Princess cases, a Santa Clara workplace cluster, a Solano healthcare-associated cluster, travel, sick contacts, and community transmission.</a:t>
            </a:r>
            <a:endParaRPr lang="en-US"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•Generated phylogenetic tree along with 753 global sequences. </a:t>
            </a:r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BD50FA-3078-5112-D271-C392D24A3170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67521B-E2F1-8B3D-111D-C784526A0A86}"/>
              </a:ext>
            </a:extLst>
          </p:cNvPr>
          <p:cNvCxnSpPr>
            <a:cxnSpLocks/>
          </p:cNvCxnSpPr>
          <p:nvPr/>
        </p:nvCxnSpPr>
        <p:spPr>
          <a:xfrm>
            <a:off x="-1" y="1046034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C27DD8FD-1D7F-4784-DEAA-23202359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33943"/>
            <a:ext cx="7772400" cy="4741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77870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4000" dirty="0"/>
              <a:t>No predominant Northern California lineage</a:t>
            </a:r>
            <a:r>
              <a:rPr sz="4000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A3E14F-E846-BF29-4D39-FC51FE68C56E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177723-424B-4895-9DA1-E45524A5B877}"/>
              </a:ext>
            </a:extLst>
          </p:cNvPr>
          <p:cNvCxnSpPr>
            <a:cxnSpLocks/>
          </p:cNvCxnSpPr>
          <p:nvPr/>
        </p:nvCxnSpPr>
        <p:spPr>
          <a:xfrm>
            <a:off x="-1" y="103609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4CA568E-9F8C-1B30-988F-B80414E24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8" r="3333"/>
          <a:stretch>
            <a:fillRect/>
          </a:stretch>
        </p:blipFill>
        <p:spPr>
          <a:xfrm>
            <a:off x="270485" y="1306846"/>
            <a:ext cx="8112376" cy="511919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34D3D4-57A1-830E-9483-1EF78FB2C5B7}"/>
              </a:ext>
            </a:extLst>
          </p:cNvPr>
          <p:cNvSpPr/>
          <p:nvPr/>
        </p:nvSpPr>
        <p:spPr>
          <a:xfrm>
            <a:off x="3891776" y="6244683"/>
            <a:ext cx="434897" cy="2007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EA3C07-7859-B1AB-5EE9-1B89F9495372}"/>
              </a:ext>
            </a:extLst>
          </p:cNvPr>
          <p:cNvSpPr txBox="1"/>
          <p:nvPr/>
        </p:nvSpPr>
        <p:spPr>
          <a:xfrm>
            <a:off x="8309112" y="1879287"/>
            <a:ext cx="349857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r>
              <a:rPr lang="en-US" sz="1300" dirty="0"/>
              <a:t>• All 36 California genomes were dispersed across the global SARS-CoV-2 tree.</a:t>
            </a:r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endParaRPr lang="en-US" sz="1300" dirty="0"/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• 14 genomes were in WA1; 10 in the Santa Clara SCC1 lineage; 3 in the Solano cluster; 5 related to Europe/New York; and 4 related to early Wuhan/China lineages.</a:t>
            </a:r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0271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4000" dirty="0"/>
              <a:t>Multiple lineages circulating in Northern California</a:t>
            </a:r>
            <a:endParaRPr sz="4000" dirty="0"/>
          </a:p>
        </p:txBody>
      </p:sp>
      <p:pic>
        <p:nvPicPr>
          <p:cNvPr id="4" name="Picture 3" descr="figure2.png"/>
          <p:cNvPicPr>
            <a:picLocks noChangeAspect="1"/>
          </p:cNvPicPr>
          <p:nvPr/>
        </p:nvPicPr>
        <p:blipFill>
          <a:blip r:embed="rId2"/>
          <a:srcRect l="7466" t="6698" r="5698" b="7445"/>
          <a:stretch>
            <a:fillRect/>
          </a:stretch>
        </p:blipFill>
        <p:spPr>
          <a:xfrm>
            <a:off x="292400" y="1224805"/>
            <a:ext cx="7480000" cy="5324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1486" y="1783080"/>
            <a:ext cx="36652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82D44"/>
                </a:solidFill>
                <a:latin typeface="Aptos"/>
              </a:defRPr>
            </a:pPr>
            <a:r>
              <a:rPr dirty="0"/>
              <a:t>• All 11 sequenced Grand Princess genomes belonged to WA1.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C75352-41B9-93EB-1749-7BC50CBAFD83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5E9F46-7A30-04B9-51F2-D9386D637FDE}"/>
              </a:ext>
            </a:extLst>
          </p:cNvPr>
          <p:cNvCxnSpPr>
            <a:cxnSpLocks/>
          </p:cNvCxnSpPr>
          <p:nvPr/>
        </p:nvCxnSpPr>
        <p:spPr>
          <a:xfrm>
            <a:off x="-1" y="926766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1659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lang="en-US" sz="4000" dirty="0"/>
              <a:t>Specific mutations defined closely related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6094" y="1480930"/>
            <a:ext cx="42062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WA1 was defined by three SNVs: C8782T, C18060T, and T28144C.</a:t>
            </a:r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Grand Princess viruses shared C17747T and A17858G; voyage B viruses additionally shared G16975T and C23185T, which were absent from voyage A.</a:t>
            </a:r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Santa Clara SCC1 was defined by G29711T; the Solano County cluster by C9924T.</a:t>
            </a:r>
          </a:p>
          <a:p>
            <a:pPr>
              <a:spcAft>
                <a:spcPts val="900"/>
              </a:spcAft>
              <a:defRPr sz="1400">
                <a:solidFill>
                  <a:srgbClr val="182D44"/>
                </a:solidFill>
                <a:latin typeface="Aptos"/>
              </a:defRPr>
            </a:pPr>
            <a:r>
              <a:rPr dirty="0"/>
              <a:t>• The alignment illustrates how a small number of nucleotide changes can distinguish closely related lineages when combined with epidemiologic information.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3A62C0-0157-9454-08A8-3B37DFBEDF3E}"/>
              </a:ext>
            </a:extLst>
          </p:cNvPr>
          <p:cNvCxnSpPr>
            <a:cxnSpLocks/>
          </p:cNvCxnSpPr>
          <p:nvPr/>
        </p:nvCxnSpPr>
        <p:spPr>
          <a:xfrm>
            <a:off x="2037954" y="6655154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22E0F5-94B8-BA9C-EA5D-21027C0ECCE8}"/>
              </a:ext>
            </a:extLst>
          </p:cNvPr>
          <p:cNvCxnSpPr>
            <a:cxnSpLocks/>
          </p:cNvCxnSpPr>
          <p:nvPr/>
        </p:nvCxnSpPr>
        <p:spPr>
          <a:xfrm>
            <a:off x="-1" y="1076982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F48A0DB-6D2B-98CE-BB1A-316FD07D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38" y="1204362"/>
            <a:ext cx="5621816" cy="5341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1658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4"/>
                </a:solidFill>
                <a:latin typeface="Aptos Display"/>
              </a:defRPr>
            </a:pPr>
            <a:r>
              <a:rPr sz="4000" dirty="0"/>
              <a:t>Conclusions</a:t>
            </a:r>
            <a:r>
              <a:rPr lang="en-US" sz="4000" dirty="0"/>
              <a:t> and considerations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530351" y="1485899"/>
            <a:ext cx="11396605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dirty="0"/>
              <a:t>•  Northern California experienced multiple recent and unrelated introductions through different routes, including domestic and international travel and cruise-ship transmission.</a:t>
            </a: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dirty="0"/>
              <a:t>• W</a:t>
            </a:r>
            <a:r>
              <a:rPr lang="en-US" dirty="0"/>
              <a:t>A1 was established in multiple U.S. locations; t</a:t>
            </a:r>
            <a:r>
              <a:rPr dirty="0"/>
              <a:t>he data were consistent with a Washington-to-California introduction</a:t>
            </a:r>
            <a:r>
              <a:rPr lang="en-US" dirty="0"/>
              <a:t>.</a:t>
            </a:r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• Study included several limitations</a:t>
            </a:r>
            <a:br>
              <a:rPr lang="en-US" dirty="0"/>
            </a:br>
            <a:r>
              <a:rPr lang="en-US" dirty="0"/>
              <a:t>	-Sparse sampling </a:t>
            </a:r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	-Many mild/asymptomatic infections were not tested </a:t>
            </a:r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	- Public-health laboratory samples may not represent the population </a:t>
            </a:r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r>
              <a:rPr lang="en-US" dirty="0"/>
              <a:t>	-Phylogenetic grouping does not prove direction of spread</a:t>
            </a:r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182D44"/>
                </a:solidFill>
                <a:latin typeface="Aptos"/>
              </a:defRPr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ECBD47-9259-2D3D-4928-806341E91719}"/>
              </a:ext>
            </a:extLst>
          </p:cNvPr>
          <p:cNvCxnSpPr>
            <a:cxnSpLocks/>
          </p:cNvCxnSpPr>
          <p:nvPr/>
        </p:nvCxnSpPr>
        <p:spPr>
          <a:xfrm>
            <a:off x="2037954" y="6545825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C0E994-8549-5FDA-9CDD-DC526E5CBEF4}"/>
              </a:ext>
            </a:extLst>
          </p:cNvPr>
          <p:cNvCxnSpPr>
            <a:cxnSpLocks/>
          </p:cNvCxnSpPr>
          <p:nvPr/>
        </p:nvCxnSpPr>
        <p:spPr>
          <a:xfrm>
            <a:off x="-1" y="1165302"/>
            <a:ext cx="10150997" cy="36636"/>
          </a:xfrm>
          <a:prstGeom prst="line">
            <a:avLst/>
          </a:prstGeom>
          <a:ln w="508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2818</TotalTime>
  <Words>546</Words>
  <Application>Microsoft Macintosh PowerPoint</Application>
  <PresentationFormat>Widescreen</PresentationFormat>
  <Paragraphs>51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Genomic surveillance reveals multiple introductions of SARS-CoV-2 into Northern California Deng et al. (2020)</vt:lpstr>
      <vt:lpstr>Learning objectives</vt:lpstr>
      <vt:lpstr>Background &amp; context of the outbreak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Ludy Registre Carmola</cp:lastModifiedBy>
  <cp:revision>2</cp:revision>
  <dcterms:created xsi:type="dcterms:W3CDTF">2013-01-27T09:14:16Z</dcterms:created>
  <dcterms:modified xsi:type="dcterms:W3CDTF">2026-10-09T14:35:37Z</dcterms:modified>
  <cp:category/>
</cp:coreProperties>
</file>