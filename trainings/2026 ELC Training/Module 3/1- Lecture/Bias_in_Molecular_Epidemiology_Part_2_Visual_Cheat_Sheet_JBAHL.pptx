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ae8c70b0a84ab8" /><Relationship Type="http://schemas.openxmlformats.org/officeDocument/2006/relationships/extended-properties" Target="/docProps/app.xml" Id="Rf23c2524f9b24995" /><Relationship Type="http://schemas.openxmlformats.org/officeDocument/2006/relationships/officeDocument" Target="/ppt/presentation.xml" Id="Re105d2b4183841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84b382d6d248d9"/>
  </p:sldMasterIdLst>
  <p:notesMasterIdLst>
    <p:notesMasterId xmlns:r="http://schemas.openxmlformats.org/officeDocument/2006/relationships" r:id="Re2837c383b124393"/>
  </p:notesMasterIdLst>
  <p:sldIdLst>
    <p:sldId xmlns:r="http://schemas.openxmlformats.org/officeDocument/2006/relationships" id="256" r:id="R290284ecfc3c4c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f9303a7c5d4983" /><Relationship Type="http://schemas.openxmlformats.org/officeDocument/2006/relationships/slideMaster" Target="/ppt/slideMasters/slideMaster1.xml" Id="R6184b382d6d248d9" /><Relationship Type="http://schemas.openxmlformats.org/officeDocument/2006/relationships/notesMaster" Target="/ppt/notesMasters/notesMaster1.xml" Id="Re2837c383b124393" /><Relationship Type="http://schemas.openxmlformats.org/officeDocument/2006/relationships/presProps" Target="/ppt/presProps.xml" Id="Rb2959e78f366447f" /><Relationship Type="http://schemas.openxmlformats.org/officeDocument/2006/relationships/tableStyles" Target="/ppt/tableStyles.xml" Id="Raa144a57ef8140e8" /><Relationship Type="http://schemas.openxmlformats.org/officeDocument/2006/relationships/slide" Target="/ppt/slides/slide1.xml" Id="R290284ecfc3c4c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a7e65104db4b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314881380849e5" /><Relationship Type="http://schemas.openxmlformats.org/officeDocument/2006/relationships/notesMaster" Target="/ppt/notesMasters/notesMaster1.xml" Id="Rc1fbc0cdceda47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 II visual study guide for Figures 7–9.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7. Coverage diagnostics: Sequence counts require a relevant denominator. Specimen quality and metadata completeness create additional forms of uneven observation.</a:t>
            </a:r>
          </a:p>
          <a:p xmlns:a="http://schemas.openxmlformats.org/drawingml/2006/main">
            <a:r>
              <a:t>Figure 8. Inclusion mechanism: Clinical, epidemiologic, and technical processes determine which observations enter the analyzed dataset. Conditioning on inclusion may induce associations.</a:t>
            </a:r>
          </a:p>
          <a:p xmlns:a="http://schemas.openxmlformats.org/drawingml/2006/main">
            <a:r>
              <a:t>Figure 9. Stability under perturbation: Reanalyze plausible alternative datasets or specifications. Results may remain stable, retain their direction while changing magnitude, or become inconsistent.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Interpretive limit: Stability supports a claim conditional on the tested choices. It cannot exclude bias shared by every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b2e78dfb4746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dd00c3a0af4136" /><Relationship Type="http://schemas.openxmlformats.org/officeDocument/2006/relationships/slideLayout" Target="/ppt/slideLayouts/slideLayout1.xml" Id="R2f3f3fb7006347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3f3fb7006347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10599fabe4bcb" /><Relationship Type="http://schemas.openxmlformats.org/officeDocument/2006/relationships/notesSlide" Target="/ppt/notesSlides/notesSlide1.xml" Id="R817c90ea10694f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00F8668-2FFF-4DC5-B72A-41039EA9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3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BDF6B-25C7-4239-8E18-35C7BC01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PART II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04863-4AB8-4187-BE72-DA7C2F55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Diagnosing the observation 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BCD55-C66B-41FA-8860-B0776C61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2392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Figures 7–9 turn sampling bias from a general concern into a sequence of testable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90666-2177-4EAA-B784-4538E59C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2609850" cy="33337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3A38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E4EC8-B8F8-4ACC-A8DD-2BA11E21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38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35208-A342-44C6-B3FB-97753507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7AB3F-97AB-497A-87C4-41986571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097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Coverage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F6A1C-2CA8-4572-8C94-025B3412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Where is observation uneven or incomplete?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B3149-A0AB-4D94-812F-CB812C11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07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B76E3-4C1A-4C7B-9B4C-2FD69044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190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3A38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AEC2C-3E51-47BB-8D51-68BBF3A4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2190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8F659-C100-40DB-8560-AAC709AA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05150"/>
            <a:ext cx="2190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3A38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EBCA2-C3CE-40B2-9A59-174CB9D3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05150"/>
            <a:ext cx="2190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4F730-1813-4C87-9F4C-45C555DA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2190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291BD-E5D3-4879-B929-B946F2A8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62325"/>
            <a:ext cx="2190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DE9F8-39F7-471B-B7BC-0EB7DAE9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62325"/>
            <a:ext cx="2190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3A38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6A8C4-9679-4969-89CF-416DDC29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62325"/>
            <a:ext cx="2190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25C1B-3F0A-423A-8C53-F860FA4B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2190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3A38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8D74A1-258D-4D4F-B41C-ACA1A66E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2190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3A38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660C0D-7D03-4B3C-BD01-E793C5CA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19500"/>
            <a:ext cx="2190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267742-8588-4550-B1B6-BC7B3821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0"/>
            <a:ext cx="2190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4BD8CF-24D9-49AD-BDDD-BC928D8F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2190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84A22C-4D4A-464A-9C33-7837C9E9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76675"/>
            <a:ext cx="2190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3A38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26B5CF-554B-4B8D-AE6F-5B132FAD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76675"/>
            <a:ext cx="2190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3ED4BC-533D-4EE9-AB9D-82A37E4B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76675"/>
            <a:ext cx="21907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3A38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6489F-E2DB-4296-B0A4-6DF73E8C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genomes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13A6C4-039E-451F-A753-145177D3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004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4BD3A0-ADB3-4A70-9652-CA4F798E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76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cases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3CF935-E656-429C-BF46-D0CA5B99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plus specimen and metadata quality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532B23-3934-4A97-82BA-833036AC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Counts become interpretable only relative to a relevant denominator.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C0AC35-5AA6-417A-9A60-51421078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57550"/>
            <a:ext cx="47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C0E72B-9EFE-471E-B505-8FD84FFB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05150"/>
            <a:ext cx="4000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C7D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43DB18-EEF2-486C-A618-D09BEC40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676400"/>
            <a:ext cx="2609850" cy="33337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3A38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2C9F5E-EE1B-47C7-9F44-0E60C40E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38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9239DA-010D-451B-959D-88B8AF93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573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79FE84-A2EE-4883-A2C4-BB9F5CB9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Inclusion mechanism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6B5B9A-E04B-4702-BD64-CC107655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622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Why did observations enter the analyzed dataset?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E8CFDC-908C-4731-A45C-CA8CFC29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95600"/>
            <a:ext cx="207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3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298342-F333-4C81-96E6-401D68BA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0515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47A2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152AC0-0027-452F-BE8E-E09C97AE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2420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rPr>
              <a:t>Clinical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A61067-2CDA-475A-A1A7-19F31613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3850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3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322F01-162F-4C32-ABC2-234A06FE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8140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84D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FE63BF-832D-46BC-A022-140EB30F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004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Epidemiologic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BDBD10-12D5-4E1A-90B4-3E962F2C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147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3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27F6FD-488D-497A-B4D1-F8D98B1C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5765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A38E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315520-0858-4FAB-8B47-1DA69570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7670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Technical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383F26-E14F-401D-A446-507D0679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9100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3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A1CCE1-D7CD-4B40-BCF1-B0F5D32D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933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245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A3F8E1-89AD-4347-9FF0-F18AB926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004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13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Included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83C444-9C1F-49C0-8A77-4F6B769F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290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88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rPr>
              <a:t>in analysis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F6A8FA-B8D4-4E0D-9612-F08B8230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529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Selection can reflect clinical, epidemiologic, or technical processes.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A80D91-B6EA-4496-AB5C-CA927F9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57550"/>
            <a:ext cx="47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3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3C63EB-301E-4882-8A3F-7F5C381F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05150"/>
            <a:ext cx="4000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C7D3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C0170A-AEEC-4210-9756-511FAD7B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76400"/>
            <a:ext cx="2609850" cy="33337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3A38E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FE2550-5063-4B73-AEA9-41C2E12B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47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38E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6248FE-6C69-4817-84E6-B06366F3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573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59E911-576C-4CF2-A02A-F169CAAB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Stability under perturbation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994471-A0A9-4B78-9593-A8C0A099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622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Does the conclusion depend on a tested choice?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3C8E23-4002-4E49-B018-EB4F85F0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207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3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7BD042C-63AE-4D89-91CD-2DF38780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814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Same question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7A5F7B-4F16-40F0-9199-2A4E8020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3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81476A-8940-4BC2-A30A-8D36E98B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10515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11430">
            <a:solidFill>
              <a:srgbClr val="13A38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DDCEE0F-2721-42D3-A6FF-6677458A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1242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88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Alternative 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ACB299-600F-486D-8524-5DA73F9E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147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3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1B65BDC-B414-4642-B0EF-5ABCA3F9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5814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1430">
            <a:solidFill>
              <a:srgbClr val="F47A20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7B4CA0A-717D-4DF3-9ED1-FB09C831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60045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88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rPr>
              <a:t>Alternative 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16D9EC-AE97-452F-907C-4D3EFD32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910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3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6F23C16-4BFA-4422-8710-8187E672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05765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11430">
            <a:solidFill>
              <a:srgbClr val="13A38E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E913E1B-E2A5-4D6A-942B-50FA87B1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0767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88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Alternative 3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C467D23-2500-4BC6-A433-64C560B0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529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Reanalyze plausible alternative datasets or analytical specifications.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9A7D36C-D1F3-45B0-9AC4-3F8921A3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575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3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49C576A-AE93-4112-97DF-07A6CC6C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05150"/>
            <a:ext cx="4000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C7D3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F1E549F-1006-41B9-A6E9-710395B7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95500"/>
            <a:ext cx="1104900" cy="24765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245A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C723521-B073-4B75-9FC8-66F60203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Bounded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claim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53E7BAD-E6CE-4D5D-A0ED-AA74CE5B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1051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38E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650B0BA-E17B-4E65-BE15-661C3B17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147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rPr>
              <a:t>State only what the tested evidence supports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FEC6AD3-5841-41AC-8899-6379C44A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1087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B245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91F35BE-EF0A-4572-99DB-9FE6EFB7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Interpret the perturbation results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81725F2-E43B-407F-AE79-0C6740AD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Stable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E3C934F-B195-47C8-9304-D5B68D32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Same conclusion across tested choices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99BEFFF-146F-4FD9-BD96-52E8BCA7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829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rPr>
              <a:t>Magnitude sensitive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C1D0AD7-C7E2-4FFE-928E-C40547F6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0769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Direction persists, estimated magnitude changes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14D4234-709C-4D80-9606-60D1188E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829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7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D7B8"/>
                </a:solidFill>
                <a:latin typeface="Bitstream Charter"/>
                <a:ea typeface="Bitstream Charter"/>
                <a:cs typeface="Bitstream Charter"/>
              </a:rPr>
              <a:t>Inconsistent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D69B791-F205-4660-88D0-16818B6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0769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The conclusion changes across analyses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E9A7EA3-05F6-4FD9-92A5-FE2B574B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54355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38E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170D747-0B7A-40CC-99E2-B7F3A346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6388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Important limit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25A5141-8EC9-4888-8B26-F02E07B4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9245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Stability cannot exclude bias shared by every dataset and analysis.</a:t>
            </a:r>
          </a:p>
        </p:txBody>
      </p:sp>
    </p:spTree>
    <p:extLst>
      <p:ext uri="{BB962C8B-B14F-4D97-AF65-F5344CB8AC3E}">
        <p14:creationId xmlns:p14="http://schemas.microsoft.com/office/powerpoint/2010/main" val="1825666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2026-09-29T14:55:45.5550000Z</dcterms:created>
  <dcterms:modified xsi:type="dcterms:W3CDTF">2026-09-29T14:55:45.5550000Z</dcterms:modified>
</coreProperties>
</file>