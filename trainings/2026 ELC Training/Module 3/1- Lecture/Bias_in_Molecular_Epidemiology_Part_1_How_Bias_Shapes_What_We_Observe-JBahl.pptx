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47A1D-52D3-A644-B5C0-05382BB6601C}" v="3" dt="2026-09-27T01:16:05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167"/>
  </p:normalViewPr>
  <p:slideViewPr>
    <p:cSldViewPr snapToGrid="0">
      <p:cViewPr varScale="1">
        <p:scale>
          <a:sx n="90" d="100"/>
          <a:sy n="90" d="100"/>
        </p:scale>
        <p:origin x="1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Bahl" userId="d662a62e-5717-4992-af3b-42a2c8a8d1c3" providerId="ADAL" clId="{8BBD5EC8-652A-5B42-98EE-89E713CE34DC}"/>
    <pc:docChg chg="addSld delSld modSld">
      <pc:chgData name="Justin Bahl" userId="d662a62e-5717-4992-af3b-42a2c8a8d1c3" providerId="ADAL" clId="{8BBD5EC8-652A-5B42-98EE-89E713CE34DC}" dt="2026-09-27T01:16:23.758" v="25" actId="20577"/>
      <pc:docMkLst>
        <pc:docMk/>
      </pc:docMkLst>
      <pc:sldChg chg="del">
        <pc:chgData name="Justin Bahl" userId="d662a62e-5717-4992-af3b-42a2c8a8d1c3" providerId="ADAL" clId="{8BBD5EC8-652A-5B42-98EE-89E713CE34DC}" dt="2026-09-27T01:02:42.752" v="0" actId="2696"/>
        <pc:sldMkLst>
          <pc:docMk/>
          <pc:sldMk cId="1780279118" sldId="258"/>
        </pc:sldMkLst>
      </pc:sldChg>
      <pc:sldChg chg="addSp modSp new mod">
        <pc:chgData name="Justin Bahl" userId="d662a62e-5717-4992-af3b-42a2c8a8d1c3" providerId="ADAL" clId="{8BBD5EC8-652A-5B42-98EE-89E713CE34DC}" dt="2026-09-27T01:16:23.758" v="25" actId="20577"/>
        <pc:sldMkLst>
          <pc:docMk/>
          <pc:sldMk cId="3626865502" sldId="266"/>
        </pc:sldMkLst>
        <pc:spChg chg="add mod">
          <ac:chgData name="Justin Bahl" userId="d662a62e-5717-4992-af3b-42a2c8a8d1c3" providerId="ADAL" clId="{8BBD5EC8-652A-5B42-98EE-89E713CE34DC}" dt="2026-09-27T01:16:23.758" v="25" actId="20577"/>
          <ac:spMkLst>
            <pc:docMk/>
            <pc:sldMk cId="3626865502" sldId="266"/>
            <ac:spMk id="3" creationId="{531BD75B-39A7-5542-5502-AC20F56E1380}"/>
          </ac:spMkLst>
        </pc:spChg>
        <pc:picChg chg="add mod">
          <ac:chgData name="Justin Bahl" userId="d662a62e-5717-4992-af3b-42a2c8a8d1c3" providerId="ADAL" clId="{8BBD5EC8-652A-5B42-98EE-89E713CE34DC}" dt="2026-09-27T01:15:10.268" v="15" actId="1076"/>
          <ac:picMkLst>
            <pc:docMk/>
            <pc:sldMk cId="3626865502" sldId="266"/>
            <ac:picMk id="2" creationId="{5E5D5795-29E8-D0D8-1962-A1983D0F0A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Series title: Bias in Molecular Epidemiology: A story in three parts</a:t>
            </a:r>
          </a:p>
          <a:p>
            <a:r>
              <a:rPr dirty="0"/>
              <a:t>Part I: How Bias Shapes What We Observe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Central question: How can the observation process change the apparent epidemic without changing the epidemic itself?</a:t>
            </a:r>
          </a:p>
          <a:p>
            <a:r>
              <a:rPr dirty="0"/>
              <a:t>Learning objectives:</a:t>
            </a:r>
          </a:p>
          <a:p>
            <a:r>
              <a:rPr dirty="0"/>
              <a:t>- Locate the major selection points between infection and an analyzed genome</a:t>
            </a:r>
          </a:p>
          <a:p>
            <a:r>
              <a:rPr dirty="0"/>
              <a:t>- Recognize how time, place, clinical ascertainment, and outbreak investigation alter observed patterns</a:t>
            </a:r>
          </a:p>
          <a:p>
            <a:r>
              <a:rPr dirty="0"/>
              <a:t>- Separate sequence abundance from population abundance, source, and lineage growth</a:t>
            </a:r>
          </a:p>
          <a:p>
            <a:r>
              <a:rPr dirty="0"/>
              <a:t>- Identify conclusions that require independent epidemiologic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Analyzed genomes pass through several nonrandom filters before inference begins.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Underlying infections contain more diversity than surveillance observes.</a:t>
            </a:r>
          </a:p>
          <a:p>
            <a:r>
              <a:rPr dirty="0"/>
              <a:t>- Healthcare, testing, specimen, sequencing, and metadata filters alter composition.</a:t>
            </a:r>
          </a:p>
          <a:p>
            <a:r>
              <a:rPr dirty="0"/>
              <a:t>- The final genomic dataset describes retained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Sampling composition can produce different phylogenetic summaries of the same epidemic.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Hold the underlying epidemic constant.</a:t>
            </a:r>
          </a:p>
          <a:p>
            <a:r>
              <a:rPr dirty="0"/>
              <a:t>- Compare broad sampling with concentrated sampling.</a:t>
            </a:r>
          </a:p>
          <a:p>
            <a:r>
              <a:rPr dirty="0"/>
              <a:t>- Apparent clade dominance can arise from composition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Sampling time can change apparent growth, lineage persistence, and replacement.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Compare the same epidemic through time.</a:t>
            </a:r>
          </a:p>
          <a:p>
            <a:r>
              <a:rPr dirty="0"/>
              <a:t>- Peak-centered sampling emphasizes rapid expansion.</a:t>
            </a:r>
          </a:p>
          <a:p>
            <a:r>
              <a:rPr dirty="0"/>
              <a:t>- Delayed sampling changes which lineages appear persistent or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Dense surveillance can make a well-sampled location appear to be the source.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Contrast the complete movement history with sparse sampling of the true origin.</a:t>
            </a:r>
          </a:p>
          <a:p>
            <a:r>
              <a:rPr dirty="0"/>
              <a:t>- Show why basal placement is conditional on the surveillance frame.</a:t>
            </a:r>
          </a:p>
          <a:p>
            <a:r>
              <a:rPr dirty="0"/>
              <a:t>- Add contextual sequences and reassess the source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Differential detection can mimic lineage growth without a transmission or fitness advantage.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Begin with equal underlying transmission.</a:t>
            </a:r>
          </a:p>
          <a:p>
            <a:r>
              <a:rPr dirty="0"/>
              <a:t>- Increase testing or sequencing for the more symptomatic lineage.</a:t>
            </a:r>
          </a:p>
          <a:p>
            <a:r>
              <a:rPr dirty="0"/>
              <a:t>- Separate growth among sequences from growth among infections.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Teaching message: Investigation intensity can make one cluster dominate a regional dataset.</a:t>
            </a:r>
          </a:p>
          <a:p>
            <a:endParaRPr dirty="0"/>
          </a:p>
          <a:p>
            <a:r>
              <a:rPr dirty="0"/>
              <a:t>Panel prompts:</a:t>
            </a:r>
          </a:p>
          <a:p>
            <a:r>
              <a:rPr dirty="0"/>
              <a:t>- Community and institutional transmission coexist.</a:t>
            </a:r>
          </a:p>
          <a:p>
            <a:r>
              <a:rPr dirty="0"/>
              <a:t>- Near-complete cluster sampling contrasts with sparse community sampling.</a:t>
            </a:r>
          </a:p>
          <a:p>
            <a:r>
              <a:rPr dirty="0"/>
              <a:t>- Sequence counts do not equal infections or independent transmission chains.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Closing takeaways:</a:t>
            </a:r>
          </a:p>
          <a:p>
            <a:r>
              <a:rPr dirty="0"/>
              <a:t>- The observed dataset reflects the pathogen process and the observation process.</a:t>
            </a:r>
          </a:p>
          <a:p>
            <a:r>
              <a:rPr dirty="0"/>
              <a:t>- Sampling can alter apparent frequency, growth, geographic structure, and source attribution.</a:t>
            </a:r>
          </a:p>
          <a:p>
            <a:r>
              <a:rPr dirty="0"/>
              <a:t>- Genomic patterns require epidemiologic context before they support causal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56942-66DC-407E-B622-BA6CB433A6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584B24-2464-467D-82A9-8BE19941CFCD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95250" cy="6858000"/>
          </a:xfrm>
          <a:prstGeom prst="rect">
            <a:avLst/>
          </a:prstGeom>
          <a:solidFill>
            <a:srgbClr val="F47A2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840F31-265C-45E9-B346-CE144B221C56}"/>
              </a:ext>
            </a:extLst>
          </p:cNvPr>
          <p:cNvSpPr>
            <a:spLocks noGrp="1"/>
          </p:cNvSpPr>
          <p:nvPr/>
        </p:nvSpPr>
        <p:spPr>
          <a:xfrm>
            <a:off x="838200" y="8953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BIAS IN MOLECULAR EPIDEMIOLOGY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E0F0FC-6F23-4CD6-BF24-5B8BCDA50038}"/>
              </a:ext>
            </a:extLst>
          </p:cNvPr>
          <p:cNvSpPr>
            <a:spLocks noGrp="1"/>
          </p:cNvSpPr>
          <p:nvPr/>
        </p:nvSpPr>
        <p:spPr>
          <a:xfrm>
            <a:off x="838200" y="1295400"/>
            <a:ext cx="10382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A story in three parts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BBADE-FCFE-432A-B490-24C8A15D06B3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Part 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F561E9-7A5E-4EA4-91BE-130A89BEBE86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100965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3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How Bias Shapes What We Observe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8AC69A-5ADE-4FF2-8676-EA15FC22E0E2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666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50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D8E2EB"/>
                </a:solidFill>
                <a:latin typeface="Bitstream Charter"/>
                <a:ea typeface="Bitstream Charter"/>
                <a:cs typeface="Bitstream Charter"/>
              </a:rPr>
              <a:t>Public health molecular epidemiology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5C43B5-ED66-454A-AA7B-769E6128E987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0">
                <a:solidFill>
                  <a:srgbClr val="9EB1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00" b="0">
                <a:solidFill>
                  <a:srgbClr val="9EB1C2"/>
                </a:solidFill>
                <a:latin typeface="Bitstream Charter"/>
                <a:ea typeface="Bitstream Charter"/>
                <a:cs typeface="Bitstream Charter"/>
              </a:rPr>
              <a:t>Justin Bahl</a:t>
            </a:r>
            <a:endParaRPr sz="1200" b="0" dirty="0">
              <a:solidFill>
                <a:srgbClr val="9EB1C2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97485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5D5795-29E8-D0D8-1962-A1983D0F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5" y="2062441"/>
            <a:ext cx="11379570" cy="42475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1BD75B-39A7-5542-5502-AC20F56E1380}"/>
              </a:ext>
            </a:extLst>
          </p:cNvPr>
          <p:cNvSpPr txBox="1"/>
          <p:nvPr/>
        </p:nvSpPr>
        <p:spPr>
          <a:xfrm>
            <a:off x="600075" y="957263"/>
            <a:ext cx="6401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Bias_in</a:t>
            </a:r>
            <a:r>
              <a:rPr lang="en-US" sz="2800" b="1" dirty="0"/>
              <a:t> </a:t>
            </a:r>
            <a:r>
              <a:rPr lang="en-US" sz="2800" b="1" dirty="0" err="1"/>
              <a:t>MolEpi_Quick_Reference.docx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2686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138BFD-B362-4FF9-BFB5-206FB918D1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E8CE2B-1974-4792-B777-6EEC44E89A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Purpose and learning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67C0CE-C1B6-41B7-AF4F-2E067077C223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How can the observation process change the apparent epidemic without changing the epidemic itself?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150FDA-CAFD-42A6-AE37-D81700A00EF2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10001250" cy="342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Locate the major selection points between infection and an analyzed genome</a:t>
            </a:r>
          </a:p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Recognize how time, place, clinical ascertainment, and outbreak investigation alter observed patterns</a:t>
            </a:r>
          </a:p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Separate sequence abundance from population abundance, source, and lineage growth</a:t>
            </a:r>
          </a:p>
          <a:p>
            <a:pPr marL="279400" indent="-139700">
              <a:spcAft>
                <a:spcPts val="1400"/>
              </a:spcAft>
              <a:buChar char="•"/>
              <a:def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01820"/>
                </a:solidFill>
                <a:latin typeface="Bitstream Charter"/>
                <a:ea typeface="Bitstream Charter"/>
                <a:cs typeface="Bitstream Charter"/>
              </a:rPr>
              <a:t>Identify conclusions that require independent epidemiologic 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86FC48-B1C1-49FF-B480-534AA5D3B1CF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10001250" cy="381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07236-BDB5-461B-960C-92566EAE7F83}"/>
              </a:ext>
            </a:extLst>
          </p:cNvPr>
          <p:cNvSpPr>
            <a:spLocks noGrp="1"/>
          </p:cNvSpPr>
          <p:nvPr/>
        </p:nvSpPr>
        <p:spPr>
          <a:xfrm>
            <a:off x="876300" y="590550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Part I  How Bias Shapes What We Observe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25518-017C-44F2-92B2-531C203A2D58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660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FA5A23-4AC2-4BBE-B0CE-44DAE726F7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7B5234-DF25-4FBF-AF0A-DE6FB0C489C9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Figure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05D6F-637C-4843-AB6D-38E74B48495D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Surveillance cascade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3135E8-6C8B-45C2-BA6A-A19785A1014C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Analyzed genomes pass through several nonrandom filters before inference begins.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A8E8C8-0BBB-4F37-984E-AD01DD016C20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D31311-42CB-6171-47B3-59A1E38D9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15" y="1438275"/>
            <a:ext cx="11379570" cy="454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7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8587AC-6302-4DDD-8735-64CAC3A2A7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92D09A-9E16-43F6-856A-124BF80F28BE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Figure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FEBF4-88F4-46D4-8D9B-C804C5349132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One epidemic, two datasets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095B7C-F77F-430F-9235-39F782975ADF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Sampling composition can produce different phylogenetic summaries of the same epidemic.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BB05A6-EAAC-4491-9B5B-850657A15E8B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DF443B-2F1B-3534-8881-DE54A36DD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9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7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78CF1D-D6BC-4E14-B9F0-82633DE22D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6C45-72D7-4C52-8DAE-03801C06AB85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Figure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9992C3-BCEF-4FF4-91ED-54937B3EC4E9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Temporal sampling bias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62CEF-B6CB-40CC-88DC-81A6CB6B334D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Sampling time can change apparent growth, lineage persistence, and replacement.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D71349-48B2-461E-A286-85642E748033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17A304-D9EE-5457-853C-5E172C1F9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9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97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D57173-3BA3-42CB-96B0-4912A100DE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05760-5D5E-4901-98D1-808C8013F353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Figure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9F9C2-61E9-4DAF-B2BD-B44A449C5483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Geographic bias and source attribution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912A12-C498-4503-9A27-552AD61EDE12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Dense surveillance can make a well-sampled location appear to be the source.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C088A-2EB0-466E-A9E7-8B84BA2717A8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7E1C9C-A40B-A0CA-9C15-56DF92C38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64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25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F0C046-437B-402A-BB31-8B6AAE1CF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796B15-DE91-414C-AC58-8669E6910DF2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Figure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1B1B81-7DA3-40F3-9F45-D4FC331B91BD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Clinical ascertainment and apparent lineage advantage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822368-29AE-4F12-BCBE-A6C5AA2D9FCB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Differential detection can mimic lineage growth without a transmission or fitness advantage.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EF15DC-0613-4FAC-B5B3-079198D58E5B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A282B9-57F5-59FC-0705-EE333F225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9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6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2E27FC-D41E-4B52-9040-7C5BC08D82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990A67-ADDA-4580-84FE-9E7170F17939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Figure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C2525-B489-4C79-BBA4-A0231B766521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0490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245A"/>
                </a:solidFill>
                <a:latin typeface="Bitstream Charter"/>
                <a:ea typeface="Bitstream Charter"/>
                <a:cs typeface="Bitstream Charter"/>
              </a:rPr>
              <a:t>Outbreak and cluster oversampling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BCC52F-E898-473E-BE58-536449090C89}"/>
              </a:ext>
            </a:extLst>
          </p:cNvPr>
          <p:cNvSpPr>
            <a:spLocks noGrp="1"/>
          </p:cNvSpPr>
          <p:nvPr/>
        </p:nvSpPr>
        <p:spPr>
          <a:xfrm>
            <a:off x="552450" y="10096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707B86"/>
                </a:solidFill>
                <a:latin typeface="Bitstream Charter"/>
                <a:ea typeface="Bitstream Charter"/>
                <a:cs typeface="Bitstream Charter"/>
              </a:rPr>
              <a:t>Investigation intensity can make one cluster dominate a regional dataset.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C8825C-649B-476B-90D2-8DD45DD479EB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04984D-ECCA-CF6E-5CEC-297FF66D1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98" y="1438275"/>
            <a:ext cx="9404604" cy="528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54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CCD1F7-1AB2-4866-B663-6E304BA542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F84D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C38BC-F259-45C3-A5D9-35B604DDE01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Key 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0A245-1B66-4D3B-933D-A94F330C7BE4}"/>
              </a:ext>
            </a:extLst>
          </p:cNvPr>
          <p:cNvSpPr>
            <a:spLocks noGrp="1"/>
          </p:cNvSpPr>
          <p:nvPr/>
        </p:nvSpPr>
        <p:spPr>
          <a:xfrm>
            <a:off x="952500" y="1638300"/>
            <a:ext cx="9810750" cy="3333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The observed dataset reflects the pathogen process and the observation process.</a:t>
            </a:r>
          </a:p>
          <a:p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Sampling can alter apparent frequency, growth, geographic structure, and source attribution.</a:t>
            </a:r>
          </a:p>
          <a:p>
            <a:pPr marL="304800" indent="-152400">
              <a:spcAft>
                <a:spcPts val="1800"/>
              </a:spcAft>
              <a:buChar char="•"/>
              <a:def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Genomic patterns require epidemiologic context before they support causal interpretation.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8B072-7037-4FC0-ADC8-D474F9E70E86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35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Part I  How Bias Shapes What We Observe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2E16EC-48F6-4639-8A33-76486188A794}"/>
              </a:ext>
            </a:extLst>
          </p:cNvPr>
          <p:cNvSpPr>
            <a:spLocks noGrp="1"/>
          </p:cNvSpPr>
          <p:nvPr/>
        </p:nvSpPr>
        <p:spPr>
          <a:xfrm>
            <a:off x="952500" y="600075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B8C7D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B8C7D3"/>
                </a:solidFill>
                <a:latin typeface="Bitstream Charter"/>
                <a:ea typeface="Bitstream Charter"/>
                <a:cs typeface="Bitstream Charter"/>
              </a:rPr>
              <a:t>Bias in Molecular Epidemiology: A story in three parts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A69FD-41A6-428D-9001-B9B23C28EFA5}"/>
              </a:ext>
            </a:extLst>
          </p:cNvPr>
          <p:cNvSpPr>
            <a:spLocks noGrp="1"/>
          </p:cNvSpPr>
          <p:nvPr/>
        </p:nvSpPr>
        <p:spPr>
          <a:xfrm>
            <a:off x="11430000" y="6438900"/>
            <a:ext cx="3429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1F84D6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53157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704</Words>
  <Application>Microsoft Macintosh PowerPoint</Application>
  <DocSecurity>0</DocSecurity>
  <PresentationFormat>Widescreen</PresentationFormat>
  <Paragraphs>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Justin Bahl</cp:lastModifiedBy>
  <cp:revision>2</cp:revision>
  <dcterms:created xsi:type="dcterms:W3CDTF">2026-09-26T21:27:40Z</dcterms:created>
  <dcterms:modified xsi:type="dcterms:W3CDTF">2026-09-27T01:43:32Z</dcterms:modified>
</cp:coreProperties>
</file>