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93"/>
    <p:restoredTop sz="94744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Bahl" userId="d662a62e-5717-4992-af3b-42a2c8a8d1c3" providerId="ADAL" clId="{8BBD5EC8-652A-5B42-98EE-89E713CE34DC}"/>
    <pc:docChg chg="delSld">
      <pc:chgData name="Justin Bahl" userId="d662a62e-5717-4992-af3b-42a2c8a8d1c3" providerId="ADAL" clId="{8BBD5EC8-652A-5B42-98EE-89E713CE34DC}" dt="2026-09-27T01:47:36.764" v="0" actId="2696"/>
      <pc:docMkLst>
        <pc:docMk/>
      </pc:docMkLst>
      <pc:sldChg chg="del">
        <pc:chgData name="Justin Bahl" userId="d662a62e-5717-4992-af3b-42a2c8a8d1c3" providerId="ADAL" clId="{8BBD5EC8-652A-5B42-98EE-89E713CE34DC}" dt="2026-09-27T01:47:36.764" v="0" actId="2696"/>
        <pc:sldMkLst>
          <pc:docMk/>
          <pc:sldMk cId="760546684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Series title: Bias in Molecular Epidemiology: A story in three parts</a:t>
            </a:r>
          </a:p>
          <a:p>
            <a:r>
              <a:rPr dirty="0"/>
              <a:t>Part II: Diagnosing the Observation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Central question: How can we identify where surveillance and dataset construction may be shaping the result?</a:t>
            </a:r>
          </a:p>
          <a:p>
            <a:r>
              <a:rPr dirty="0"/>
              <a:t>Learning objectives:</a:t>
            </a:r>
          </a:p>
          <a:p>
            <a:r>
              <a:rPr dirty="0"/>
              <a:t>- Evaluate genomic coverage using relevant denominators rather than sequence counts alone</a:t>
            </a:r>
          </a:p>
          <a:p>
            <a:r>
              <a:rPr dirty="0"/>
              <a:t>- Describe the causal and technical mechanisms that determine inclusion</a:t>
            </a:r>
          </a:p>
          <a:p>
            <a:r>
              <a:rPr dirty="0"/>
              <a:t>- Use planned perturbations to identify sampling-dependent conclusions</a:t>
            </a:r>
          </a:p>
          <a:p>
            <a:r>
              <a:rPr dirty="0"/>
              <a:t>- Recognize why stability cannot exclude bias shared by every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Teaching message: Representativeness requires denominators and data-quality information, not raw sequence counts alone.</a:t>
            </a:r>
          </a:p>
          <a:p>
            <a:endParaRPr dirty="0"/>
          </a:p>
          <a:p>
            <a:r>
              <a:rPr dirty="0"/>
              <a:t>Panel prompts:</a:t>
            </a:r>
          </a:p>
          <a:p>
            <a:r>
              <a:rPr dirty="0"/>
              <a:t>- Raw counts identify where genomes are abundant.</a:t>
            </a:r>
          </a:p>
          <a:p>
            <a:r>
              <a:rPr dirty="0"/>
              <a:t>- Cases or another denominator reveal the sequencing fraction.</a:t>
            </a:r>
          </a:p>
          <a:p>
            <a:r>
              <a:rPr dirty="0"/>
              <a:t>- Specimen quality and metadata completeness expose additional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Teaching message: Selection bias depends on why observations enter the analyzed dataset.</a:t>
            </a:r>
          </a:p>
          <a:p>
            <a:endParaRPr dirty="0"/>
          </a:p>
          <a:p>
            <a:r>
              <a:rPr dirty="0"/>
              <a:t>Panel prompts:</a:t>
            </a:r>
          </a:p>
          <a:p>
            <a:r>
              <a:rPr dirty="0"/>
              <a:t>- Location, time, host characteristics, and severity can affect inclusion.</a:t>
            </a:r>
          </a:p>
          <a:p>
            <a:r>
              <a:rPr dirty="0"/>
              <a:t>- Specimen quality creates a distinct technical path into sequencing.</a:t>
            </a:r>
          </a:p>
          <a:p>
            <a:r>
              <a:rPr dirty="0"/>
              <a:t>- Conditioning on inclusion can induce associations.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Teaching message: Sensitivity to plausible perturbations identifies conclusions that depend on sampling or analysis choices.</a:t>
            </a:r>
          </a:p>
          <a:p>
            <a:endParaRPr dirty="0"/>
          </a:p>
          <a:p>
            <a:r>
              <a:rPr dirty="0"/>
              <a:t>Panel prompts:</a:t>
            </a:r>
          </a:p>
          <a:p>
            <a:r>
              <a:rPr dirty="0"/>
              <a:t>- Perturb geography, time, outbreak inclusion, and other defensible choices.</a:t>
            </a:r>
          </a:p>
          <a:p>
            <a:r>
              <a:rPr dirty="0"/>
              <a:t>- Compare clade membership, relative lineage growth, and source attribution.</a:t>
            </a:r>
          </a:p>
          <a:p>
            <a:r>
              <a:rPr dirty="0"/>
              <a:t>- Shared bias can remain stable across every rerun.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Closing takeaways:</a:t>
            </a:r>
          </a:p>
          <a:p>
            <a:r>
              <a:rPr dirty="0"/>
              <a:t>- Coverage requires an appropriate denominator.</a:t>
            </a:r>
          </a:p>
          <a:p>
            <a:r>
              <a:rPr dirty="0"/>
              <a:t>- The inclusion mechanism links surveillance operations to inferential bias.</a:t>
            </a:r>
          </a:p>
          <a:p>
            <a:r>
              <a:rPr dirty="0"/>
              <a:t>- Perturbation identifies dependence on tested choices, not validity under untested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A7C67E-5ED9-45AA-9D8E-5EFCBB2C8F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3A38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F7F90D-0239-4B77-B7DB-81EAE924F9CA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95250" cy="6858000"/>
          </a:xfrm>
          <a:prstGeom prst="rect">
            <a:avLst/>
          </a:prstGeom>
          <a:solidFill>
            <a:srgbClr val="F47A2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A14FA-557D-4543-9D7D-CADA5D4A97A4}"/>
              </a:ext>
            </a:extLst>
          </p:cNvPr>
          <p:cNvSpPr>
            <a:spLocks noGrp="1"/>
          </p:cNvSpPr>
          <p:nvPr/>
        </p:nvSpPr>
        <p:spPr>
          <a:xfrm>
            <a:off x="838200" y="8953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BIAS IN MOLECULAR EPIDEMIOLOGY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5342D2-5E03-4AF3-8F8D-5B4DB5AC52BC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A story in three parts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9490A4-4FCC-46EA-94F5-C7A379944F3B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Part II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D98564-7A95-4DF5-B636-C0E91AE8E960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10096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Diagnosing the Observation Process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DDA817-D28D-4D3F-B1D3-5ECFC3C8A25C}"/>
              </a:ext>
            </a:extLst>
          </p:cNvPr>
          <p:cNvSpPr>
            <a:spLocks noGrp="1"/>
          </p:cNvSpPr>
          <p:nvPr/>
        </p:nvSpPr>
        <p:spPr>
          <a:xfrm>
            <a:off x="838200" y="5143500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Public health molecular epidemiology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78ACEC-9B50-4656-8BBA-2DDE63B20456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9EB1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200" b="0" dirty="0">
                <a:solidFill>
                  <a:srgbClr val="9EB1C2"/>
                </a:solidFill>
                <a:latin typeface="Bitstream Charter"/>
                <a:ea typeface="Bitstream Charter"/>
                <a:cs typeface="Bitstream Charter"/>
              </a:rPr>
              <a:t>Justin Bahl</a:t>
            </a:r>
            <a:endParaRPr sz="1200" b="0" dirty="0">
              <a:solidFill>
                <a:srgbClr val="9EB1C2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485060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66D6968-4AB7-43C1-9FF1-04391954E3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3A38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48C36A-8AA1-42B9-97A8-3CF49E3E5C7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Purpose and learning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FA508-33CD-4B47-BB70-AB42C4601C54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How can we identify where surveillance and dataset construction may be shaping the result?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BD003-362B-4758-A3B4-5F552541CEBB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10001250" cy="3429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79400" indent="-139700">
              <a:spcAft>
                <a:spcPts val="1400"/>
              </a:spcAft>
              <a:buChar char="•"/>
              <a:def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rPr>
              <a:t>Evaluate genomic coverage using relevant denominators rather than sequence counts alone</a:t>
            </a:r>
          </a:p>
          <a:p>
            <a:pPr marL="279400" indent="-139700">
              <a:spcAft>
                <a:spcPts val="1400"/>
              </a:spcAft>
              <a:buChar char="•"/>
              <a:def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rPr>
              <a:t>Describe the causal and technical mechanisms that determine inclusion</a:t>
            </a:r>
          </a:p>
          <a:p>
            <a:pPr marL="279400" indent="-139700">
              <a:spcAft>
                <a:spcPts val="1400"/>
              </a:spcAft>
              <a:buChar char="•"/>
              <a:def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rPr>
              <a:t>Use planned perturbations to identify sampling-dependent conclusions</a:t>
            </a:r>
          </a:p>
          <a:p>
            <a:pPr marL="279400" indent="-139700">
              <a:spcAft>
                <a:spcPts val="1400"/>
              </a:spcAft>
              <a:buChar char="•"/>
              <a:def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rPr>
              <a:t>Recognize why stability cannot exclude bias shared by every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912108-D0C3-465B-A9B3-61537A947B62}"/>
              </a:ext>
            </a:extLst>
          </p:cNvPr>
          <p:cNvSpPr>
            <a:spLocks noGrp="1"/>
          </p:cNvSpPr>
          <p:nvPr/>
        </p:nvSpPr>
        <p:spPr>
          <a:xfrm>
            <a:off x="876300" y="5715000"/>
            <a:ext cx="10001250" cy="38100"/>
          </a:xfrm>
          <a:prstGeom prst="rect">
            <a:avLst/>
          </a:prstGeom>
          <a:solidFill>
            <a:srgbClr val="13A38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089F35-71E5-436E-8EF3-4E87EEE4BB7C}"/>
              </a:ext>
            </a:extLst>
          </p:cNvPr>
          <p:cNvSpPr>
            <a:spLocks noGrp="1"/>
          </p:cNvSpPr>
          <p:nvPr/>
        </p:nvSpPr>
        <p:spPr>
          <a:xfrm>
            <a:off x="876300" y="59055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Part II  Diagnosing the Observation Process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C49D81-DDB9-40F4-B6C5-7FB957CE6958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7913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92A415-B604-4AE2-8F18-A84CCF71A4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3A38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009E12-9180-4FB4-A6A9-74253E16AA6C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Figure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E77204-8205-428D-8F03-DEBB3F55E8C4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Sampling coverage matrix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369A6B-4E69-4545-8E77-3296E0336B67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Representativeness requires denominators and data-quality information, not raw sequence counts alone.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13C5E6-F856-4F3E-B002-BAC97549E1DE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18E379-242E-8372-C084-952C9017D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648" y="1438275"/>
            <a:ext cx="9404604" cy="52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5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62233FE-7421-4955-9761-3A354B8205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3A38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8653B2-4083-49DD-90AA-628657A2035D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Figure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634A67-3756-46D9-BFC8-6B2A9FBBE21F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The inclusion mechanism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A2974D-0587-41A0-ADC5-4915DA9A97E4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Selection bias depends on why observations enter the analyzed dataset.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FC5B30-00B6-474F-A7E7-15F8F094DA04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E1552D-9FB0-F08F-6E46-2FC60FD35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648" y="1438275"/>
            <a:ext cx="9404604" cy="52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4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7DCD4A-690E-407D-A725-551A63079F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3A38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4598F8-4B44-4B6F-9BFE-83904506C3B9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Figure 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5455E-B27D-4C5A-B4D3-F2F7277233E9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Stability under perturbation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037696-496F-4F5D-9028-F562D2EA1773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Sensitivity to plausible perturbations identifies conclusions that depend on sampling or analysis choices.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5AAACF-2F93-4C20-A773-4DFFCCA5D5EC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4B5D0B-6745-3A5E-CA0C-F4F7DFF0D2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25" y="1438275"/>
            <a:ext cx="9404604" cy="52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4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E647F1-17BE-4E8D-9D8E-3D00CCE997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3A38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D55708-F14A-440A-9BA9-F068FD963EB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Key takeaways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EA54AE-62CF-40E1-9698-74368EB1F4FB}"/>
              </a:ext>
            </a:extLst>
          </p:cNvPr>
          <p:cNvSpPr>
            <a:spLocks noGrp="1"/>
          </p:cNvSpPr>
          <p:nvPr/>
        </p:nvSpPr>
        <p:spPr>
          <a:xfrm>
            <a:off x="952500" y="1638300"/>
            <a:ext cx="9810750" cy="3333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Coverage requires an appropriate denominator.</a:t>
            </a:r>
          </a:p>
          <a:p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The inclusion mechanism links surveillance operations to inferential bias.</a:t>
            </a:r>
          </a:p>
          <a:p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Perturbation identifies dependence on tested choices, not validity under untested assumptions.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579AA0-9A42-4D1B-B3D8-BD1FD6CC82D5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933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Part II  Diagnosing the Observation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1AC0EC-7456-46B6-975E-2E4A6CA492F1}"/>
              </a:ext>
            </a:extLst>
          </p:cNvPr>
          <p:cNvSpPr>
            <a:spLocks noGrp="1"/>
          </p:cNvSpPr>
          <p:nvPr/>
        </p:nvSpPr>
        <p:spPr>
          <a:xfrm>
            <a:off x="952500" y="6000750"/>
            <a:ext cx="933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B8C7D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B8C7D3"/>
                </a:solidFill>
                <a:latin typeface="Bitstream Charter"/>
                <a:ea typeface="Bitstream Charter"/>
                <a:cs typeface="Bitstream Charter"/>
              </a:rPr>
              <a:t>Bias in Molecular Epidemiology: A story in three parts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CA4C36-FCB7-4407-87D3-403C44B948BA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0050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460</Words>
  <Application>Microsoft Macintosh PowerPoint</Application>
  <DocSecurity>0</DocSecurity>
  <PresentationFormat>Widescreen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Bitstream Charter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Justin Bahl</cp:lastModifiedBy>
  <cp:revision>2</cp:revision>
  <dcterms:created xsi:type="dcterms:W3CDTF">2026-09-26T21:27:50Z</dcterms:created>
  <dcterms:modified xsi:type="dcterms:W3CDTF">2026-09-27T01:57:28Z</dcterms:modified>
</cp:coreProperties>
</file>