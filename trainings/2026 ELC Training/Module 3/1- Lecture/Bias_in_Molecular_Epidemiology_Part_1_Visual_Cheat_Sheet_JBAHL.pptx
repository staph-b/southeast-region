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 I visual cheat sheet: How bias shapes what we observe.</a:t>
            </a:r>
          </a:p>
          <a:p>
            <a:endParaRPr/>
          </a:p>
          <a:p>
            <a:r>
              <a:t>Core message: The complete genomic dataset contains all observed sequences, but it does not constitute the epidemic truth. The analyzed data reflect both the pathogen process and the observation process.</a:t>
            </a:r>
          </a:p>
          <a:p>
            <a:endParaRPr/>
          </a:p>
          <a:p>
            <a:r>
              <a:t>Figure 1. Surveillance cascade: Analyzed genomes pass through healthcare, testing, specimen, sequencing, and metadata filters.</a:t>
            </a:r>
          </a:p>
          <a:p>
            <a:r>
              <a:t>Figure 2. One epidemic, two datasets: Different sampling compositions can produce different phylogenetic summaries of the same epidemic.</a:t>
            </a:r>
          </a:p>
          <a:p>
            <a:r>
              <a:t>Figure 3. Temporal sampling bias: Sampling time can change apparent growth, persistence, and replacement.</a:t>
            </a:r>
          </a:p>
          <a:p>
            <a:r>
              <a:t>Figure 4. Geographic bias and source attribution: Dense surveillance can make a well-sampled location appear ancestral or source-like.</a:t>
            </a:r>
          </a:p>
          <a:p>
            <a:r>
              <a:t>Figure 5. Clinical ascertainment: Differential detection can mimic relative lineage growth without a transmission advantage.</a:t>
            </a:r>
          </a:p>
          <a:p>
            <a:r>
              <a:t>Figure 6. Outbreak and cluster oversampling: Intensive investigation can make one cluster dominate a regional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Summary figure for Part I, Figures 1–6.</a:t>
            </a:r>
          </a:p>
          <a:p>
            <a:endParaRPr/>
          </a:p>
          <a:p>
            <a:r>
              <a:t>Figure 1 provides the overall surveillance cascade. Figures 3–6 identify four mechanisms that modify inclusion within that cascade: time, place, clinical ascertainment, and outbreak investigation intensity. Figure 2 shows the consequence: the same underlying epidemic can yield different observed genomic datasets and different apparent phylogenetic or epidemiologic patterns.</a:t>
            </a:r>
          </a:p>
          <a:p>
            <a:endParaRPr/>
          </a:p>
          <a:p>
            <a:r>
              <a:t>The complete genomic dataset is complete only with respect to the sampled and retained observations. It should not be interpreted as the complete epidemic.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CE8DBE3A-21D7-4BBA-BFC5-27DD9CF51D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F84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C0616D-F116-4D09-B5A3-ADB1FB542BEE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5334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1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rPr>
              <a:t>BIAS IN MOLECULAR EPIDEMIOLOGY, PART 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9A6DB1-652C-44EE-90D4-B056D8AA83EE}"/>
              </a:ext>
            </a:extLst>
          </p:cNvPr>
          <p:cNvSpPr>
            <a:spLocks noGrp="1"/>
          </p:cNvSpPr>
          <p:nvPr/>
        </p:nvSpPr>
        <p:spPr>
          <a:xfrm>
            <a:off x="552450" y="514350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55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How bias shapes what we observe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24E09E1-5584-4F3A-A720-F096E8252191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11087100" cy="457200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D8AD62-48D9-427A-82FD-74160F9239EE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107061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2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The complete genomic dataset is the full set of observed sequences, not the epidemic truth.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32A87F-65C7-4EB7-84C3-9CF21F481E0E}"/>
              </a:ext>
            </a:extLst>
          </p:cNvPr>
          <p:cNvSpPr>
            <a:spLocks noGrp="1"/>
          </p:cNvSpPr>
          <p:nvPr/>
        </p:nvSpPr>
        <p:spPr>
          <a:xfrm>
            <a:off x="628650" y="1733550"/>
            <a:ext cx="323850" cy="323850"/>
          </a:xfrm>
          <a:prstGeom prst="rect">
            <a:avLst/>
          </a:prstGeom>
          <a:solidFill>
            <a:srgbClr val="1F84D6"/>
          </a:solidFill>
          <a:ln w="9525">
            <a:solidFill>
              <a:srgbClr val="1F84D6"/>
            </a:solidFill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AC9344-255F-4019-9C8A-5C7A17CF2C46}"/>
              </a:ext>
            </a:extLst>
          </p:cNvPr>
          <p:cNvSpPr>
            <a:spLocks noGrp="1"/>
          </p:cNvSpPr>
          <p:nvPr/>
        </p:nvSpPr>
        <p:spPr>
          <a:xfrm>
            <a:off x="1066800" y="1714500"/>
            <a:ext cx="28003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Surveillance cascade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C9A81D-AC00-4437-825E-0A7FD9B9E31E}"/>
              </a:ext>
            </a:extLst>
          </p:cNvPr>
          <p:cNvSpPr>
            <a:spLocks noGrp="1"/>
          </p:cNvSpPr>
          <p:nvPr/>
        </p:nvSpPr>
        <p:spPr>
          <a:xfrm>
            <a:off x="1066800" y="1990725"/>
            <a:ext cx="28003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1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1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Each step can alter who and what reaches the analysis.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C37CAF-D7FD-4A9F-BF3C-EEA0013E89CE}"/>
              </a:ext>
            </a:extLst>
          </p:cNvPr>
          <p:cNvSpPr>
            <a:spLocks noGrp="1"/>
          </p:cNvSpPr>
          <p:nvPr/>
        </p:nvSpPr>
        <p:spPr>
          <a:xfrm>
            <a:off x="2209800" y="2457450"/>
            <a:ext cx="19050" cy="304800"/>
          </a:xfrm>
          <a:prstGeom prst="rect">
            <a:avLst/>
          </a:prstGeom>
          <a:solidFill>
            <a:srgbClr val="B8C7D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6FE1C2-4085-4096-8DA1-4954AD9AE07E}"/>
              </a:ext>
            </a:extLst>
          </p:cNvPr>
          <p:cNvSpPr>
            <a:spLocks noGrp="1"/>
          </p:cNvSpPr>
          <p:nvPr/>
        </p:nvSpPr>
        <p:spPr>
          <a:xfrm>
            <a:off x="2181225" y="2733675"/>
            <a:ext cx="76200" cy="76200"/>
          </a:xfrm>
          <a:prstGeom prst="ellipse">
            <a:avLst/>
          </a:prstGeom>
          <a:solidFill>
            <a:srgbClr val="1F84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E9E623-901D-4EB8-B4CA-83CB748C13F7}"/>
              </a:ext>
            </a:extLst>
          </p:cNvPr>
          <p:cNvSpPr>
            <a:spLocks noGrp="1"/>
          </p:cNvSpPr>
          <p:nvPr/>
        </p:nvSpPr>
        <p:spPr>
          <a:xfrm>
            <a:off x="4229100" y="1733550"/>
            <a:ext cx="323850" cy="323850"/>
          </a:xfrm>
          <a:prstGeom prst="rect">
            <a:avLst/>
          </a:prstGeom>
          <a:solidFill>
            <a:srgbClr val="1F84D6"/>
          </a:solidFill>
          <a:ln w="9525">
            <a:solidFill>
              <a:srgbClr val="1F84D6"/>
            </a:solidFill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3172B4-FD3F-40FB-836C-A4DFA1F0237D}"/>
              </a:ext>
            </a:extLst>
          </p:cNvPr>
          <p:cNvSpPr>
            <a:spLocks noGrp="1"/>
          </p:cNvSpPr>
          <p:nvPr/>
        </p:nvSpPr>
        <p:spPr>
          <a:xfrm>
            <a:off x="4667250" y="1714500"/>
            <a:ext cx="30861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One epidemic, two datasets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DABD30-AD24-4D88-9EC5-3D10CC63CB9A}"/>
              </a:ext>
            </a:extLst>
          </p:cNvPr>
          <p:cNvSpPr>
            <a:spLocks noGrp="1"/>
          </p:cNvSpPr>
          <p:nvPr/>
        </p:nvSpPr>
        <p:spPr>
          <a:xfrm>
            <a:off x="4667250" y="1990725"/>
            <a:ext cx="30861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1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1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Different sampling compositions can yield different phylogenetic summaries.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CD2C50-93D0-4604-A29A-7E3E512F79F8}"/>
              </a:ext>
            </a:extLst>
          </p:cNvPr>
          <p:cNvSpPr>
            <a:spLocks noGrp="1"/>
          </p:cNvSpPr>
          <p:nvPr/>
        </p:nvSpPr>
        <p:spPr>
          <a:xfrm>
            <a:off x="5924550" y="2457450"/>
            <a:ext cx="19050" cy="304800"/>
          </a:xfrm>
          <a:prstGeom prst="rect">
            <a:avLst/>
          </a:prstGeom>
          <a:solidFill>
            <a:srgbClr val="B8C7D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A997BA0-0127-4AF5-9A8C-B6ED8D7A2CF9}"/>
              </a:ext>
            </a:extLst>
          </p:cNvPr>
          <p:cNvSpPr>
            <a:spLocks noGrp="1"/>
          </p:cNvSpPr>
          <p:nvPr/>
        </p:nvSpPr>
        <p:spPr>
          <a:xfrm>
            <a:off x="5895975" y="2733675"/>
            <a:ext cx="76200" cy="76200"/>
          </a:xfrm>
          <a:prstGeom prst="ellipse">
            <a:avLst/>
          </a:prstGeom>
          <a:solidFill>
            <a:srgbClr val="1F84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73ADF1-859B-4F68-9BA8-81D9777D9502}"/>
              </a:ext>
            </a:extLst>
          </p:cNvPr>
          <p:cNvSpPr>
            <a:spLocks noGrp="1"/>
          </p:cNvSpPr>
          <p:nvPr/>
        </p:nvSpPr>
        <p:spPr>
          <a:xfrm>
            <a:off x="8096250" y="1733550"/>
            <a:ext cx="323850" cy="323850"/>
          </a:xfrm>
          <a:prstGeom prst="rect">
            <a:avLst/>
          </a:prstGeom>
          <a:solidFill>
            <a:srgbClr val="1F84D6"/>
          </a:solidFill>
          <a:ln w="9525">
            <a:solidFill>
              <a:srgbClr val="1F84D6"/>
            </a:solidFill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4E0622-3EE7-425E-B139-BF62097CAF7F}"/>
              </a:ext>
            </a:extLst>
          </p:cNvPr>
          <p:cNvSpPr>
            <a:spLocks noGrp="1"/>
          </p:cNvSpPr>
          <p:nvPr/>
        </p:nvSpPr>
        <p:spPr>
          <a:xfrm>
            <a:off x="8534400" y="171450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Clinical ascertainment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63E475-2FDE-49F5-ADB0-4365F28DF6D6}"/>
              </a:ext>
            </a:extLst>
          </p:cNvPr>
          <p:cNvSpPr>
            <a:spLocks noGrp="1"/>
          </p:cNvSpPr>
          <p:nvPr/>
        </p:nvSpPr>
        <p:spPr>
          <a:xfrm>
            <a:off x="8534400" y="19907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1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1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Differential detection can mimic relative lineage growth.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B61B8C-834D-483B-9A47-5ECA699CFEF5}"/>
              </a:ext>
            </a:extLst>
          </p:cNvPr>
          <p:cNvSpPr>
            <a:spLocks noGrp="1"/>
          </p:cNvSpPr>
          <p:nvPr/>
        </p:nvSpPr>
        <p:spPr>
          <a:xfrm>
            <a:off x="9763125" y="2457450"/>
            <a:ext cx="19050" cy="304800"/>
          </a:xfrm>
          <a:prstGeom prst="rect">
            <a:avLst/>
          </a:prstGeom>
          <a:solidFill>
            <a:srgbClr val="B8C7D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73A1126-996B-4D1D-82CF-2D01EC2903F9}"/>
              </a:ext>
            </a:extLst>
          </p:cNvPr>
          <p:cNvSpPr>
            <a:spLocks noGrp="1"/>
          </p:cNvSpPr>
          <p:nvPr/>
        </p:nvSpPr>
        <p:spPr>
          <a:xfrm>
            <a:off x="9734550" y="2733675"/>
            <a:ext cx="76200" cy="76200"/>
          </a:xfrm>
          <a:prstGeom prst="ellipse">
            <a:avLst/>
          </a:prstGeom>
          <a:solidFill>
            <a:srgbClr val="1F84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DEB582-3986-4285-85BF-1106AA42F91F}"/>
              </a:ext>
            </a:extLst>
          </p:cNvPr>
          <p:cNvSpPr>
            <a:spLocks noGrp="1"/>
          </p:cNvSpPr>
          <p:nvPr/>
        </p:nvSpPr>
        <p:spPr>
          <a:xfrm>
            <a:off x="1181100" y="3076575"/>
            <a:ext cx="9753600" cy="38100"/>
          </a:xfrm>
          <a:prstGeom prst="rect">
            <a:avLst/>
          </a:prstGeom>
          <a:solidFill>
            <a:srgbClr val="B8C7D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6D96AE6-B818-41CB-BF78-29083E7A73CD}"/>
              </a:ext>
            </a:extLst>
          </p:cNvPr>
          <p:cNvSpPr>
            <a:spLocks noGrp="1"/>
          </p:cNvSpPr>
          <p:nvPr/>
        </p:nvSpPr>
        <p:spPr>
          <a:xfrm>
            <a:off x="666750" y="2800350"/>
            <a:ext cx="13525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1F84D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80C3DD-7966-4885-9284-248751B1B7BB}"/>
              </a:ext>
            </a:extLst>
          </p:cNvPr>
          <p:cNvSpPr>
            <a:spLocks noGrp="1"/>
          </p:cNvSpPr>
          <p:nvPr/>
        </p:nvSpPr>
        <p:spPr>
          <a:xfrm>
            <a:off x="752475" y="28479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Infections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3A1245-C976-47F7-B9A2-5F20F6493AB0}"/>
              </a:ext>
            </a:extLst>
          </p:cNvPr>
          <p:cNvSpPr>
            <a:spLocks noGrp="1"/>
          </p:cNvSpPr>
          <p:nvPr/>
        </p:nvSpPr>
        <p:spPr>
          <a:xfrm>
            <a:off x="733425" y="3105150"/>
            <a:ext cx="12192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6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epidemic population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FF45C06-C485-4952-808A-6B4453254BF7}"/>
              </a:ext>
            </a:extLst>
          </p:cNvPr>
          <p:cNvSpPr>
            <a:spLocks noGrp="1"/>
          </p:cNvSpPr>
          <p:nvPr/>
        </p:nvSpPr>
        <p:spPr>
          <a:xfrm>
            <a:off x="2571750" y="2800350"/>
            <a:ext cx="13525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1F84D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6804D27-2662-437A-975A-DA5B3725B9E5}"/>
              </a:ext>
            </a:extLst>
          </p:cNvPr>
          <p:cNvSpPr>
            <a:spLocks noGrp="1"/>
          </p:cNvSpPr>
          <p:nvPr/>
        </p:nvSpPr>
        <p:spPr>
          <a:xfrm>
            <a:off x="2657475" y="28479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Care and testing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26606B-F72A-49BC-B033-B521C11E8248}"/>
              </a:ext>
            </a:extLst>
          </p:cNvPr>
          <p:cNvSpPr>
            <a:spLocks noGrp="1"/>
          </p:cNvSpPr>
          <p:nvPr/>
        </p:nvSpPr>
        <p:spPr>
          <a:xfrm>
            <a:off x="2638425" y="3105150"/>
            <a:ext cx="12192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6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clinical selection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EEE42EF-6B87-4FD2-9F84-E8FE0D25A287}"/>
              </a:ext>
            </a:extLst>
          </p:cNvPr>
          <p:cNvSpPr>
            <a:spLocks noGrp="1"/>
          </p:cNvSpPr>
          <p:nvPr/>
        </p:nvSpPr>
        <p:spPr>
          <a:xfrm>
            <a:off x="4476750" y="2800350"/>
            <a:ext cx="13525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1F84D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4AD2F5-B696-4D2B-A68E-1AA27C3F2598}"/>
              </a:ext>
            </a:extLst>
          </p:cNvPr>
          <p:cNvSpPr>
            <a:spLocks noGrp="1"/>
          </p:cNvSpPr>
          <p:nvPr/>
        </p:nvSpPr>
        <p:spPr>
          <a:xfrm>
            <a:off x="4562475" y="28479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Specimens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85D26DF-427C-4E82-A42A-DF633024D952}"/>
              </a:ext>
            </a:extLst>
          </p:cNvPr>
          <p:cNvSpPr>
            <a:spLocks noGrp="1"/>
          </p:cNvSpPr>
          <p:nvPr/>
        </p:nvSpPr>
        <p:spPr>
          <a:xfrm>
            <a:off x="4543425" y="3105150"/>
            <a:ext cx="12192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6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availability and quality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6E1A7AF-0712-495D-93F2-2F9FAC32BDCE}"/>
              </a:ext>
            </a:extLst>
          </p:cNvPr>
          <p:cNvSpPr>
            <a:spLocks noGrp="1"/>
          </p:cNvSpPr>
          <p:nvPr/>
        </p:nvSpPr>
        <p:spPr>
          <a:xfrm>
            <a:off x="6381750" y="2800350"/>
            <a:ext cx="13525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1F84D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8545B68-CD0F-4026-9E51-E6A9E485E5B1}"/>
              </a:ext>
            </a:extLst>
          </p:cNvPr>
          <p:cNvSpPr>
            <a:spLocks noGrp="1"/>
          </p:cNvSpPr>
          <p:nvPr/>
        </p:nvSpPr>
        <p:spPr>
          <a:xfrm>
            <a:off x="6467475" y="28479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Sequencing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13C8C10-A205-4E93-A3B3-A0E9830BF836}"/>
              </a:ext>
            </a:extLst>
          </p:cNvPr>
          <p:cNvSpPr>
            <a:spLocks noGrp="1"/>
          </p:cNvSpPr>
          <p:nvPr/>
        </p:nvSpPr>
        <p:spPr>
          <a:xfrm>
            <a:off x="6448425" y="3105150"/>
            <a:ext cx="12192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6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technical selection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AEC82D5-FF49-45B6-A99B-B2A64C83A368}"/>
              </a:ext>
            </a:extLst>
          </p:cNvPr>
          <p:cNvSpPr>
            <a:spLocks noGrp="1"/>
          </p:cNvSpPr>
          <p:nvPr/>
        </p:nvSpPr>
        <p:spPr>
          <a:xfrm>
            <a:off x="8286750" y="2800350"/>
            <a:ext cx="13525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1F84D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D90AF2-57B1-446B-8353-9496F4B548A0}"/>
              </a:ext>
            </a:extLst>
          </p:cNvPr>
          <p:cNvSpPr>
            <a:spLocks noGrp="1"/>
          </p:cNvSpPr>
          <p:nvPr/>
        </p:nvSpPr>
        <p:spPr>
          <a:xfrm>
            <a:off x="8372475" y="28479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Metadata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C9297D3-1FE8-48DA-94C2-31253739B2FB}"/>
              </a:ext>
            </a:extLst>
          </p:cNvPr>
          <p:cNvSpPr>
            <a:spLocks noGrp="1"/>
          </p:cNvSpPr>
          <p:nvPr/>
        </p:nvSpPr>
        <p:spPr>
          <a:xfrm>
            <a:off x="8353425" y="3105150"/>
            <a:ext cx="12192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6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completeness and linkage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A5AB3B71-EB79-42AC-9E72-30A84BC60145}"/>
              </a:ext>
            </a:extLst>
          </p:cNvPr>
          <p:cNvSpPr>
            <a:spLocks noGrp="1"/>
          </p:cNvSpPr>
          <p:nvPr/>
        </p:nvSpPr>
        <p:spPr>
          <a:xfrm>
            <a:off x="10191750" y="2800350"/>
            <a:ext cx="1352550" cy="590550"/>
          </a:xfrm>
          <a:prstGeom prst="roundRect">
            <a:avLst>
              <a:gd name="adj" fmla="val 12903"/>
            </a:avLst>
          </a:prstGeom>
          <a:solidFill>
            <a:srgbClr val="0B245A"/>
          </a:solidFill>
          <a:ln w="19050">
            <a:solidFill>
              <a:srgbClr val="0B245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94CAA53-4145-472C-A34D-C446EC1B040B}"/>
              </a:ext>
            </a:extLst>
          </p:cNvPr>
          <p:cNvSpPr>
            <a:spLocks noGrp="1"/>
          </p:cNvSpPr>
          <p:nvPr/>
        </p:nvSpPr>
        <p:spPr>
          <a:xfrm>
            <a:off x="10277475" y="28479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Analyzed genomes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11E574A-59CE-4AA5-AD85-296ABD6F8C16}"/>
              </a:ext>
            </a:extLst>
          </p:cNvPr>
          <p:cNvSpPr>
            <a:spLocks noGrp="1"/>
          </p:cNvSpPr>
          <p:nvPr/>
        </p:nvSpPr>
        <p:spPr>
          <a:xfrm>
            <a:off x="10258425" y="3105150"/>
            <a:ext cx="12192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63" b="0">
                <a:solidFill>
                  <a:srgbClr val="D8E2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D8E2EB"/>
                </a:solidFill>
                <a:latin typeface="Bitstream Charter"/>
                <a:ea typeface="Bitstream Charter"/>
                <a:cs typeface="Bitstream Charter"/>
              </a:rPr>
              <a:t>observed dataset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081C2F8-AB4B-4C91-ABD1-FE6EFB0C74D7}"/>
              </a:ext>
            </a:extLst>
          </p:cNvPr>
          <p:cNvSpPr>
            <a:spLocks noGrp="1"/>
          </p:cNvSpPr>
          <p:nvPr/>
        </p:nvSpPr>
        <p:spPr>
          <a:xfrm>
            <a:off x="628650" y="3876675"/>
            <a:ext cx="323850" cy="323850"/>
          </a:xfrm>
          <a:prstGeom prst="rect">
            <a:avLst/>
          </a:prstGeom>
          <a:solidFill>
            <a:srgbClr val="1F84D6"/>
          </a:solidFill>
          <a:ln w="9525">
            <a:solidFill>
              <a:srgbClr val="1F84D6"/>
            </a:solidFill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F96244A-63CB-4066-AFC0-06FFAE7E4CF8}"/>
              </a:ext>
            </a:extLst>
          </p:cNvPr>
          <p:cNvSpPr>
            <a:spLocks noGrp="1"/>
          </p:cNvSpPr>
          <p:nvPr/>
        </p:nvSpPr>
        <p:spPr>
          <a:xfrm>
            <a:off x="1066800" y="3857625"/>
            <a:ext cx="28003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Temporal sampling bias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E7066E6-86FE-4D89-9C35-23302305B158}"/>
              </a:ext>
            </a:extLst>
          </p:cNvPr>
          <p:cNvSpPr>
            <a:spLocks noGrp="1"/>
          </p:cNvSpPr>
          <p:nvPr/>
        </p:nvSpPr>
        <p:spPr>
          <a:xfrm>
            <a:off x="1066800" y="4133850"/>
            <a:ext cx="28003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1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1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Uneven timing can change apparent growth, persistence, and replacement.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B318A18-36A8-4ACF-B157-E4C8A2DB70FA}"/>
              </a:ext>
            </a:extLst>
          </p:cNvPr>
          <p:cNvSpPr>
            <a:spLocks noGrp="1"/>
          </p:cNvSpPr>
          <p:nvPr/>
        </p:nvSpPr>
        <p:spPr>
          <a:xfrm>
            <a:off x="2209800" y="3429000"/>
            <a:ext cx="19050" cy="409575"/>
          </a:xfrm>
          <a:prstGeom prst="rect">
            <a:avLst/>
          </a:prstGeom>
          <a:solidFill>
            <a:srgbClr val="B8C7D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024FE4D-E758-4668-BB1B-5FAF2FFC0CE1}"/>
              </a:ext>
            </a:extLst>
          </p:cNvPr>
          <p:cNvSpPr>
            <a:spLocks noGrp="1"/>
          </p:cNvSpPr>
          <p:nvPr/>
        </p:nvSpPr>
        <p:spPr>
          <a:xfrm>
            <a:off x="2181225" y="3810000"/>
            <a:ext cx="76200" cy="76200"/>
          </a:xfrm>
          <a:prstGeom prst="ellipse">
            <a:avLst/>
          </a:prstGeom>
          <a:solidFill>
            <a:srgbClr val="1F84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6260667-2548-48D0-B23D-F95E99B3E09B}"/>
              </a:ext>
            </a:extLst>
          </p:cNvPr>
          <p:cNvSpPr>
            <a:spLocks noGrp="1"/>
          </p:cNvSpPr>
          <p:nvPr/>
        </p:nvSpPr>
        <p:spPr>
          <a:xfrm>
            <a:off x="4229100" y="3876675"/>
            <a:ext cx="323850" cy="323850"/>
          </a:xfrm>
          <a:prstGeom prst="rect">
            <a:avLst/>
          </a:prstGeom>
          <a:solidFill>
            <a:srgbClr val="1F84D6"/>
          </a:solidFill>
          <a:ln w="9525">
            <a:solidFill>
              <a:srgbClr val="1F84D6"/>
            </a:solidFill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3673810-5F38-4FCD-8355-54CB2970D44A}"/>
              </a:ext>
            </a:extLst>
          </p:cNvPr>
          <p:cNvSpPr>
            <a:spLocks noGrp="1"/>
          </p:cNvSpPr>
          <p:nvPr/>
        </p:nvSpPr>
        <p:spPr>
          <a:xfrm>
            <a:off x="4667250" y="3857625"/>
            <a:ext cx="30861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Geographic bias and source attribution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E9FBB3F-AAC0-4B34-AB60-88E699C0EDED}"/>
              </a:ext>
            </a:extLst>
          </p:cNvPr>
          <p:cNvSpPr>
            <a:spLocks noGrp="1"/>
          </p:cNvSpPr>
          <p:nvPr/>
        </p:nvSpPr>
        <p:spPr>
          <a:xfrm>
            <a:off x="4667250" y="4133850"/>
            <a:ext cx="30861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1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1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Dense surveillance can make a well-sampled location appear ancestral or source-like.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6B1990B-86F5-4B8D-98A6-EDADF8D97C4D}"/>
              </a:ext>
            </a:extLst>
          </p:cNvPr>
          <p:cNvSpPr>
            <a:spLocks noGrp="1"/>
          </p:cNvSpPr>
          <p:nvPr/>
        </p:nvSpPr>
        <p:spPr>
          <a:xfrm>
            <a:off x="5924550" y="3429000"/>
            <a:ext cx="19050" cy="409575"/>
          </a:xfrm>
          <a:prstGeom prst="rect">
            <a:avLst/>
          </a:prstGeom>
          <a:solidFill>
            <a:srgbClr val="B8C7D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92D7C82-3990-43A9-A146-0B3B2DFBC341}"/>
              </a:ext>
            </a:extLst>
          </p:cNvPr>
          <p:cNvSpPr>
            <a:spLocks noGrp="1"/>
          </p:cNvSpPr>
          <p:nvPr/>
        </p:nvSpPr>
        <p:spPr>
          <a:xfrm>
            <a:off x="5895975" y="3810000"/>
            <a:ext cx="76200" cy="76200"/>
          </a:xfrm>
          <a:prstGeom prst="ellipse">
            <a:avLst/>
          </a:prstGeom>
          <a:solidFill>
            <a:srgbClr val="1F84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529070F-33D4-44FF-ABCA-2BB04DB3276D}"/>
              </a:ext>
            </a:extLst>
          </p:cNvPr>
          <p:cNvSpPr>
            <a:spLocks noGrp="1"/>
          </p:cNvSpPr>
          <p:nvPr/>
        </p:nvSpPr>
        <p:spPr>
          <a:xfrm>
            <a:off x="8096250" y="3876675"/>
            <a:ext cx="323850" cy="323850"/>
          </a:xfrm>
          <a:prstGeom prst="rect">
            <a:avLst/>
          </a:prstGeom>
          <a:solidFill>
            <a:srgbClr val="1F84D6"/>
          </a:solidFill>
          <a:ln w="9525">
            <a:solidFill>
              <a:srgbClr val="1F84D6"/>
            </a:solidFill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6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9998817-371E-4AD5-8AF6-F9AB16A41DBA}"/>
              </a:ext>
            </a:extLst>
          </p:cNvPr>
          <p:cNvSpPr>
            <a:spLocks noGrp="1"/>
          </p:cNvSpPr>
          <p:nvPr/>
        </p:nvSpPr>
        <p:spPr>
          <a:xfrm>
            <a:off x="8534400" y="3857625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Outbreak and cluster oversampling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26069D6-D235-4259-AB2F-078A80FBF7AD}"/>
              </a:ext>
            </a:extLst>
          </p:cNvPr>
          <p:cNvSpPr>
            <a:spLocks noGrp="1"/>
          </p:cNvSpPr>
          <p:nvPr/>
        </p:nvSpPr>
        <p:spPr>
          <a:xfrm>
            <a:off x="8534400" y="41338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1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1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Investigation intensity can make one cluster dominate a regional dataset.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C4F3D02-08D1-4425-851C-88736AA0201F}"/>
              </a:ext>
            </a:extLst>
          </p:cNvPr>
          <p:cNvSpPr>
            <a:spLocks noGrp="1"/>
          </p:cNvSpPr>
          <p:nvPr/>
        </p:nvSpPr>
        <p:spPr>
          <a:xfrm>
            <a:off x="9763125" y="3429000"/>
            <a:ext cx="19050" cy="409575"/>
          </a:xfrm>
          <a:prstGeom prst="rect">
            <a:avLst/>
          </a:prstGeom>
          <a:solidFill>
            <a:srgbClr val="B8C7D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B2EC242-D0B0-4620-9217-3768914EAA28}"/>
              </a:ext>
            </a:extLst>
          </p:cNvPr>
          <p:cNvSpPr>
            <a:spLocks noGrp="1"/>
          </p:cNvSpPr>
          <p:nvPr/>
        </p:nvSpPr>
        <p:spPr>
          <a:xfrm>
            <a:off x="9734550" y="3810000"/>
            <a:ext cx="76200" cy="76200"/>
          </a:xfrm>
          <a:prstGeom prst="ellipse">
            <a:avLst/>
          </a:prstGeom>
          <a:solidFill>
            <a:srgbClr val="1F84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524D4D4-8F72-4E44-B4EA-4E24CB5A1601}"/>
              </a:ext>
            </a:extLst>
          </p:cNvPr>
          <p:cNvSpPr>
            <a:spLocks noGrp="1"/>
          </p:cNvSpPr>
          <p:nvPr/>
        </p:nvSpPr>
        <p:spPr>
          <a:xfrm>
            <a:off x="171450" y="5010150"/>
            <a:ext cx="12020550" cy="1847850"/>
          </a:xfrm>
          <a:prstGeom prst="rect">
            <a:avLst/>
          </a:prstGeom>
          <a:solidFill>
            <a:srgbClr val="0B245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53E16C5-1B15-4B79-9272-EB5275C353D8}"/>
              </a:ext>
            </a:extLst>
          </p:cNvPr>
          <p:cNvSpPr>
            <a:spLocks noGrp="1"/>
          </p:cNvSpPr>
          <p:nvPr/>
        </p:nvSpPr>
        <p:spPr>
          <a:xfrm>
            <a:off x="590550" y="5181600"/>
            <a:ext cx="4286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Before interpreting a genomic pattern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60D6C02-AAA0-4FE9-81FA-6F3969F38315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24003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Who could enter the dataset?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40F1B3C-8356-47A6-BE68-4A79E25A8BE3}"/>
              </a:ext>
            </a:extLst>
          </p:cNvPr>
          <p:cNvSpPr>
            <a:spLocks noGrp="1"/>
          </p:cNvSpPr>
          <p:nvPr/>
        </p:nvSpPr>
        <p:spPr>
          <a:xfrm>
            <a:off x="3257550" y="5638800"/>
            <a:ext cx="3524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Which times, places, or groups were overrepresented?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00D7805-7E10-439B-8D14-B8713D1A8160}"/>
              </a:ext>
            </a:extLst>
          </p:cNvPr>
          <p:cNvSpPr>
            <a:spLocks noGrp="1"/>
          </p:cNvSpPr>
          <p:nvPr/>
        </p:nvSpPr>
        <p:spPr>
          <a:xfrm>
            <a:off x="6953250" y="5638800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Which denominator is missing?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ADCD872-FF31-4EB8-9A5F-E830AED9F45C}"/>
              </a:ext>
            </a:extLst>
          </p:cNvPr>
          <p:cNvSpPr>
            <a:spLocks noGrp="1"/>
          </p:cNvSpPr>
          <p:nvPr/>
        </p:nvSpPr>
        <p:spPr>
          <a:xfrm>
            <a:off x="9525000" y="5600700"/>
            <a:ext cx="2190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Could selection produce the apparent pattern?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21CD666-F113-43D0-9719-E5812695B9F9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11010900" cy="19050"/>
          </a:xfrm>
          <a:prstGeom prst="rect">
            <a:avLst/>
          </a:prstGeom>
          <a:solidFill>
            <a:srgbClr val="1F84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2CBEDDD-2F72-4B72-8B46-41690AA9E311}"/>
              </a:ext>
            </a:extLst>
          </p:cNvPr>
          <p:cNvSpPr>
            <a:spLocks noGrp="1"/>
          </p:cNvSpPr>
          <p:nvPr/>
        </p:nvSpPr>
        <p:spPr>
          <a:xfrm>
            <a:off x="685800" y="6267450"/>
            <a:ext cx="11010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D8E2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D8E2EB"/>
                </a:solidFill>
                <a:latin typeface="Bitstream Charter"/>
                <a:ea typeface="Bitstream Charter"/>
                <a:cs typeface="Bitstream Charter"/>
              </a:rPr>
              <a:t>Interpretation requires the pathogen process and the observation process.</a:t>
            </a:r>
          </a:p>
        </p:txBody>
      </p:sp>
    </p:spTree>
    <p:extLst>
      <p:ext uri="{BB962C8B-B14F-4D97-AF65-F5344CB8AC3E}">
        <p14:creationId xmlns:p14="http://schemas.microsoft.com/office/powerpoint/2010/main" val="1304812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11">
            <a:extLst>
              <a:ext uri="{FF2B5EF4-FFF2-40B4-BE49-F238E27FC236}">
                <a16:creationId xmlns:a16="http://schemas.microsoft.com/office/drawing/2014/main" id="{B1F7B8BC-9D69-40E2-A933-7979E13FF5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F84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629F2E-5D1F-457E-89DC-7589807D6E84}"/>
              </a:ext>
            </a:extLst>
          </p:cNvPr>
          <p:cNvSpPr>
            <a:spLocks noGrp="1"/>
          </p:cNvSpPr>
          <p:nvPr/>
        </p:nvSpPr>
        <p:spPr>
          <a:xfrm>
            <a:off x="552450" y="238125"/>
            <a:ext cx="21907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1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rPr>
              <a:t>PART I SUMMARY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997478-1EEA-4184-A479-A99A10467A03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10953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7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One epidemic can produce different genomic datasets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8AE6D1-09D8-45F8-81EA-BBFE4D414AAF}"/>
              </a:ext>
            </a:extLst>
          </p:cNvPr>
          <p:cNvSpPr>
            <a:spLocks noGrp="1"/>
          </p:cNvSpPr>
          <p:nvPr/>
        </p:nvSpPr>
        <p:spPr>
          <a:xfrm>
            <a:off x="552450" y="92392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Figures 1–6 locate the filters that separate the underlying epidemic from the genomes available for analysis.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3DB8DED-D148-4E34-886A-C065AACA6E24}"/>
              </a:ext>
            </a:extLst>
          </p:cNvPr>
          <p:cNvSpPr>
            <a:spLocks noGrp="1"/>
          </p:cNvSpPr>
          <p:nvPr/>
        </p:nvSpPr>
        <p:spPr>
          <a:xfrm>
            <a:off x="552450" y="1485900"/>
            <a:ext cx="3238500" cy="3829050"/>
          </a:xfrm>
          <a:prstGeom prst="roundRect">
            <a:avLst>
              <a:gd name="adj" fmla="val 2353"/>
            </a:avLst>
          </a:prstGeom>
          <a:solidFill>
            <a:srgbClr val="EAF2F8"/>
          </a:solidFill>
          <a:ln w="14288">
            <a:solidFill>
              <a:srgbClr val="1F84D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A85C06-19BD-41CA-8C21-3550A2EECFEB}"/>
              </a:ext>
            </a:extLst>
          </p:cNvPr>
          <p:cNvSpPr>
            <a:spLocks noGrp="1"/>
          </p:cNvSpPr>
          <p:nvPr/>
        </p:nvSpPr>
        <p:spPr>
          <a:xfrm>
            <a:off x="800100" y="1676400"/>
            <a:ext cx="27432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Underlying epidemic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E83A80-2EC2-4188-8EFF-59C60BF9C7D1}"/>
              </a:ext>
            </a:extLst>
          </p:cNvPr>
          <p:cNvSpPr>
            <a:spLocks noGrp="1"/>
          </p:cNvSpPr>
          <p:nvPr/>
        </p:nvSpPr>
        <p:spPr>
          <a:xfrm>
            <a:off x="857250" y="1981200"/>
            <a:ext cx="26289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1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1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Infections distributed across lineages, time, place, and clinical presentations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D309849-0CEB-47E1-A4FE-5E5C4AA44704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180975" cy="180975"/>
          </a:xfrm>
          <a:prstGeom prst="ellipse">
            <a:avLst/>
          </a:prstGeom>
          <a:solidFill>
            <a:srgbClr val="1F84D6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CD98A79-0544-4F91-A3AC-B1F0EF1001AD}"/>
              </a:ext>
            </a:extLst>
          </p:cNvPr>
          <p:cNvSpPr>
            <a:spLocks noGrp="1"/>
          </p:cNvSpPr>
          <p:nvPr/>
        </p:nvSpPr>
        <p:spPr>
          <a:xfrm>
            <a:off x="1123950" y="2457450"/>
            <a:ext cx="180975" cy="180975"/>
          </a:xfrm>
          <a:prstGeom prst="ellipse">
            <a:avLst/>
          </a:prstGeom>
          <a:solidFill>
            <a:srgbClr val="13A38E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84ED7C7-6DB6-4025-A1FD-1939881F6627}"/>
              </a:ext>
            </a:extLst>
          </p:cNvPr>
          <p:cNvSpPr>
            <a:spLocks noGrp="1"/>
          </p:cNvSpPr>
          <p:nvPr/>
        </p:nvSpPr>
        <p:spPr>
          <a:xfrm>
            <a:off x="1409700" y="2590800"/>
            <a:ext cx="180975" cy="180975"/>
          </a:xfrm>
          <a:prstGeom prst="ellipse">
            <a:avLst/>
          </a:prstGeom>
          <a:solidFill>
            <a:srgbClr val="1F84D6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9CDD452-4C09-4466-A3EE-39AAA2C8112D}"/>
              </a:ext>
            </a:extLst>
          </p:cNvPr>
          <p:cNvSpPr>
            <a:spLocks noGrp="1"/>
          </p:cNvSpPr>
          <p:nvPr/>
        </p:nvSpPr>
        <p:spPr>
          <a:xfrm>
            <a:off x="1695450" y="2381250"/>
            <a:ext cx="180975" cy="180975"/>
          </a:xfrm>
          <a:prstGeom prst="ellipse">
            <a:avLst/>
          </a:prstGeom>
          <a:solidFill>
            <a:srgbClr val="F47A20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90076DA-E99F-4ACA-B28A-5D39BCA73778}"/>
              </a:ext>
            </a:extLst>
          </p:cNvPr>
          <p:cNvSpPr>
            <a:spLocks noGrp="1"/>
          </p:cNvSpPr>
          <p:nvPr/>
        </p:nvSpPr>
        <p:spPr>
          <a:xfrm>
            <a:off x="1962150" y="2647950"/>
            <a:ext cx="180975" cy="180975"/>
          </a:xfrm>
          <a:prstGeom prst="ellipse">
            <a:avLst/>
          </a:prstGeom>
          <a:solidFill>
            <a:srgbClr val="13A38E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2E2589C-79B8-46B3-8D86-89FB35DACFA3}"/>
              </a:ext>
            </a:extLst>
          </p:cNvPr>
          <p:cNvSpPr>
            <a:spLocks noGrp="1"/>
          </p:cNvSpPr>
          <p:nvPr/>
        </p:nvSpPr>
        <p:spPr>
          <a:xfrm>
            <a:off x="2247900" y="2495550"/>
            <a:ext cx="180975" cy="180975"/>
          </a:xfrm>
          <a:prstGeom prst="ellipse">
            <a:avLst/>
          </a:prstGeom>
          <a:solidFill>
            <a:srgbClr val="1F84D6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93BEFE5-A4A0-4AD7-ACE4-516665B12CDF}"/>
              </a:ext>
            </a:extLst>
          </p:cNvPr>
          <p:cNvSpPr>
            <a:spLocks noGrp="1"/>
          </p:cNvSpPr>
          <p:nvPr/>
        </p:nvSpPr>
        <p:spPr>
          <a:xfrm>
            <a:off x="2533650" y="2705100"/>
            <a:ext cx="180975" cy="180975"/>
          </a:xfrm>
          <a:prstGeom prst="ellipse">
            <a:avLst/>
          </a:prstGeom>
          <a:solidFill>
            <a:srgbClr val="1F84D6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64BC608-D97C-48CE-8D33-8233329C9494}"/>
              </a:ext>
            </a:extLst>
          </p:cNvPr>
          <p:cNvSpPr>
            <a:spLocks noGrp="1"/>
          </p:cNvSpPr>
          <p:nvPr/>
        </p:nvSpPr>
        <p:spPr>
          <a:xfrm>
            <a:off x="971550" y="3048000"/>
            <a:ext cx="180975" cy="180975"/>
          </a:xfrm>
          <a:prstGeom prst="ellipse">
            <a:avLst/>
          </a:prstGeom>
          <a:solidFill>
            <a:srgbClr val="13A38E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6263666-E890-44EA-BEA9-11F2333196E9}"/>
              </a:ext>
            </a:extLst>
          </p:cNvPr>
          <p:cNvSpPr>
            <a:spLocks noGrp="1"/>
          </p:cNvSpPr>
          <p:nvPr/>
        </p:nvSpPr>
        <p:spPr>
          <a:xfrm>
            <a:off x="1276350" y="2914650"/>
            <a:ext cx="180975" cy="180975"/>
          </a:xfrm>
          <a:prstGeom prst="ellipse">
            <a:avLst/>
          </a:prstGeom>
          <a:solidFill>
            <a:srgbClr val="F47A20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96D0BE0-4E7D-4765-861D-584F8FB862D3}"/>
              </a:ext>
            </a:extLst>
          </p:cNvPr>
          <p:cNvSpPr>
            <a:spLocks noGrp="1"/>
          </p:cNvSpPr>
          <p:nvPr/>
        </p:nvSpPr>
        <p:spPr>
          <a:xfrm>
            <a:off x="1562100" y="3143250"/>
            <a:ext cx="180975" cy="180975"/>
          </a:xfrm>
          <a:prstGeom prst="ellipse">
            <a:avLst/>
          </a:prstGeom>
          <a:solidFill>
            <a:srgbClr val="1F84D6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D9F00D7-EFC8-4141-8F75-04B7C5C1E119}"/>
              </a:ext>
            </a:extLst>
          </p:cNvPr>
          <p:cNvSpPr>
            <a:spLocks noGrp="1"/>
          </p:cNvSpPr>
          <p:nvPr/>
        </p:nvSpPr>
        <p:spPr>
          <a:xfrm>
            <a:off x="1866900" y="2971800"/>
            <a:ext cx="180975" cy="180975"/>
          </a:xfrm>
          <a:prstGeom prst="ellipse">
            <a:avLst/>
          </a:prstGeom>
          <a:solidFill>
            <a:srgbClr val="13A38E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FBA34AC-1535-4AC9-B89D-6BFAA9A1FFA7}"/>
              </a:ext>
            </a:extLst>
          </p:cNvPr>
          <p:cNvSpPr>
            <a:spLocks noGrp="1"/>
          </p:cNvSpPr>
          <p:nvPr/>
        </p:nvSpPr>
        <p:spPr>
          <a:xfrm>
            <a:off x="2171700" y="3200400"/>
            <a:ext cx="180975" cy="180975"/>
          </a:xfrm>
          <a:prstGeom prst="ellipse">
            <a:avLst/>
          </a:prstGeom>
          <a:solidFill>
            <a:srgbClr val="1F84D6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55850C6-3414-443A-9F8A-E57D7E254435}"/>
              </a:ext>
            </a:extLst>
          </p:cNvPr>
          <p:cNvSpPr>
            <a:spLocks noGrp="1"/>
          </p:cNvSpPr>
          <p:nvPr/>
        </p:nvSpPr>
        <p:spPr>
          <a:xfrm>
            <a:off x="2476500" y="3048000"/>
            <a:ext cx="180975" cy="180975"/>
          </a:xfrm>
          <a:prstGeom prst="ellipse">
            <a:avLst/>
          </a:prstGeom>
          <a:solidFill>
            <a:srgbClr val="F47A20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4C30AC8-EEAF-4971-9671-917ED060FDEC}"/>
              </a:ext>
            </a:extLst>
          </p:cNvPr>
          <p:cNvSpPr>
            <a:spLocks noGrp="1"/>
          </p:cNvSpPr>
          <p:nvPr/>
        </p:nvSpPr>
        <p:spPr>
          <a:xfrm>
            <a:off x="2743200" y="3257550"/>
            <a:ext cx="180975" cy="180975"/>
          </a:xfrm>
          <a:prstGeom prst="ellipse">
            <a:avLst/>
          </a:prstGeom>
          <a:solidFill>
            <a:srgbClr val="13A38E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30CC294-9AF0-4DD3-ACF8-0E92BA511C65}"/>
              </a:ext>
            </a:extLst>
          </p:cNvPr>
          <p:cNvSpPr>
            <a:spLocks noGrp="1"/>
          </p:cNvSpPr>
          <p:nvPr/>
        </p:nvSpPr>
        <p:spPr>
          <a:xfrm>
            <a:off x="1047750" y="3448050"/>
            <a:ext cx="180975" cy="180975"/>
          </a:xfrm>
          <a:prstGeom prst="ellipse">
            <a:avLst/>
          </a:prstGeom>
          <a:solidFill>
            <a:srgbClr val="1F84D6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A70E7C5-FEEF-42F3-82E6-C2E3EFF6966F}"/>
              </a:ext>
            </a:extLst>
          </p:cNvPr>
          <p:cNvSpPr>
            <a:spLocks noGrp="1"/>
          </p:cNvSpPr>
          <p:nvPr/>
        </p:nvSpPr>
        <p:spPr>
          <a:xfrm>
            <a:off x="1371600" y="3600450"/>
            <a:ext cx="180975" cy="180975"/>
          </a:xfrm>
          <a:prstGeom prst="ellipse">
            <a:avLst/>
          </a:prstGeom>
          <a:solidFill>
            <a:srgbClr val="13A38E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4EF7EDD-2457-432E-A414-D0B99015A1E2}"/>
              </a:ext>
            </a:extLst>
          </p:cNvPr>
          <p:cNvSpPr>
            <a:spLocks noGrp="1"/>
          </p:cNvSpPr>
          <p:nvPr/>
        </p:nvSpPr>
        <p:spPr>
          <a:xfrm>
            <a:off x="1676400" y="3448050"/>
            <a:ext cx="180975" cy="180975"/>
          </a:xfrm>
          <a:prstGeom prst="ellipse">
            <a:avLst/>
          </a:prstGeom>
          <a:solidFill>
            <a:srgbClr val="1F84D6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71E8D56-CE61-4EB6-B3E5-12672B626D2B}"/>
              </a:ext>
            </a:extLst>
          </p:cNvPr>
          <p:cNvSpPr>
            <a:spLocks noGrp="1"/>
          </p:cNvSpPr>
          <p:nvPr/>
        </p:nvSpPr>
        <p:spPr>
          <a:xfrm>
            <a:off x="1981200" y="3676650"/>
            <a:ext cx="180975" cy="180975"/>
          </a:xfrm>
          <a:prstGeom prst="ellipse">
            <a:avLst/>
          </a:prstGeom>
          <a:solidFill>
            <a:srgbClr val="F47A20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3DCB53D-2CBD-4686-82F5-3D52FCD60DA6}"/>
              </a:ext>
            </a:extLst>
          </p:cNvPr>
          <p:cNvSpPr>
            <a:spLocks noGrp="1"/>
          </p:cNvSpPr>
          <p:nvPr/>
        </p:nvSpPr>
        <p:spPr>
          <a:xfrm>
            <a:off x="2305050" y="3505200"/>
            <a:ext cx="180975" cy="180975"/>
          </a:xfrm>
          <a:prstGeom prst="ellipse">
            <a:avLst/>
          </a:prstGeom>
          <a:solidFill>
            <a:srgbClr val="13A38E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4E9446C-94B5-4810-AFC5-B86E334F8BE5}"/>
              </a:ext>
            </a:extLst>
          </p:cNvPr>
          <p:cNvSpPr>
            <a:spLocks noGrp="1"/>
          </p:cNvSpPr>
          <p:nvPr/>
        </p:nvSpPr>
        <p:spPr>
          <a:xfrm>
            <a:off x="2609850" y="3714750"/>
            <a:ext cx="180975" cy="180975"/>
          </a:xfrm>
          <a:prstGeom prst="ellipse">
            <a:avLst/>
          </a:prstGeom>
          <a:solidFill>
            <a:srgbClr val="1F84D6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B41F32E-1FD3-41FE-86D5-95EA9AA3186D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180975" cy="180975"/>
          </a:xfrm>
          <a:prstGeom prst="ellipse">
            <a:avLst/>
          </a:prstGeom>
          <a:solidFill>
            <a:srgbClr val="F47A20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0E95B9C-E722-4778-8439-47D4EC429326}"/>
              </a:ext>
            </a:extLst>
          </p:cNvPr>
          <p:cNvSpPr>
            <a:spLocks noGrp="1"/>
          </p:cNvSpPr>
          <p:nvPr/>
        </p:nvSpPr>
        <p:spPr>
          <a:xfrm>
            <a:off x="1200150" y="4057650"/>
            <a:ext cx="180975" cy="180975"/>
          </a:xfrm>
          <a:prstGeom prst="ellipse">
            <a:avLst/>
          </a:prstGeom>
          <a:solidFill>
            <a:srgbClr val="1F84D6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0AE36B5-6ACD-4C64-858C-471E9F581B93}"/>
              </a:ext>
            </a:extLst>
          </p:cNvPr>
          <p:cNvSpPr>
            <a:spLocks noGrp="1"/>
          </p:cNvSpPr>
          <p:nvPr/>
        </p:nvSpPr>
        <p:spPr>
          <a:xfrm>
            <a:off x="1543050" y="3905250"/>
            <a:ext cx="180975" cy="180975"/>
          </a:xfrm>
          <a:prstGeom prst="ellipse">
            <a:avLst/>
          </a:prstGeom>
          <a:solidFill>
            <a:srgbClr val="13A38E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00BBA1A-7991-4FF1-AC03-DDC9861EAA02}"/>
              </a:ext>
            </a:extLst>
          </p:cNvPr>
          <p:cNvSpPr>
            <a:spLocks noGrp="1"/>
          </p:cNvSpPr>
          <p:nvPr/>
        </p:nvSpPr>
        <p:spPr>
          <a:xfrm>
            <a:off x="1866900" y="4133850"/>
            <a:ext cx="180975" cy="180975"/>
          </a:xfrm>
          <a:prstGeom prst="ellipse">
            <a:avLst/>
          </a:prstGeom>
          <a:solidFill>
            <a:srgbClr val="1F84D6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1CC2617-BF7E-4456-A42B-822B8223BB83}"/>
              </a:ext>
            </a:extLst>
          </p:cNvPr>
          <p:cNvSpPr>
            <a:spLocks noGrp="1"/>
          </p:cNvSpPr>
          <p:nvPr/>
        </p:nvSpPr>
        <p:spPr>
          <a:xfrm>
            <a:off x="2209800" y="3962400"/>
            <a:ext cx="180975" cy="180975"/>
          </a:xfrm>
          <a:prstGeom prst="ellipse">
            <a:avLst/>
          </a:prstGeom>
          <a:solidFill>
            <a:srgbClr val="13A38E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D67592C-690D-437D-A878-92C09A08C5A1}"/>
              </a:ext>
            </a:extLst>
          </p:cNvPr>
          <p:cNvSpPr>
            <a:spLocks noGrp="1"/>
          </p:cNvSpPr>
          <p:nvPr/>
        </p:nvSpPr>
        <p:spPr>
          <a:xfrm>
            <a:off x="2533650" y="4210050"/>
            <a:ext cx="180975" cy="180975"/>
          </a:xfrm>
          <a:prstGeom prst="ellipse">
            <a:avLst/>
          </a:prstGeom>
          <a:solidFill>
            <a:srgbClr val="F47A20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409D33B-0454-4EAE-AB00-698567EC9E8B}"/>
              </a:ext>
            </a:extLst>
          </p:cNvPr>
          <p:cNvSpPr>
            <a:spLocks noGrp="1"/>
          </p:cNvSpPr>
          <p:nvPr/>
        </p:nvSpPr>
        <p:spPr>
          <a:xfrm>
            <a:off x="2800350" y="3905250"/>
            <a:ext cx="180975" cy="180975"/>
          </a:xfrm>
          <a:prstGeom prst="ellipse">
            <a:avLst/>
          </a:prstGeom>
          <a:solidFill>
            <a:srgbClr val="1F84D6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3AD406E-685A-4A98-8188-E9A4135046AE}"/>
              </a:ext>
            </a:extLst>
          </p:cNvPr>
          <p:cNvSpPr>
            <a:spLocks noGrp="1"/>
          </p:cNvSpPr>
          <p:nvPr/>
        </p:nvSpPr>
        <p:spPr>
          <a:xfrm>
            <a:off x="1085850" y="4419600"/>
            <a:ext cx="180975" cy="180975"/>
          </a:xfrm>
          <a:prstGeom prst="ellipse">
            <a:avLst/>
          </a:prstGeom>
          <a:solidFill>
            <a:srgbClr val="13A38E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2155834-5B90-4ED1-8223-48B14A34A425}"/>
              </a:ext>
            </a:extLst>
          </p:cNvPr>
          <p:cNvSpPr>
            <a:spLocks noGrp="1"/>
          </p:cNvSpPr>
          <p:nvPr/>
        </p:nvSpPr>
        <p:spPr>
          <a:xfrm>
            <a:off x="1447800" y="4533900"/>
            <a:ext cx="180975" cy="180975"/>
          </a:xfrm>
          <a:prstGeom prst="ellipse">
            <a:avLst/>
          </a:prstGeom>
          <a:solidFill>
            <a:srgbClr val="1F84D6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F1EE4F4-28DC-464A-9A19-D90205477D30}"/>
              </a:ext>
            </a:extLst>
          </p:cNvPr>
          <p:cNvSpPr>
            <a:spLocks noGrp="1"/>
          </p:cNvSpPr>
          <p:nvPr/>
        </p:nvSpPr>
        <p:spPr>
          <a:xfrm>
            <a:off x="1809750" y="4419600"/>
            <a:ext cx="180975" cy="180975"/>
          </a:xfrm>
          <a:prstGeom prst="ellipse">
            <a:avLst/>
          </a:prstGeom>
          <a:solidFill>
            <a:srgbClr val="F47A20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BE76F0A-E2FE-42AE-A56D-1CBB610F73F2}"/>
              </a:ext>
            </a:extLst>
          </p:cNvPr>
          <p:cNvSpPr>
            <a:spLocks noGrp="1"/>
          </p:cNvSpPr>
          <p:nvPr/>
        </p:nvSpPr>
        <p:spPr>
          <a:xfrm>
            <a:off x="2152650" y="4629150"/>
            <a:ext cx="180975" cy="180975"/>
          </a:xfrm>
          <a:prstGeom prst="ellipse">
            <a:avLst/>
          </a:prstGeom>
          <a:solidFill>
            <a:srgbClr val="1F84D6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61AB0BE-7999-49A2-9608-0FE10525CA39}"/>
              </a:ext>
            </a:extLst>
          </p:cNvPr>
          <p:cNvSpPr>
            <a:spLocks noGrp="1"/>
          </p:cNvSpPr>
          <p:nvPr/>
        </p:nvSpPr>
        <p:spPr>
          <a:xfrm>
            <a:off x="2476500" y="4476750"/>
            <a:ext cx="180975" cy="180975"/>
          </a:xfrm>
          <a:prstGeom prst="ellipse">
            <a:avLst/>
          </a:prstGeom>
          <a:solidFill>
            <a:srgbClr val="13A38E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69E5F14-187A-49C4-BA60-58011F9C9DA4}"/>
              </a:ext>
            </a:extLst>
          </p:cNvPr>
          <p:cNvSpPr>
            <a:spLocks noGrp="1"/>
          </p:cNvSpPr>
          <p:nvPr/>
        </p:nvSpPr>
        <p:spPr>
          <a:xfrm>
            <a:off x="2809875" y="4648200"/>
            <a:ext cx="180975" cy="180975"/>
          </a:xfrm>
          <a:prstGeom prst="ellipse">
            <a:avLst/>
          </a:prstGeom>
          <a:solidFill>
            <a:srgbClr val="1F84D6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8F29342-5856-42C9-97BA-2CF28FB40E81}"/>
              </a:ext>
            </a:extLst>
          </p:cNvPr>
          <p:cNvSpPr>
            <a:spLocks noGrp="1"/>
          </p:cNvSpPr>
          <p:nvPr/>
        </p:nvSpPr>
        <p:spPr>
          <a:xfrm>
            <a:off x="1219200" y="4838700"/>
            <a:ext cx="19431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rPr>
              <a:t>Same epidemic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367C5FC-6904-41A0-8944-454143D5209E}"/>
              </a:ext>
            </a:extLst>
          </p:cNvPr>
          <p:cNvSpPr>
            <a:spLocks noGrp="1"/>
          </p:cNvSpPr>
          <p:nvPr/>
        </p:nvSpPr>
        <p:spPr>
          <a:xfrm>
            <a:off x="3790950" y="3333750"/>
            <a:ext cx="647700" cy="57150"/>
          </a:xfrm>
          <a:prstGeom prst="rect">
            <a:avLst/>
          </a:prstGeom>
          <a:solidFill>
            <a:srgbClr val="B8C7D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Chevron 42">
            <a:extLst>
              <a:ext uri="{FF2B5EF4-FFF2-40B4-BE49-F238E27FC236}">
                <a16:creationId xmlns:a16="http://schemas.microsoft.com/office/drawing/2014/main" id="{BAA89FD3-4465-4CAA-BBCD-9100C923F3EF}"/>
              </a:ext>
            </a:extLst>
          </p:cNvPr>
          <p:cNvSpPr>
            <a:spLocks noGrp="1"/>
          </p:cNvSpPr>
          <p:nvPr/>
        </p:nvSpPr>
        <p:spPr>
          <a:xfrm>
            <a:off x="4229100" y="3162300"/>
            <a:ext cx="400050" cy="400050"/>
          </a:xfrm>
          <a:prstGeom prst="chevron">
            <a:avLst/>
          </a:prstGeom>
          <a:solidFill>
            <a:srgbClr val="B8C7D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61E8B1F-BB62-42AE-A927-9D33A37B9D89}"/>
              </a:ext>
            </a:extLst>
          </p:cNvPr>
          <p:cNvSpPr>
            <a:spLocks noGrp="1"/>
          </p:cNvSpPr>
          <p:nvPr/>
        </p:nvSpPr>
        <p:spPr>
          <a:xfrm>
            <a:off x="4476750" y="1381125"/>
            <a:ext cx="3829050" cy="4057650"/>
          </a:xfrm>
          <a:prstGeom prst="roundRect">
            <a:avLst>
              <a:gd name="adj" fmla="val 1990"/>
            </a:avLst>
          </a:prstGeom>
          <a:solidFill>
            <a:srgbClr val="F6F8FA"/>
          </a:solidFill>
          <a:ln w="14288">
            <a:solidFill>
              <a:srgbClr val="B8C7D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B333E79-F7D7-40D2-ABCF-35D4C9D523FF}"/>
              </a:ext>
            </a:extLst>
          </p:cNvPr>
          <p:cNvSpPr>
            <a:spLocks noGrp="1"/>
          </p:cNvSpPr>
          <p:nvPr/>
        </p:nvSpPr>
        <p:spPr>
          <a:xfrm>
            <a:off x="4648200" y="1562100"/>
            <a:ext cx="323850" cy="323850"/>
          </a:xfrm>
          <a:prstGeom prst="ellipse">
            <a:avLst/>
          </a:prstGeom>
          <a:solidFill>
            <a:srgbClr val="0B245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A3294F8-D850-4B88-B32F-BD416E7BEFF5}"/>
              </a:ext>
            </a:extLst>
          </p:cNvPr>
          <p:cNvSpPr>
            <a:spLocks noGrp="1"/>
          </p:cNvSpPr>
          <p:nvPr/>
        </p:nvSpPr>
        <p:spPr>
          <a:xfrm>
            <a:off x="4648200" y="1571625"/>
            <a:ext cx="3238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A3779D2-BBBD-4CF7-95CA-0D7F39137A70}"/>
              </a:ext>
            </a:extLst>
          </p:cNvPr>
          <p:cNvSpPr>
            <a:spLocks noGrp="1"/>
          </p:cNvSpPr>
          <p:nvPr/>
        </p:nvSpPr>
        <p:spPr>
          <a:xfrm>
            <a:off x="5067300" y="1524000"/>
            <a:ext cx="27813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7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Surveillance cascade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3C35A1C-5C3B-46A6-BE13-3D275FA0AAEB}"/>
              </a:ext>
            </a:extLst>
          </p:cNvPr>
          <p:cNvSpPr>
            <a:spLocks noGrp="1"/>
          </p:cNvSpPr>
          <p:nvPr/>
        </p:nvSpPr>
        <p:spPr>
          <a:xfrm>
            <a:off x="5067300" y="1809750"/>
            <a:ext cx="28956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1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1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Care, testing, specimens, sequencing, and metadata progressively determine inclusion.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F4B10E5-E772-440C-A556-12E9E73F1334}"/>
              </a:ext>
            </a:extLst>
          </p:cNvPr>
          <p:cNvSpPr>
            <a:spLocks noGrp="1"/>
          </p:cNvSpPr>
          <p:nvPr/>
        </p:nvSpPr>
        <p:spPr>
          <a:xfrm>
            <a:off x="4743450" y="2305050"/>
            <a:ext cx="3257550" cy="19050"/>
          </a:xfrm>
          <a:prstGeom prst="rect">
            <a:avLst/>
          </a:prstGeom>
          <a:solidFill>
            <a:srgbClr val="B8C7D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BEF9CEA-E72C-4258-928C-CD1875712D45}"/>
              </a:ext>
            </a:extLst>
          </p:cNvPr>
          <p:cNvSpPr>
            <a:spLocks noGrp="1"/>
          </p:cNvSpPr>
          <p:nvPr/>
        </p:nvSpPr>
        <p:spPr>
          <a:xfrm>
            <a:off x="4648200" y="2495550"/>
            <a:ext cx="323850" cy="323850"/>
          </a:xfrm>
          <a:prstGeom prst="ellipse">
            <a:avLst/>
          </a:prstGeom>
          <a:solidFill>
            <a:srgbClr val="1F84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F803EBC-07B4-47F4-B4B3-0BF1626A829B}"/>
              </a:ext>
            </a:extLst>
          </p:cNvPr>
          <p:cNvSpPr>
            <a:spLocks noGrp="1"/>
          </p:cNvSpPr>
          <p:nvPr/>
        </p:nvSpPr>
        <p:spPr>
          <a:xfrm>
            <a:off x="4648200" y="2505075"/>
            <a:ext cx="3238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7C01B57-669E-468D-9E49-5BE24516B5C0}"/>
              </a:ext>
            </a:extLst>
          </p:cNvPr>
          <p:cNvSpPr>
            <a:spLocks noGrp="1"/>
          </p:cNvSpPr>
          <p:nvPr/>
        </p:nvSpPr>
        <p:spPr>
          <a:xfrm>
            <a:off x="5067300" y="2457450"/>
            <a:ext cx="21431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Time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D2B80A0-002F-4E3E-844C-89C68000158B}"/>
              </a:ext>
            </a:extLst>
          </p:cNvPr>
          <p:cNvSpPr>
            <a:spLocks noGrp="1"/>
          </p:cNvSpPr>
          <p:nvPr/>
        </p:nvSpPr>
        <p:spPr>
          <a:xfrm>
            <a:off x="5067300" y="2705100"/>
            <a:ext cx="214312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38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Uneven timing changes apparent growth and persistence.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62BF11F-5C39-46A6-8A18-8E3343DDCEF9}"/>
              </a:ext>
            </a:extLst>
          </p:cNvPr>
          <p:cNvSpPr>
            <a:spLocks noGrp="1"/>
          </p:cNvSpPr>
          <p:nvPr/>
        </p:nvSpPr>
        <p:spPr>
          <a:xfrm>
            <a:off x="7334250" y="2552700"/>
            <a:ext cx="819150" cy="238125"/>
          </a:xfrm>
          <a:prstGeom prst="roundRect">
            <a:avLst>
              <a:gd name="adj" fmla="val 32000"/>
            </a:avLst>
          </a:prstGeom>
          <a:solidFill>
            <a:srgbClr val="EAF2F8"/>
          </a:solidFill>
          <a:ln w="12383">
            <a:solidFill>
              <a:srgbClr val="1F84D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71D335D-96D9-4C4C-813D-76AF91F00A5D}"/>
              </a:ext>
            </a:extLst>
          </p:cNvPr>
          <p:cNvSpPr>
            <a:spLocks noGrp="1"/>
          </p:cNvSpPr>
          <p:nvPr/>
        </p:nvSpPr>
        <p:spPr>
          <a:xfrm>
            <a:off x="7334250" y="2552700"/>
            <a:ext cx="81915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25" b="1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rPr>
              <a:t>selection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CDE95504-AE52-4DCF-A27F-9558C136EA56}"/>
              </a:ext>
            </a:extLst>
          </p:cNvPr>
          <p:cNvSpPr>
            <a:spLocks noGrp="1"/>
          </p:cNvSpPr>
          <p:nvPr/>
        </p:nvSpPr>
        <p:spPr>
          <a:xfrm>
            <a:off x="4648200" y="3162300"/>
            <a:ext cx="323850" cy="323850"/>
          </a:xfrm>
          <a:prstGeom prst="ellipse">
            <a:avLst/>
          </a:prstGeom>
          <a:solidFill>
            <a:srgbClr val="13A38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D387585-06CB-4E4D-827E-7179A26F6225}"/>
              </a:ext>
            </a:extLst>
          </p:cNvPr>
          <p:cNvSpPr>
            <a:spLocks noGrp="1"/>
          </p:cNvSpPr>
          <p:nvPr/>
        </p:nvSpPr>
        <p:spPr>
          <a:xfrm>
            <a:off x="4648200" y="3171825"/>
            <a:ext cx="3238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D0C163C-489C-426F-A084-02A5E562F986}"/>
              </a:ext>
            </a:extLst>
          </p:cNvPr>
          <p:cNvSpPr>
            <a:spLocks noGrp="1"/>
          </p:cNvSpPr>
          <p:nvPr/>
        </p:nvSpPr>
        <p:spPr>
          <a:xfrm>
            <a:off x="5067300" y="3124200"/>
            <a:ext cx="21431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Place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4CDAD09-3D2E-4B4A-AC4D-DA8D51D0F4FE}"/>
              </a:ext>
            </a:extLst>
          </p:cNvPr>
          <p:cNvSpPr>
            <a:spLocks noGrp="1"/>
          </p:cNvSpPr>
          <p:nvPr/>
        </p:nvSpPr>
        <p:spPr>
          <a:xfrm>
            <a:off x="5067300" y="3371850"/>
            <a:ext cx="214312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38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Uneven coverage changes structure and source attribution.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A4F83481-C2B1-4A2A-85AF-113C903464E7}"/>
              </a:ext>
            </a:extLst>
          </p:cNvPr>
          <p:cNvSpPr>
            <a:spLocks noGrp="1"/>
          </p:cNvSpPr>
          <p:nvPr/>
        </p:nvSpPr>
        <p:spPr>
          <a:xfrm>
            <a:off x="7334250" y="3219450"/>
            <a:ext cx="819150" cy="238125"/>
          </a:xfrm>
          <a:prstGeom prst="roundRect">
            <a:avLst>
              <a:gd name="adj" fmla="val 32000"/>
            </a:avLst>
          </a:prstGeom>
          <a:solidFill>
            <a:srgbClr val="E6F4F1"/>
          </a:solidFill>
          <a:ln w="12383">
            <a:solidFill>
              <a:srgbClr val="13A38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D0BDC26-B505-4936-8BE5-F56E78C552D9}"/>
              </a:ext>
            </a:extLst>
          </p:cNvPr>
          <p:cNvSpPr>
            <a:spLocks noGrp="1"/>
          </p:cNvSpPr>
          <p:nvPr/>
        </p:nvSpPr>
        <p:spPr>
          <a:xfrm>
            <a:off x="7334250" y="3219450"/>
            <a:ext cx="81915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25" b="1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13A38E"/>
                </a:solidFill>
                <a:latin typeface="Bitstream Charter"/>
                <a:ea typeface="Bitstream Charter"/>
                <a:cs typeface="Bitstream Charter"/>
              </a:rPr>
              <a:t>selection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4A8EE167-826C-4323-9A4C-47FB3B1724BB}"/>
              </a:ext>
            </a:extLst>
          </p:cNvPr>
          <p:cNvSpPr>
            <a:spLocks noGrp="1"/>
          </p:cNvSpPr>
          <p:nvPr/>
        </p:nvSpPr>
        <p:spPr>
          <a:xfrm>
            <a:off x="4648200" y="3829050"/>
            <a:ext cx="323850" cy="323850"/>
          </a:xfrm>
          <a:prstGeom prst="ellipse">
            <a:avLst/>
          </a:prstGeom>
          <a:solidFill>
            <a:srgbClr val="F47A2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B11805F-E3BC-4694-8180-3C0C1F01E35F}"/>
              </a:ext>
            </a:extLst>
          </p:cNvPr>
          <p:cNvSpPr>
            <a:spLocks noGrp="1"/>
          </p:cNvSpPr>
          <p:nvPr/>
        </p:nvSpPr>
        <p:spPr>
          <a:xfrm>
            <a:off x="4648200" y="3838575"/>
            <a:ext cx="3238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BD5D955-4162-42B2-8FD1-2AEFB76E0A5D}"/>
              </a:ext>
            </a:extLst>
          </p:cNvPr>
          <p:cNvSpPr>
            <a:spLocks noGrp="1"/>
          </p:cNvSpPr>
          <p:nvPr/>
        </p:nvSpPr>
        <p:spPr>
          <a:xfrm>
            <a:off x="5067300" y="3790950"/>
            <a:ext cx="21431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Clinical detection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C76E51C-B91D-4CDE-A5FC-9906CFC92537}"/>
              </a:ext>
            </a:extLst>
          </p:cNvPr>
          <p:cNvSpPr>
            <a:spLocks noGrp="1"/>
          </p:cNvSpPr>
          <p:nvPr/>
        </p:nvSpPr>
        <p:spPr>
          <a:xfrm>
            <a:off x="5067300" y="4038600"/>
            <a:ext cx="214312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38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Ascertainment can mimic relative lineage growth.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31E77DCD-922C-4F17-BA5A-2BD07B18E4EF}"/>
              </a:ext>
            </a:extLst>
          </p:cNvPr>
          <p:cNvSpPr>
            <a:spLocks noGrp="1"/>
          </p:cNvSpPr>
          <p:nvPr/>
        </p:nvSpPr>
        <p:spPr>
          <a:xfrm>
            <a:off x="7334250" y="3886200"/>
            <a:ext cx="819150" cy="238125"/>
          </a:xfrm>
          <a:prstGeom prst="roundRect">
            <a:avLst>
              <a:gd name="adj" fmla="val 32000"/>
            </a:avLst>
          </a:prstGeom>
          <a:solidFill>
            <a:srgbClr val="FFF0E5"/>
          </a:solidFill>
          <a:ln w="12383">
            <a:solidFill>
              <a:srgbClr val="F47A2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EC8A3E6-0C84-4C08-8F27-50731DB47399}"/>
              </a:ext>
            </a:extLst>
          </p:cNvPr>
          <p:cNvSpPr>
            <a:spLocks noGrp="1"/>
          </p:cNvSpPr>
          <p:nvPr/>
        </p:nvSpPr>
        <p:spPr>
          <a:xfrm>
            <a:off x="7334250" y="3886200"/>
            <a:ext cx="81915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25" b="1">
                <a:solidFill>
                  <a:srgbClr val="F47A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F47A20"/>
                </a:solidFill>
                <a:latin typeface="Bitstream Charter"/>
                <a:ea typeface="Bitstream Charter"/>
                <a:cs typeface="Bitstream Charter"/>
              </a:rPr>
              <a:t>selection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13195E8F-A9C1-4EEA-8107-B1842846DE9F}"/>
              </a:ext>
            </a:extLst>
          </p:cNvPr>
          <p:cNvSpPr>
            <a:spLocks noGrp="1"/>
          </p:cNvSpPr>
          <p:nvPr/>
        </p:nvSpPr>
        <p:spPr>
          <a:xfrm>
            <a:off x="4648200" y="4495800"/>
            <a:ext cx="323850" cy="323850"/>
          </a:xfrm>
          <a:prstGeom prst="ellipse">
            <a:avLst/>
          </a:prstGeom>
          <a:solidFill>
            <a:srgbClr val="0B245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37BD152-3491-4900-B534-F1CD66225233}"/>
              </a:ext>
            </a:extLst>
          </p:cNvPr>
          <p:cNvSpPr>
            <a:spLocks noGrp="1"/>
          </p:cNvSpPr>
          <p:nvPr/>
        </p:nvSpPr>
        <p:spPr>
          <a:xfrm>
            <a:off x="4648200" y="4505325"/>
            <a:ext cx="3238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6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D93EDB4-9434-4656-A313-3834C70A1F70}"/>
              </a:ext>
            </a:extLst>
          </p:cNvPr>
          <p:cNvSpPr>
            <a:spLocks noGrp="1"/>
          </p:cNvSpPr>
          <p:nvPr/>
        </p:nvSpPr>
        <p:spPr>
          <a:xfrm>
            <a:off x="5067300" y="4457700"/>
            <a:ext cx="21431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Investigation intensity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DFC564D-9B1C-4A72-A491-1B6E0EDCA013}"/>
              </a:ext>
            </a:extLst>
          </p:cNvPr>
          <p:cNvSpPr>
            <a:spLocks noGrp="1"/>
          </p:cNvSpPr>
          <p:nvPr/>
        </p:nvSpPr>
        <p:spPr>
          <a:xfrm>
            <a:off x="5067300" y="4705350"/>
            <a:ext cx="214312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38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Cluster sampling can dominate a regional dataset.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5A20DD28-825F-4006-BDA3-0D87EF7133D7}"/>
              </a:ext>
            </a:extLst>
          </p:cNvPr>
          <p:cNvSpPr>
            <a:spLocks noGrp="1"/>
          </p:cNvSpPr>
          <p:nvPr/>
        </p:nvSpPr>
        <p:spPr>
          <a:xfrm>
            <a:off x="7334250" y="4552950"/>
            <a:ext cx="819150" cy="238125"/>
          </a:xfrm>
          <a:prstGeom prst="roundRect">
            <a:avLst>
              <a:gd name="adj" fmla="val 32000"/>
            </a:avLst>
          </a:prstGeom>
          <a:solidFill>
            <a:srgbClr val="EAF2F8"/>
          </a:solidFill>
          <a:ln w="12383">
            <a:solidFill>
              <a:srgbClr val="0B245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CA7F57D-84CE-46A6-A918-755DF4F11839}"/>
              </a:ext>
            </a:extLst>
          </p:cNvPr>
          <p:cNvSpPr>
            <a:spLocks noGrp="1"/>
          </p:cNvSpPr>
          <p:nvPr/>
        </p:nvSpPr>
        <p:spPr>
          <a:xfrm>
            <a:off x="7334250" y="4552950"/>
            <a:ext cx="81915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2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selection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274AEF0-F965-4AC5-916D-0120B4E918C6}"/>
              </a:ext>
            </a:extLst>
          </p:cNvPr>
          <p:cNvSpPr>
            <a:spLocks noGrp="1"/>
          </p:cNvSpPr>
          <p:nvPr/>
        </p:nvSpPr>
        <p:spPr>
          <a:xfrm>
            <a:off x="8305800" y="3333750"/>
            <a:ext cx="609600" cy="57150"/>
          </a:xfrm>
          <a:prstGeom prst="rect">
            <a:avLst/>
          </a:prstGeom>
          <a:solidFill>
            <a:srgbClr val="B8C7D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" name="Chevron 74">
            <a:extLst>
              <a:ext uri="{FF2B5EF4-FFF2-40B4-BE49-F238E27FC236}">
                <a16:creationId xmlns:a16="http://schemas.microsoft.com/office/drawing/2014/main" id="{68DF11A2-F656-4792-9935-8B2029DB58F0}"/>
              </a:ext>
            </a:extLst>
          </p:cNvPr>
          <p:cNvSpPr>
            <a:spLocks noGrp="1"/>
          </p:cNvSpPr>
          <p:nvPr/>
        </p:nvSpPr>
        <p:spPr>
          <a:xfrm>
            <a:off x="8705850" y="3162300"/>
            <a:ext cx="400050" cy="400050"/>
          </a:xfrm>
          <a:prstGeom prst="chevron">
            <a:avLst/>
          </a:prstGeom>
          <a:solidFill>
            <a:srgbClr val="B8C7D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F91F1239-6F85-4C96-B7DF-868F116F004D}"/>
              </a:ext>
            </a:extLst>
          </p:cNvPr>
          <p:cNvSpPr>
            <a:spLocks noGrp="1"/>
          </p:cNvSpPr>
          <p:nvPr/>
        </p:nvSpPr>
        <p:spPr>
          <a:xfrm>
            <a:off x="8991600" y="1485900"/>
            <a:ext cx="2647950" cy="382905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4288">
            <a:solidFill>
              <a:srgbClr val="1F84D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BAF18CA6-7255-48BB-9670-1D3D7624715F}"/>
              </a:ext>
            </a:extLst>
          </p:cNvPr>
          <p:cNvSpPr>
            <a:spLocks noGrp="1"/>
          </p:cNvSpPr>
          <p:nvPr/>
        </p:nvSpPr>
        <p:spPr>
          <a:xfrm>
            <a:off x="9182100" y="1657350"/>
            <a:ext cx="323850" cy="323850"/>
          </a:xfrm>
          <a:prstGeom prst="ellipse">
            <a:avLst/>
          </a:prstGeom>
          <a:solidFill>
            <a:srgbClr val="1F84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D5588EA-55CC-4D8C-BF6E-348C306BB672}"/>
              </a:ext>
            </a:extLst>
          </p:cNvPr>
          <p:cNvSpPr>
            <a:spLocks noGrp="1"/>
          </p:cNvSpPr>
          <p:nvPr/>
        </p:nvSpPr>
        <p:spPr>
          <a:xfrm>
            <a:off x="9182100" y="1666875"/>
            <a:ext cx="3238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3EEEA6C-F5B2-492E-B9CA-1D3D4CBBA9FD}"/>
              </a:ext>
            </a:extLst>
          </p:cNvPr>
          <p:cNvSpPr>
            <a:spLocks noGrp="1"/>
          </p:cNvSpPr>
          <p:nvPr/>
        </p:nvSpPr>
        <p:spPr>
          <a:xfrm>
            <a:off x="9601200" y="1619250"/>
            <a:ext cx="1828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Two observed datasets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93E8850-A64D-4DFC-A5A8-D1CB7F7399E4}"/>
              </a:ext>
            </a:extLst>
          </p:cNvPr>
          <p:cNvSpPr>
            <a:spLocks noGrp="1"/>
          </p:cNvSpPr>
          <p:nvPr/>
        </p:nvSpPr>
        <p:spPr>
          <a:xfrm>
            <a:off x="9220200" y="1971675"/>
            <a:ext cx="2190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1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13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Different inclusion patterns retain different parts of the same epidemic.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588DE82-2B42-41C1-9503-7F2FA1022A80}"/>
              </a:ext>
            </a:extLst>
          </p:cNvPr>
          <p:cNvSpPr>
            <a:spLocks noGrp="1"/>
          </p:cNvSpPr>
          <p:nvPr/>
        </p:nvSpPr>
        <p:spPr>
          <a:xfrm>
            <a:off x="9239250" y="2533650"/>
            <a:ext cx="9906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1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rPr>
              <a:t>Dataset A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F645F4A3-9CAB-4898-9487-1EF389EED9C9}"/>
              </a:ext>
            </a:extLst>
          </p:cNvPr>
          <p:cNvSpPr>
            <a:spLocks noGrp="1"/>
          </p:cNvSpPr>
          <p:nvPr/>
        </p:nvSpPr>
        <p:spPr>
          <a:xfrm>
            <a:off x="9220200" y="2819400"/>
            <a:ext cx="171450" cy="171450"/>
          </a:xfrm>
          <a:prstGeom prst="ellipse">
            <a:avLst/>
          </a:prstGeom>
          <a:solidFill>
            <a:srgbClr val="1F84D6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45FAF2AE-09DA-445A-9DCC-0487C58C227B}"/>
              </a:ext>
            </a:extLst>
          </p:cNvPr>
          <p:cNvSpPr>
            <a:spLocks noGrp="1"/>
          </p:cNvSpPr>
          <p:nvPr/>
        </p:nvSpPr>
        <p:spPr>
          <a:xfrm>
            <a:off x="9486900" y="2819400"/>
            <a:ext cx="171450" cy="171450"/>
          </a:xfrm>
          <a:prstGeom prst="ellipse">
            <a:avLst/>
          </a:prstGeom>
          <a:solidFill>
            <a:srgbClr val="1F84D6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E336445-4D28-4DDC-8DD7-EC0AC999AD60}"/>
              </a:ext>
            </a:extLst>
          </p:cNvPr>
          <p:cNvSpPr>
            <a:spLocks noGrp="1"/>
          </p:cNvSpPr>
          <p:nvPr/>
        </p:nvSpPr>
        <p:spPr>
          <a:xfrm>
            <a:off x="9753600" y="2819400"/>
            <a:ext cx="171450" cy="171450"/>
          </a:xfrm>
          <a:prstGeom prst="ellipse">
            <a:avLst/>
          </a:prstGeom>
          <a:solidFill>
            <a:srgbClr val="1F84D6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0558C065-9433-49FB-9604-6185B1114543}"/>
              </a:ext>
            </a:extLst>
          </p:cNvPr>
          <p:cNvSpPr>
            <a:spLocks noGrp="1"/>
          </p:cNvSpPr>
          <p:nvPr/>
        </p:nvSpPr>
        <p:spPr>
          <a:xfrm>
            <a:off x="10020300" y="2819400"/>
            <a:ext cx="171450" cy="171450"/>
          </a:xfrm>
          <a:prstGeom prst="ellipse">
            <a:avLst/>
          </a:prstGeom>
          <a:solidFill>
            <a:srgbClr val="13A38E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0ACE4710-6F5A-4BCD-A608-C45CFD6296B8}"/>
              </a:ext>
            </a:extLst>
          </p:cNvPr>
          <p:cNvSpPr>
            <a:spLocks noGrp="1"/>
          </p:cNvSpPr>
          <p:nvPr/>
        </p:nvSpPr>
        <p:spPr>
          <a:xfrm>
            <a:off x="9353550" y="3086100"/>
            <a:ext cx="171450" cy="171450"/>
          </a:xfrm>
          <a:prstGeom prst="ellipse">
            <a:avLst/>
          </a:prstGeom>
          <a:solidFill>
            <a:srgbClr val="1F84D6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9E2032EF-E3B8-4A19-ACEA-9B905D8AFF01}"/>
              </a:ext>
            </a:extLst>
          </p:cNvPr>
          <p:cNvSpPr>
            <a:spLocks noGrp="1"/>
          </p:cNvSpPr>
          <p:nvPr/>
        </p:nvSpPr>
        <p:spPr>
          <a:xfrm>
            <a:off x="9620250" y="3086100"/>
            <a:ext cx="171450" cy="171450"/>
          </a:xfrm>
          <a:prstGeom prst="ellipse">
            <a:avLst/>
          </a:prstGeom>
          <a:solidFill>
            <a:srgbClr val="1F84D6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0523B137-82D1-4F5E-80CE-0E7AA813E131}"/>
              </a:ext>
            </a:extLst>
          </p:cNvPr>
          <p:cNvSpPr>
            <a:spLocks noGrp="1"/>
          </p:cNvSpPr>
          <p:nvPr/>
        </p:nvSpPr>
        <p:spPr>
          <a:xfrm>
            <a:off x="9886950" y="3086100"/>
            <a:ext cx="171450" cy="171450"/>
          </a:xfrm>
          <a:prstGeom prst="ellipse">
            <a:avLst/>
          </a:prstGeom>
          <a:solidFill>
            <a:srgbClr val="13A38E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240E203D-A3F6-41B2-A4BC-744C8113533D}"/>
              </a:ext>
            </a:extLst>
          </p:cNvPr>
          <p:cNvSpPr>
            <a:spLocks noGrp="1"/>
          </p:cNvSpPr>
          <p:nvPr/>
        </p:nvSpPr>
        <p:spPr>
          <a:xfrm>
            <a:off x="10153650" y="3086100"/>
            <a:ext cx="171450" cy="171450"/>
          </a:xfrm>
          <a:prstGeom prst="ellipse">
            <a:avLst/>
          </a:prstGeom>
          <a:solidFill>
            <a:srgbClr val="1F84D6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07D98AA-8EF7-44CE-B98A-B8EABCB94F81}"/>
              </a:ext>
            </a:extLst>
          </p:cNvPr>
          <p:cNvSpPr>
            <a:spLocks noGrp="1"/>
          </p:cNvSpPr>
          <p:nvPr/>
        </p:nvSpPr>
        <p:spPr>
          <a:xfrm>
            <a:off x="9220200" y="3352800"/>
            <a:ext cx="171450" cy="171450"/>
          </a:xfrm>
          <a:prstGeom prst="ellipse">
            <a:avLst/>
          </a:prstGeom>
          <a:solidFill>
            <a:srgbClr val="F47A20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C8387956-4CA5-4501-8B59-5BA45EEA177E}"/>
              </a:ext>
            </a:extLst>
          </p:cNvPr>
          <p:cNvSpPr>
            <a:spLocks noGrp="1"/>
          </p:cNvSpPr>
          <p:nvPr/>
        </p:nvSpPr>
        <p:spPr>
          <a:xfrm>
            <a:off x="9486900" y="3352800"/>
            <a:ext cx="171450" cy="171450"/>
          </a:xfrm>
          <a:prstGeom prst="ellipse">
            <a:avLst/>
          </a:prstGeom>
          <a:solidFill>
            <a:srgbClr val="1F84D6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ECB74F0D-2A34-49F0-AB0B-39AF6D9FC6B6}"/>
              </a:ext>
            </a:extLst>
          </p:cNvPr>
          <p:cNvSpPr>
            <a:spLocks noGrp="1"/>
          </p:cNvSpPr>
          <p:nvPr/>
        </p:nvSpPr>
        <p:spPr>
          <a:xfrm>
            <a:off x="9753600" y="3352800"/>
            <a:ext cx="171450" cy="171450"/>
          </a:xfrm>
          <a:prstGeom prst="ellipse">
            <a:avLst/>
          </a:prstGeom>
          <a:solidFill>
            <a:srgbClr val="13A38E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F5510BEF-5F04-427A-9714-6DBCDB4BFA33}"/>
              </a:ext>
            </a:extLst>
          </p:cNvPr>
          <p:cNvSpPr>
            <a:spLocks noGrp="1"/>
          </p:cNvSpPr>
          <p:nvPr/>
        </p:nvSpPr>
        <p:spPr>
          <a:xfrm>
            <a:off x="10020300" y="3352800"/>
            <a:ext cx="171450" cy="171450"/>
          </a:xfrm>
          <a:prstGeom prst="ellipse">
            <a:avLst/>
          </a:prstGeom>
          <a:solidFill>
            <a:srgbClr val="1F84D6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C09B7E0-62B8-487C-8193-875667117BB3}"/>
              </a:ext>
            </a:extLst>
          </p:cNvPr>
          <p:cNvSpPr>
            <a:spLocks noGrp="1"/>
          </p:cNvSpPr>
          <p:nvPr/>
        </p:nvSpPr>
        <p:spPr>
          <a:xfrm>
            <a:off x="10401300" y="2533650"/>
            <a:ext cx="9906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1">
                <a:solidFill>
                  <a:srgbClr val="F47A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47A20"/>
                </a:solidFill>
                <a:latin typeface="Bitstream Charter"/>
                <a:ea typeface="Bitstream Charter"/>
                <a:cs typeface="Bitstream Charter"/>
              </a:rPr>
              <a:t>Dataset B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1C4607BE-DA9E-449F-B233-C05397F05216}"/>
              </a:ext>
            </a:extLst>
          </p:cNvPr>
          <p:cNvSpPr>
            <a:spLocks noGrp="1"/>
          </p:cNvSpPr>
          <p:nvPr/>
        </p:nvSpPr>
        <p:spPr>
          <a:xfrm>
            <a:off x="10363200" y="2819400"/>
            <a:ext cx="171450" cy="171450"/>
          </a:xfrm>
          <a:prstGeom prst="ellipse">
            <a:avLst/>
          </a:prstGeom>
          <a:solidFill>
            <a:srgbClr val="F47A20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438B1527-7D30-4449-87A2-59A9806C51F0}"/>
              </a:ext>
            </a:extLst>
          </p:cNvPr>
          <p:cNvSpPr>
            <a:spLocks noGrp="1"/>
          </p:cNvSpPr>
          <p:nvPr/>
        </p:nvSpPr>
        <p:spPr>
          <a:xfrm>
            <a:off x="10629900" y="2819400"/>
            <a:ext cx="171450" cy="171450"/>
          </a:xfrm>
          <a:prstGeom prst="ellipse">
            <a:avLst/>
          </a:prstGeom>
          <a:solidFill>
            <a:srgbClr val="13A38E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4608EF08-1DAD-4F2C-8ABF-720B11665EC9}"/>
              </a:ext>
            </a:extLst>
          </p:cNvPr>
          <p:cNvSpPr>
            <a:spLocks noGrp="1"/>
          </p:cNvSpPr>
          <p:nvPr/>
        </p:nvSpPr>
        <p:spPr>
          <a:xfrm>
            <a:off x="10896600" y="2819400"/>
            <a:ext cx="171450" cy="171450"/>
          </a:xfrm>
          <a:prstGeom prst="ellipse">
            <a:avLst/>
          </a:prstGeom>
          <a:solidFill>
            <a:srgbClr val="F47A20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BBA6AF84-7FEF-4CF0-8A9A-DDD1910F57F0}"/>
              </a:ext>
            </a:extLst>
          </p:cNvPr>
          <p:cNvSpPr>
            <a:spLocks noGrp="1"/>
          </p:cNvSpPr>
          <p:nvPr/>
        </p:nvSpPr>
        <p:spPr>
          <a:xfrm>
            <a:off x="11163300" y="2819400"/>
            <a:ext cx="171450" cy="171450"/>
          </a:xfrm>
          <a:prstGeom prst="ellipse">
            <a:avLst/>
          </a:prstGeom>
          <a:solidFill>
            <a:srgbClr val="F47A20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B95E085E-F622-41DE-A657-A5C00433A1F2}"/>
              </a:ext>
            </a:extLst>
          </p:cNvPr>
          <p:cNvSpPr>
            <a:spLocks noGrp="1"/>
          </p:cNvSpPr>
          <p:nvPr/>
        </p:nvSpPr>
        <p:spPr>
          <a:xfrm>
            <a:off x="10496550" y="3086100"/>
            <a:ext cx="171450" cy="171450"/>
          </a:xfrm>
          <a:prstGeom prst="ellipse">
            <a:avLst/>
          </a:prstGeom>
          <a:solidFill>
            <a:srgbClr val="13A38E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D5D62C1E-8776-433A-A728-04417C9F4C22}"/>
              </a:ext>
            </a:extLst>
          </p:cNvPr>
          <p:cNvSpPr>
            <a:spLocks noGrp="1"/>
          </p:cNvSpPr>
          <p:nvPr/>
        </p:nvSpPr>
        <p:spPr>
          <a:xfrm>
            <a:off x="10763250" y="3086100"/>
            <a:ext cx="171450" cy="171450"/>
          </a:xfrm>
          <a:prstGeom prst="ellipse">
            <a:avLst/>
          </a:prstGeom>
          <a:solidFill>
            <a:srgbClr val="F47A20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F2603B63-0790-4ED6-ACB2-A6ADFD10ED10}"/>
              </a:ext>
            </a:extLst>
          </p:cNvPr>
          <p:cNvSpPr>
            <a:spLocks noGrp="1"/>
          </p:cNvSpPr>
          <p:nvPr/>
        </p:nvSpPr>
        <p:spPr>
          <a:xfrm>
            <a:off x="11029950" y="3086100"/>
            <a:ext cx="171450" cy="171450"/>
          </a:xfrm>
          <a:prstGeom prst="ellipse">
            <a:avLst/>
          </a:prstGeom>
          <a:solidFill>
            <a:srgbClr val="1F84D6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985CCBB9-E917-44CF-8A82-5EE29B49E6FF}"/>
              </a:ext>
            </a:extLst>
          </p:cNvPr>
          <p:cNvSpPr>
            <a:spLocks noGrp="1"/>
          </p:cNvSpPr>
          <p:nvPr/>
        </p:nvSpPr>
        <p:spPr>
          <a:xfrm>
            <a:off x="11296650" y="3086100"/>
            <a:ext cx="171450" cy="171450"/>
          </a:xfrm>
          <a:prstGeom prst="ellipse">
            <a:avLst/>
          </a:prstGeom>
          <a:solidFill>
            <a:srgbClr val="F47A20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94DC5844-49F6-4AB6-B1A4-7156062EB72F}"/>
              </a:ext>
            </a:extLst>
          </p:cNvPr>
          <p:cNvSpPr>
            <a:spLocks noGrp="1"/>
          </p:cNvSpPr>
          <p:nvPr/>
        </p:nvSpPr>
        <p:spPr>
          <a:xfrm>
            <a:off x="10363200" y="3352800"/>
            <a:ext cx="171450" cy="171450"/>
          </a:xfrm>
          <a:prstGeom prst="ellipse">
            <a:avLst/>
          </a:prstGeom>
          <a:solidFill>
            <a:srgbClr val="13A38E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7FA16D3A-91D4-4FE0-976F-2A6433FF9628}"/>
              </a:ext>
            </a:extLst>
          </p:cNvPr>
          <p:cNvSpPr>
            <a:spLocks noGrp="1"/>
          </p:cNvSpPr>
          <p:nvPr/>
        </p:nvSpPr>
        <p:spPr>
          <a:xfrm>
            <a:off x="10629900" y="3352800"/>
            <a:ext cx="171450" cy="171450"/>
          </a:xfrm>
          <a:prstGeom prst="ellipse">
            <a:avLst/>
          </a:prstGeom>
          <a:solidFill>
            <a:srgbClr val="F47A20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F6C9BAC5-E2F7-49E4-895C-D82F006B5BE6}"/>
              </a:ext>
            </a:extLst>
          </p:cNvPr>
          <p:cNvSpPr>
            <a:spLocks noGrp="1"/>
          </p:cNvSpPr>
          <p:nvPr/>
        </p:nvSpPr>
        <p:spPr>
          <a:xfrm>
            <a:off x="10896600" y="3352800"/>
            <a:ext cx="171450" cy="171450"/>
          </a:xfrm>
          <a:prstGeom prst="ellipse">
            <a:avLst/>
          </a:prstGeom>
          <a:solidFill>
            <a:srgbClr val="F47A20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2DFDF4FF-BD2F-4755-9501-30A0ADB7259E}"/>
              </a:ext>
            </a:extLst>
          </p:cNvPr>
          <p:cNvSpPr>
            <a:spLocks noGrp="1"/>
          </p:cNvSpPr>
          <p:nvPr/>
        </p:nvSpPr>
        <p:spPr>
          <a:xfrm>
            <a:off x="11163300" y="3352800"/>
            <a:ext cx="171450" cy="171450"/>
          </a:xfrm>
          <a:prstGeom prst="ellipse">
            <a:avLst/>
          </a:prstGeom>
          <a:solidFill>
            <a:srgbClr val="13A38E"/>
          </a:solidFill>
          <a:ln w="12383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F005862-3949-4650-837C-830BC95D9C82}"/>
              </a:ext>
            </a:extLst>
          </p:cNvPr>
          <p:cNvSpPr>
            <a:spLocks noGrp="1"/>
          </p:cNvSpPr>
          <p:nvPr/>
        </p:nvSpPr>
        <p:spPr>
          <a:xfrm>
            <a:off x="9258300" y="3790950"/>
            <a:ext cx="21145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Different apparent abundance, growth, geographic structure, source, and clustering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9BAD36F-1DF8-4927-AB43-87A0AB605325}"/>
              </a:ext>
            </a:extLst>
          </p:cNvPr>
          <p:cNvSpPr>
            <a:spLocks noGrp="1"/>
          </p:cNvSpPr>
          <p:nvPr/>
        </p:nvSpPr>
        <p:spPr>
          <a:xfrm>
            <a:off x="9258300" y="4762500"/>
            <a:ext cx="2114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38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64717E"/>
                </a:solidFill>
                <a:latin typeface="Bitstream Charter"/>
                <a:ea typeface="Bitstream Charter"/>
                <a:cs typeface="Bitstream Charter"/>
              </a:rPr>
              <a:t>Both datasets are complete records of what was sampled.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798B36C3-3FD8-4F4D-AE0B-84483799DA09}"/>
              </a:ext>
            </a:extLst>
          </p:cNvPr>
          <p:cNvSpPr>
            <a:spLocks noGrp="1"/>
          </p:cNvSpPr>
          <p:nvPr/>
        </p:nvSpPr>
        <p:spPr>
          <a:xfrm>
            <a:off x="552450" y="5619750"/>
            <a:ext cx="11087100" cy="838200"/>
          </a:xfrm>
          <a:prstGeom prst="roundRect">
            <a:avLst>
              <a:gd name="adj" fmla="val 9091"/>
            </a:avLst>
          </a:prstGeom>
          <a:solidFill>
            <a:srgbClr val="0B245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824F4E4-CD7B-475B-9D55-72E5AF4DB6A2}"/>
              </a:ext>
            </a:extLst>
          </p:cNvPr>
          <p:cNvSpPr>
            <a:spLocks noGrp="1"/>
          </p:cNvSpPr>
          <p:nvPr/>
        </p:nvSpPr>
        <p:spPr>
          <a:xfrm>
            <a:off x="800100" y="5753100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Interpretive consequence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670A084-C8CF-423A-9181-50468520310D}"/>
              </a:ext>
            </a:extLst>
          </p:cNvPr>
          <p:cNvSpPr>
            <a:spLocks noGrp="1"/>
          </p:cNvSpPr>
          <p:nvPr/>
        </p:nvSpPr>
        <p:spPr>
          <a:xfrm>
            <a:off x="800100" y="6019800"/>
            <a:ext cx="103632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The observed genomic dataset reflects the pathogen process and the observation process.</a:t>
            </a:r>
          </a:p>
        </p:txBody>
      </p:sp>
    </p:spTree>
    <p:extLst>
      <p:ext uri="{BB962C8B-B14F-4D97-AF65-F5344CB8AC3E}">
        <p14:creationId xmlns:p14="http://schemas.microsoft.com/office/powerpoint/2010/main" val="164070514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607</Words>
  <Application>Microsoft Macintosh PowerPoint</Application>
  <DocSecurity>0</DocSecurity>
  <PresentationFormat>Widescreen</PresentationFormat>
  <Paragraphs>88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Aptos</vt:lpstr>
      <vt:lpstr>Bitstream Charter</vt:lpstr>
      <vt:lpstr>ChatGPT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Justin Bahl</cp:lastModifiedBy>
  <cp:revision>1</cp:revision>
  <dcterms:created xsi:type="dcterms:W3CDTF">2026-09-27T19:56:32Z</dcterms:created>
  <dcterms:modified xsi:type="dcterms:W3CDTF">2026-09-30T17:19:52Z</dcterms:modified>
</cp:coreProperties>
</file>