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5915a7e12047b1" /><Relationship Type="http://schemas.openxmlformats.org/officeDocument/2006/relationships/extended-properties" Target="/docProps/app.xml" Id="Re8200446501047c4" /><Relationship Type="http://schemas.openxmlformats.org/officeDocument/2006/relationships/officeDocument" Target="/ppt/presentation.xml" Id="Rec9b724fdf8a49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0d89b637a3441e"/>
  </p:sldMasterIdLst>
  <p:notesMasterIdLst>
    <p:notesMasterId xmlns:r="http://schemas.openxmlformats.org/officeDocument/2006/relationships" r:id="Rf4a6868cb1d14c0f"/>
  </p:notesMasterIdLst>
  <p:sldIdLst>
    <p:sldId xmlns:r="http://schemas.openxmlformats.org/officeDocument/2006/relationships" id="256" r:id="R29341d78599242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4085153b0f4e22" /><Relationship Type="http://schemas.openxmlformats.org/officeDocument/2006/relationships/slideMaster" Target="/ppt/slideMasters/slideMaster1.xml" Id="R4a0d89b637a3441e" /><Relationship Type="http://schemas.openxmlformats.org/officeDocument/2006/relationships/notesMaster" Target="/ppt/notesMasters/notesMaster1.xml" Id="Rf4a6868cb1d14c0f" /><Relationship Type="http://schemas.openxmlformats.org/officeDocument/2006/relationships/presProps" Target="/ppt/presProps.xml" Id="R1b093511fbe64f3a" /><Relationship Type="http://schemas.openxmlformats.org/officeDocument/2006/relationships/tableStyles" Target="/ppt/tableStyles.xml" Id="R7cef1e78ed174656" /><Relationship Type="http://schemas.openxmlformats.org/officeDocument/2006/relationships/slide" Target="/ppt/slides/slide1.xml" Id="R29341d78599242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1cc2e13c984d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7a964692c44366" /><Relationship Type="http://schemas.openxmlformats.org/officeDocument/2006/relationships/notesMaster" Target="/ppt/notesMasters/notesMaster1.xml" Id="Rb42003feaa2d4e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 III visual cheat sheet: Designing defensible inference.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Figures 10A and 10B. Define the estimand and match the sampling design to the target quantity.</a:t>
            </a:r>
          </a:p>
          <a:p xmlns:a="http://schemas.openxmlformats.org/drawingml/2006/main">
            <a:r>
              <a:t>Figures 11 and 11B. Balanced, epidemic-informed, and probability-weighted selection target different distributions.</a:t>
            </a:r>
          </a:p>
          <a:p xmlns:a="http://schemas.openxmlformats.org/drawingml/2006/main">
            <a:r>
              <a:t>Figure 12. Repeated subsampling quantifies dependence on which observed genomes are retained. A practical implementation compares random, stratified, and phylogenetic diversity subsampling, each repeated three times.</a:t>
            </a:r>
          </a:p>
          <a:p xmlns:a="http://schemas.openxmlformats.org/drawingml/2006/main">
            <a:r>
              <a:t>Figures 13A and 13B. Analytical weighting retains observations but changes their contribution. It requires defensible inclusion probabilities, positivity, and measured determinants of selection.</a:t>
            </a:r>
          </a:p>
          <a:p xmlns:a="http://schemas.openxmlformats.org/drawingml/2006/main">
            <a:r>
              <a:t>Figures 14 and 15. Sensitivity analyses should target plausible mechanisms. No analysis can reconstruct an unconstrained population that is absent from the sampling frame.</a:t>
            </a:r>
          </a:p>
          <a:p xmlns:a="http://schemas.openxmlformats.org/drawingml/2006/main">
            <a:r>
              <a:t>Figure 16. The final claim should reflect the estimand, inclusion process, coverage, analytical choices, and remaining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Interpretive limit: Agreement across methods strengthens confidence only with respect to the tested choices. Shared bias may persist across every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0a66c206a44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cc0332967740ea" /><Relationship Type="http://schemas.openxmlformats.org/officeDocument/2006/relationships/slideLayout" Target="/ppt/slideLayouts/slideLayout1.xml" Id="R70089905da9f46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089905da9f46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23c1ce8c04885" /><Relationship Type="http://schemas.openxmlformats.org/officeDocument/2006/relationships/notesSlide" Target="/ppt/notesSlides/notesSlide1.xml" Id="R812401dc4cee4f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477968-03FA-42E3-912A-E3A6922A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2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37188-C9C1-4B9A-9C01-AF52DE3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rPr>
              <a:t>BIAS IN MOLECULAR EPIDEMIOLOGY, PART III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B284A-62AC-4CE5-A227-2E4FF99A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Designing defensible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616B7-BC02-433A-93FA-E838911F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C3F3B-096C-49E6-A7F6-A5DDD0AB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Defensible inference aligns the estimand, sampling design, analysis, and stated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12FCA-546C-494B-9921-061B68A8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Scientific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5DC69-479A-4844-9145-92D4B54E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B4EB8-172F-49F0-99AE-C8310850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526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Bounded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531DD-979E-4E29-BE96-519475EC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638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7A2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AC526-586B-4098-B82B-5C543605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rPr>
              <a:t>FIGURES 10A–10B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0DF60-4371-404A-8177-63901EE1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Estimand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D989B-8108-41A0-9CB4-74F1D01E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Target population and quantity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AB22C-9BAE-4774-AD70-452B4B1A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00300"/>
            <a:ext cx="1638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7A2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B1F83-B66C-4FF5-BB73-16D142BE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955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rPr>
              <a:t>FIGURES 11–11B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229BA-8E04-43BF-A45A-3FE20D42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955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Sampling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AD03E-0051-4C7D-B26D-0466C4CC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289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Each strategy targets a distribution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E2CEF-701B-4557-8A82-6AC9E20F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0300"/>
            <a:ext cx="1638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7A2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45519-A689-4262-AE14-4E65DCC6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955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rPr>
              <a:t>FIGURE 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52C67-2595-48ED-A415-5DD8BC99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955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Repeated draws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6A4ED-1440-44D6-9372-B9C8693F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Dependence on retained genomes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46B76-E964-4D7D-A111-C013DDE9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1638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7A2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A3505-A7FB-4A58-AD8D-262FCBCF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rPr>
              <a:t>FIGURES 13A–13B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E554E3-8DC5-4FEE-A4CA-3252D651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55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Weighting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F3611B-11C6-4066-B428-C6BB5E19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Requires an inclusion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EFECD8-9ADE-406D-BC16-CDB72820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1638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7A2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323DF4-77BF-4A7F-9F15-B8C99CC4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rPr>
              <a:t>FIGURES 14–15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659369-1A41-4979-8D31-8009B80D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955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Sensitivity and limits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CA7269-C7AE-4610-BF28-07EDCA5F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Test mechanisms and locate absence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AD5D16-EAA5-4C1E-91C5-FCEC95F3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1638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B245A"/>
          </a:solidFill>
          <a:ln xmlns:a="http://schemas.openxmlformats.org/drawingml/2006/main" w="19050">
            <a:solidFill>
              <a:srgbClr val="0B245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CDD657-E4F9-472A-9D4C-FE3A1A00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955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D7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FD7B8"/>
                </a:solidFill>
                <a:latin typeface="Bitstream Charter"/>
                <a:ea typeface="Bitstream Charter"/>
                <a:cs typeface="Bitstream Charter"/>
              </a:rPr>
              <a:t>FIGURE 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F3D9F2-FD57-420D-8D58-87047AAD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955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084D14-725D-4195-9569-ABE85329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289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rPr>
              <a:t>State the supported claim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38211E-3636-4711-AD5D-8D0B65D5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2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C60946-3BD4-489D-B772-4CE79E02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A practical subsampling robustness check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61C2C4-423C-4099-B899-0904A0D3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7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Random, stratified, and phylogenetic diversity subsampling, each repeated three times. Concordance strengthens conditional confidence.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C2A121-58E5-4CA4-8692-7FC235A0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528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2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2D9A2C-A64D-4965-AA23-EC03238F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3380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Probability weighting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638738-822C-45F9-B3E0-CBA049A5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38600"/>
            <a:ext cx="3181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Weights need credible information about the target epidemic and why observations entered the dataset. Those inputs are often unavailable.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F8CF3E-628D-45D2-8A4F-DFD104A2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20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0F403F-017F-40F2-A0AD-FC686BAF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3409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Structural absence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1041A1-81E4-49E8-AFCC-9141BCA7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340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Analysis cannot reconstruct an unconstrained population absent from the sampling frame. Add evidence or narrow the claim.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E3DFD3-BE30-4DD1-B7EC-F0882EE0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10150"/>
            <a:ext cx="120205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5A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7DC689-CE77-43F6-A0AA-2DEBD22F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Interpret the pattern across analyses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303943-0FC7-40AC-A23D-CAA00953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Stable conclusion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1C8593-1497-4903-8815-9F32737F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Magnitude-sensitive conclusion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70EA90-0F8E-45A4-83C8-82836C7E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197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Inconsistent conclusion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59571A-8F25-4F2D-8FB9-836D9462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61975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63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Shared assumptions remain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FD71DB-F99B-4648-B075-CF7B8F5B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20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17DE43-2463-4F77-90E7-97A8AF82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rPr>
              <a:t>Agreement across designs supports robustness to those choices. It does not establish freedom from bias.</a:t>
            </a:r>
          </a:p>
        </p:txBody>
      </p:sp>
    </p:spTree>
    <p:extLst>
      <p:ext uri="{BB962C8B-B14F-4D97-AF65-F5344CB8AC3E}">
        <p14:creationId xmlns:p14="http://schemas.microsoft.com/office/powerpoint/2010/main" val="1982521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2026-09-27T20:17:27.7460000Z</dcterms:created>
  <dcterms:modified xsi:type="dcterms:W3CDTF">2026-09-27T20:17:27.7460000Z</dcterms:modified>
</coreProperties>
</file>