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9" r:id="rId4"/>
    <p:sldId id="260" r:id="rId5"/>
    <p:sldId id="261" r:id="rId6"/>
    <p:sldId id="262" r:id="rId7"/>
    <p:sldId id="270"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96011D-A578-6C40-8359-5D19635D670A}" v="5" dt="2026-09-26T22:27:48.8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072"/>
  </p:normalViewPr>
  <p:slideViewPr>
    <p:cSldViewPr snapToGrid="0">
      <p:cViewPr varScale="1">
        <p:scale>
          <a:sx n="94" d="100"/>
          <a:sy n="94" d="100"/>
        </p:scale>
        <p:origin x="18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 Bahl" userId="d662a62e-5717-4992-af3b-42a2c8a8d1c3" providerId="ADAL" clId="{8BBD5EC8-652A-5B42-98EE-89E713CE34DC}"/>
    <pc:docChg chg="delSld">
      <pc:chgData name="Justin Bahl" userId="d662a62e-5717-4992-af3b-42a2c8a8d1c3" providerId="ADAL" clId="{8BBD5EC8-652A-5B42-98EE-89E713CE34DC}" dt="2026-09-27T01:58:48.567" v="0" actId="2696"/>
      <pc:docMkLst>
        <pc:docMk/>
      </pc:docMkLst>
      <pc:sldChg chg="del">
        <pc:chgData name="Justin Bahl" userId="d662a62e-5717-4992-af3b-42a2c8a8d1c3" providerId="ADAL" clId="{8BBD5EC8-652A-5B42-98EE-89E713CE34DC}" dt="2026-09-27T01:58:48.567" v="0" actId="2696"/>
        <pc:sldMkLst>
          <pc:docMk/>
          <pc:sldMk cId="1607207087"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Series title: Bias in Molecular Epidemiology: A story in three parts</a:t>
            </a:r>
          </a:p>
          <a:p>
            <a:r>
              <a:rPr dirty="0"/>
              <a:t>Part III: Designing Defensible Inference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Central question: Which design and analytical responses match the </a:t>
            </a:r>
            <a:r>
              <a:rPr dirty="0" err="1"/>
              <a:t>estimand</a:t>
            </a:r>
            <a:r>
              <a:rPr dirty="0"/>
              <a:t>, and where do those responses reach their limits?</a:t>
            </a:r>
          </a:p>
          <a:p>
            <a:r>
              <a:rPr dirty="0"/>
              <a:t>Learning objectives:</a:t>
            </a:r>
          </a:p>
          <a:p>
            <a:r>
              <a:rPr dirty="0"/>
              <a:t>- Define the </a:t>
            </a:r>
            <a:r>
              <a:rPr dirty="0" err="1"/>
              <a:t>estimand</a:t>
            </a:r>
            <a:r>
              <a:rPr dirty="0"/>
              <a:t> before selecting genomes or analytical methods</a:t>
            </a:r>
          </a:p>
          <a:p>
            <a:r>
              <a:rPr dirty="0"/>
              <a:t>- Distinguish balanced, epidemic-informed, and probability-weighted selection</a:t>
            </a:r>
          </a:p>
          <a:p>
            <a:r>
              <a:rPr dirty="0"/>
              <a:t>- Separate repeated subsampling from analytical weighting and sensitivity analysis</a:t>
            </a:r>
          </a:p>
          <a:p>
            <a:r>
              <a:rPr dirty="0"/>
              <a:t>- Bound conclusions when target populations remain structurally absent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A sampling strategy cannot be evaluated until the target quantity is explicit.</a:t>
            </a:r>
          </a:p>
          <a:p>
            <a:endParaRPr dirty="0"/>
          </a:p>
          <a:p>
            <a:r>
              <a:rPr dirty="0"/>
              <a:t>Panel prompts:</a:t>
            </a:r>
          </a:p>
          <a:p>
            <a:r>
              <a:rPr dirty="0"/>
              <a:t>- Start with the scientific question.</a:t>
            </a:r>
          </a:p>
          <a:p>
            <a:r>
              <a:rPr dirty="0"/>
              <a:t>- Specify the target population, time, place, and quantity.</a:t>
            </a:r>
          </a:p>
          <a:p>
            <a:r>
              <a:rPr dirty="0"/>
              <a:t>- State the </a:t>
            </a:r>
            <a:r>
              <a:rPr dirty="0" err="1"/>
              <a:t>estimand</a:t>
            </a:r>
            <a:r>
              <a:rPr dirty="0"/>
              <a:t> before choosing a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Lineage prevalence, relative growth, geographic spread, and source inference require different designs.</a:t>
            </a:r>
          </a:p>
          <a:p>
            <a:endParaRPr dirty="0"/>
          </a:p>
          <a:p>
            <a:r>
              <a:rPr dirty="0"/>
              <a:t>Panel prompts:</a:t>
            </a:r>
          </a:p>
          <a:p>
            <a:r>
              <a:rPr dirty="0"/>
              <a:t>- Compare the four scientific questions.</a:t>
            </a:r>
          </a:p>
          <a:p>
            <a:r>
              <a:rPr dirty="0"/>
              <a:t>- Link each </a:t>
            </a:r>
            <a:r>
              <a:rPr dirty="0" err="1"/>
              <a:t>estimand</a:t>
            </a:r>
            <a:r>
              <a:rPr dirty="0"/>
              <a:t> to a defensible sampling structure.</a:t>
            </a:r>
          </a:p>
          <a:p>
            <a:r>
              <a:rPr dirty="0"/>
              <a:t>- Make design mismatch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Balancing observed strata can reduce domination but changes the represented distribution.</a:t>
            </a:r>
          </a:p>
          <a:p>
            <a:endParaRPr dirty="0"/>
          </a:p>
          <a:p>
            <a:r>
              <a:rPr dirty="0"/>
              <a:t>Panel prompts:</a:t>
            </a:r>
          </a:p>
          <a:p>
            <a:r>
              <a:rPr dirty="0"/>
              <a:t>- Diagnose uneven location, time, and outbreak composition.</a:t>
            </a:r>
          </a:p>
          <a:p>
            <a:r>
              <a:rPr dirty="0"/>
              <a:t>- Sample within prespecified strata relevant to the </a:t>
            </a:r>
            <a:r>
              <a:rPr dirty="0" err="1"/>
              <a:t>estimand</a:t>
            </a:r>
            <a:r>
              <a:rPr dirty="0"/>
              <a:t>.</a:t>
            </a:r>
          </a:p>
          <a:p>
            <a:r>
              <a:rPr dirty="0"/>
              <a:t>- Treat neither estimate as population truth.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Equal, epidemic-informed, and probability-weighted selection target different distributions.</a:t>
            </a:r>
          </a:p>
          <a:p>
            <a:endParaRPr dirty="0"/>
          </a:p>
          <a:p>
            <a:r>
              <a:rPr dirty="0"/>
              <a:t>Panel prompts:</a:t>
            </a:r>
          </a:p>
          <a:p>
            <a:r>
              <a:rPr dirty="0"/>
              <a:t>- Equal allocation supports balanced comparisons.</a:t>
            </a:r>
          </a:p>
          <a:p>
            <a:r>
              <a:rPr dirty="0"/>
              <a:t>- Epidemic-informed selection follows reported-case incidence.</a:t>
            </a:r>
          </a:p>
          <a:p>
            <a:r>
              <a:rPr dirty="0"/>
              <a:t>- Probability-weighted selection requires defensible retention probabilities.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65E7-8B3C-075E-B298-E9DCC99A7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1F54DC-08A8-1A2C-7FB6-1B8D1E38D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9BBF9F-5923-4B28-BB2C-C96CE5917270}"/>
              </a:ext>
            </a:extLst>
          </p:cNvPr>
          <p:cNvSpPr>
            <a:spLocks noGrp="1"/>
          </p:cNvSpPr>
          <p:nvPr>
            <p:ph type="body" idx="1"/>
          </p:nvPr>
        </p:nvSpPr>
        <p:spPr/>
        <p:txBody>
          <a:bodyPr/>
          <a:lstStyle/>
          <a:p>
            <a:r>
              <a:rPr lang="en-US" sz="1200" b="0" i="0" kern="1200" dirty="0">
                <a:effectLst/>
              </a:rPr>
              <a:t>Probability-weighted subsampling gives genomes from underrepresented groups a greater chance of selection so the subsample better approximates a defined target population.</a:t>
            </a:r>
          </a:p>
          <a:p>
            <a:endParaRPr lang="en-US" sz="1200" b="0" i="0" kern="1200" dirty="0">
              <a:effectLst/>
            </a:endParaRPr>
          </a:p>
          <a:p>
            <a:r>
              <a:rPr lang="en-US" sz="1200" b="0" i="0" kern="1200" dirty="0">
                <a:effectLst/>
              </a:rPr>
              <a:t>For example, genomes from poorly sampled weeks could be selected more often than genomes from heavily sampled weeks. The limitation is that this requires credible information about the target epidemic and the original sampling process, which is often unavailable.</a:t>
            </a:r>
          </a:p>
        </p:txBody>
      </p:sp>
      <p:sp>
        <p:nvSpPr>
          <p:cNvPr id="4" name="Slide Number Placeholder 3">
            <a:extLst>
              <a:ext uri="{FF2B5EF4-FFF2-40B4-BE49-F238E27FC236}">
                <a16:creationId xmlns:a16="http://schemas.microsoft.com/office/drawing/2014/main" id="{4525E03C-A966-5C0B-5D1A-3EDCC638A8F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0389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Repeated draws quantify dependence on which observed genomes are retained.</a:t>
            </a:r>
          </a:p>
          <a:p>
            <a:endParaRPr dirty="0"/>
          </a:p>
          <a:p>
            <a:r>
              <a:rPr dirty="0"/>
              <a:t>Panel prompts:</a:t>
            </a:r>
          </a:p>
          <a:p>
            <a:r>
              <a:rPr dirty="0"/>
              <a:t>- Apply the same design to many subsets.</a:t>
            </a:r>
          </a:p>
          <a:p>
            <a:r>
              <a:rPr dirty="0"/>
              <a:t>- Repeat the same analysis for every subset.</a:t>
            </a:r>
          </a:p>
          <a:p>
            <a:r>
              <a:rPr dirty="0"/>
              <a:t>- Report the distribution, not one arbitrary draw.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Weighting retains observations but changes their contribution to a defined target.</a:t>
            </a:r>
          </a:p>
          <a:p>
            <a:endParaRPr dirty="0"/>
          </a:p>
          <a:p>
            <a:r>
              <a:rPr dirty="0"/>
              <a:t>Panel prompts:</a:t>
            </a:r>
          </a:p>
          <a:p>
            <a:r>
              <a:rPr dirty="0"/>
              <a:t>- Keep all observed genomes.</a:t>
            </a:r>
          </a:p>
          <a:p>
            <a:r>
              <a:rPr dirty="0"/>
              <a:t>- Estimate inclusion probabilities and corresponding weights.</a:t>
            </a:r>
          </a:p>
          <a:p>
            <a:r>
              <a:rPr dirty="0"/>
              <a:t>- Compare weighted and unweighted estimates without designating truth.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Weighting depends on positivity, an adequate inclusion model, and measured causes of selection.</a:t>
            </a:r>
          </a:p>
          <a:p>
            <a:endParaRPr dirty="0"/>
          </a:p>
          <a:p>
            <a:r>
              <a:rPr dirty="0"/>
              <a:t>Panel prompts:</a:t>
            </a:r>
          </a:p>
          <a:p>
            <a:r>
              <a:rPr dirty="0"/>
              <a:t>- Separate absent strata from near-zero inclusion probabilities.</a:t>
            </a:r>
          </a:p>
          <a:p>
            <a:r>
              <a:rPr dirty="0"/>
              <a:t>- Show the consequences of extreme or </a:t>
            </a:r>
            <a:r>
              <a:rPr dirty="0" err="1"/>
              <a:t>misspecified</a:t>
            </a:r>
            <a:r>
              <a:rPr dirty="0"/>
              <a:t> weights.</a:t>
            </a:r>
          </a:p>
          <a:p>
            <a:r>
              <a:rPr dirty="0"/>
              <a:t>- Identify selection determinants that remain unmeasured.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Sensitivity analyses should target plausible mechanisms of bias or model failure.</a:t>
            </a:r>
          </a:p>
          <a:p>
            <a:endParaRPr dirty="0"/>
          </a:p>
          <a:p>
            <a:r>
              <a:rPr dirty="0"/>
              <a:t>Panel prompts:</a:t>
            </a:r>
          </a:p>
          <a:p>
            <a:r>
              <a:rPr dirty="0"/>
              <a:t>- Move from simple exclusions to alternative models and external evidence.</a:t>
            </a:r>
          </a:p>
          <a:p>
            <a:r>
              <a:rPr dirty="0"/>
              <a:t>- Increasing departure does not mean increasing validity.</a:t>
            </a:r>
          </a:p>
          <a:p>
            <a:r>
              <a:rPr dirty="0"/>
              <a:t>- Classify conclusions as stable, magnitude sensitive, or inconsistent.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Methods cannot reconstruct an unconstrained population absent from the sampling frame.</a:t>
            </a:r>
          </a:p>
          <a:p>
            <a:endParaRPr dirty="0"/>
          </a:p>
          <a:p>
            <a:r>
              <a:rPr dirty="0"/>
              <a:t>Panel prompts:</a:t>
            </a:r>
          </a:p>
          <a:p>
            <a:r>
              <a:rPr dirty="0"/>
              <a:t>- Identify structural absence.</a:t>
            </a:r>
          </a:p>
          <a:p>
            <a:r>
              <a:rPr dirty="0"/>
              <a:t>- Show that analytical methods reuse observed information.</a:t>
            </a:r>
          </a:p>
          <a:p>
            <a:r>
              <a:rPr dirty="0"/>
              <a:t>- Add relevant evidence or restrict the </a:t>
            </a:r>
            <a:r>
              <a:rPr dirty="0" err="1"/>
              <a:t>estimand</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Teaching message: Defensible inference aligns the </a:t>
            </a:r>
            <a:r>
              <a:rPr dirty="0" err="1"/>
              <a:t>estimand</a:t>
            </a:r>
            <a:r>
              <a:rPr dirty="0"/>
              <a:t>, inclusion process, coverage, analysis, and stated claim.</a:t>
            </a:r>
          </a:p>
          <a:p>
            <a:endParaRPr dirty="0"/>
          </a:p>
          <a:p>
            <a:r>
              <a:rPr dirty="0"/>
              <a:t>Panel prompts:</a:t>
            </a:r>
          </a:p>
          <a:p>
            <a:r>
              <a:rPr dirty="0"/>
              <a:t>- Define the </a:t>
            </a:r>
            <a:r>
              <a:rPr dirty="0" err="1"/>
              <a:t>estimand</a:t>
            </a:r>
            <a:r>
              <a:rPr dirty="0"/>
              <a:t>, map inclusion, and assess coverage.</a:t>
            </a:r>
          </a:p>
          <a:p>
            <a:r>
              <a:rPr dirty="0"/>
              <a:t>- Route observed target strata through adjustment and sensitivity analysis.</a:t>
            </a:r>
          </a:p>
          <a:p>
            <a:r>
              <a:rPr dirty="0"/>
              <a:t>- Route structural absence toward new evidence or a narrower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Closing takeaways:</a:t>
            </a:r>
          </a:p>
          <a:p>
            <a:r>
              <a:rPr dirty="0"/>
              <a:t>- Design and analysis must follow the </a:t>
            </a:r>
            <a:r>
              <a:rPr dirty="0" err="1"/>
              <a:t>estimand</a:t>
            </a:r>
            <a:r>
              <a:rPr dirty="0"/>
              <a:t>.</a:t>
            </a:r>
          </a:p>
          <a:p>
            <a:r>
              <a:rPr dirty="0"/>
              <a:t>- Subsampling, weighting, and sensitivity analysis answer different questions.</a:t>
            </a:r>
          </a:p>
          <a:p>
            <a:r>
              <a:rPr dirty="0"/>
              <a:t>- Structural absence requires new evidence, explicit assumptions, or a narrower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45A"/>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DFCD0E6-D241-4650-8E8C-680FF0B5ED30}"/>
              </a:ext>
            </a:extLst>
          </p:cNvPr>
          <p:cNvSpPr>
            <a:spLocks noGrp="1"/>
          </p:cNvSpPr>
          <p:nvPr/>
        </p:nvSpPr>
        <p:spPr>
          <a:xfrm>
            <a:off x="0" y="0"/>
            <a:ext cx="1714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28644E71-B40B-42AB-803D-D4D537414156}"/>
              </a:ext>
            </a:extLst>
          </p:cNvPr>
          <p:cNvSpPr>
            <a:spLocks noGrp="1"/>
          </p:cNvSpPr>
          <p:nvPr/>
        </p:nvSpPr>
        <p:spPr>
          <a:xfrm>
            <a:off x="171450" y="0"/>
            <a:ext cx="95250" cy="6858000"/>
          </a:xfrm>
          <a:prstGeom prst="rect">
            <a:avLst/>
          </a:prstGeom>
          <a:solidFill>
            <a:srgbClr val="13A38E"/>
          </a:solidFill>
          <a:ln w="0">
            <a:noFill/>
          </a:ln>
        </p:spPr>
        <p:txBody>
          <a:bodyPr/>
          <a:lstStyle/>
          <a:p>
            <a:endParaRPr lang="en-US"/>
          </a:p>
        </p:txBody>
      </p:sp>
      <p:sp>
        <p:nvSpPr>
          <p:cNvPr id="3" name="Rectangle 2">
            <a:extLst>
              <a:ext uri="{FF2B5EF4-FFF2-40B4-BE49-F238E27FC236}">
                <a16:creationId xmlns:a16="http://schemas.microsoft.com/office/drawing/2014/main" id="{C5231B6D-E2AA-4780-BFC2-A00861F55E59}"/>
              </a:ext>
            </a:extLst>
          </p:cNvPr>
          <p:cNvSpPr>
            <a:spLocks noGrp="1"/>
          </p:cNvSpPr>
          <p:nvPr/>
        </p:nvSpPr>
        <p:spPr>
          <a:xfrm>
            <a:off x="838200" y="895350"/>
            <a:ext cx="10382250" cy="381000"/>
          </a:xfrm>
          <a:prstGeom prst="rect">
            <a:avLst/>
          </a:prstGeom>
          <a:noFill/>
          <a:ln w="0">
            <a:noFill/>
          </a:ln>
        </p:spPr>
        <p:txBody>
          <a:bodyPr anchor="ctr">
            <a:noAutofit/>
          </a:bodyPr>
          <a:lstStyle/>
          <a:p>
            <a:pPr>
              <a:defRPr sz="1425" b="1">
                <a:solidFill>
                  <a:srgbClr val="F47A20"/>
                </a:solidFill>
                <a:latin typeface="Bitstream Charter"/>
                <a:ea typeface="Bitstream Charter"/>
                <a:cs typeface="Bitstream Charter"/>
              </a:defRPr>
            </a:pPr>
            <a:r>
              <a:rPr sz="1425" b="1">
                <a:solidFill>
                  <a:srgbClr val="F47A20"/>
                </a:solidFill>
                <a:latin typeface="Bitstream Charter"/>
                <a:ea typeface="Bitstream Charter"/>
                <a:cs typeface="Bitstream Charter"/>
              </a:rPr>
              <a:t>BIAS IN MOLECULAR EPIDEMIOLOGY</a:t>
            </a:r>
          </a:p>
        </p:txBody>
      </p:sp>
      <p:sp>
        <p:nvSpPr>
          <p:cNvPr id="4" name="Rectangle 3">
            <a:extLst>
              <a:ext uri="{FF2B5EF4-FFF2-40B4-BE49-F238E27FC236}">
                <a16:creationId xmlns:a16="http://schemas.microsoft.com/office/drawing/2014/main" id="{D2E7DB5D-4FCC-4D0A-BC9A-4D92444EA363}"/>
              </a:ext>
            </a:extLst>
          </p:cNvPr>
          <p:cNvSpPr>
            <a:spLocks noGrp="1"/>
          </p:cNvSpPr>
          <p:nvPr/>
        </p:nvSpPr>
        <p:spPr>
          <a:xfrm>
            <a:off x="838200" y="1295400"/>
            <a:ext cx="10382250" cy="304800"/>
          </a:xfrm>
          <a:prstGeom prst="rect">
            <a:avLst/>
          </a:prstGeom>
          <a:noFill/>
          <a:ln w="0">
            <a:noFill/>
          </a:ln>
        </p:spPr>
        <p:txBody>
          <a:bodyPr anchor="ctr">
            <a:noAutofit/>
          </a:bodyPr>
          <a:lstStyle/>
          <a:p>
            <a:pPr>
              <a:defRPr sz="1350" b="0">
                <a:solidFill>
                  <a:srgbClr val="D8E2EB"/>
                </a:solidFill>
                <a:latin typeface="Bitstream Charter"/>
                <a:ea typeface="Bitstream Charter"/>
                <a:cs typeface="Bitstream Charter"/>
              </a:defRPr>
            </a:pPr>
            <a:r>
              <a:rPr sz="1350" b="0">
                <a:solidFill>
                  <a:srgbClr val="D8E2EB"/>
                </a:solidFill>
                <a:latin typeface="Bitstream Charter"/>
                <a:ea typeface="Bitstream Charter"/>
                <a:cs typeface="Bitstream Charter"/>
              </a:rPr>
              <a:t>A story in three parts</a:t>
            </a:r>
          </a:p>
        </p:txBody>
      </p:sp>
      <p:sp>
        <p:nvSpPr>
          <p:cNvPr id="5" name="Rectangle 4">
            <a:extLst>
              <a:ext uri="{FF2B5EF4-FFF2-40B4-BE49-F238E27FC236}">
                <a16:creationId xmlns:a16="http://schemas.microsoft.com/office/drawing/2014/main" id="{3E788039-C59A-4FBD-B73F-822704E73DAC}"/>
              </a:ext>
            </a:extLst>
          </p:cNvPr>
          <p:cNvSpPr>
            <a:spLocks noGrp="1"/>
          </p:cNvSpPr>
          <p:nvPr/>
        </p:nvSpPr>
        <p:spPr>
          <a:xfrm>
            <a:off x="838200" y="2400300"/>
            <a:ext cx="2476500" cy="381000"/>
          </a:xfrm>
          <a:prstGeom prst="rect">
            <a:avLst/>
          </a:prstGeom>
          <a:noFill/>
          <a:ln w="0">
            <a:noFill/>
          </a:ln>
        </p:spPr>
        <p:txBody>
          <a:bodyPr anchor="ctr">
            <a:noAutofit/>
          </a:bodyPr>
          <a:lstStyle/>
          <a:p>
            <a:pPr>
              <a:defRPr sz="1800" b="1">
                <a:solidFill>
                  <a:srgbClr val="F47A20"/>
                </a:solidFill>
                <a:latin typeface="Bitstream Charter"/>
                <a:ea typeface="Bitstream Charter"/>
                <a:cs typeface="Bitstream Charter"/>
              </a:defRPr>
            </a:pPr>
            <a:r>
              <a:rPr sz="1800" b="1">
                <a:solidFill>
                  <a:srgbClr val="F47A20"/>
                </a:solidFill>
                <a:latin typeface="Bitstream Charter"/>
                <a:ea typeface="Bitstream Charter"/>
                <a:cs typeface="Bitstream Charter"/>
              </a:rPr>
              <a:t>Part III</a:t>
            </a:r>
          </a:p>
        </p:txBody>
      </p:sp>
      <p:sp>
        <p:nvSpPr>
          <p:cNvPr id="6" name="Rectangle 5">
            <a:extLst>
              <a:ext uri="{FF2B5EF4-FFF2-40B4-BE49-F238E27FC236}">
                <a16:creationId xmlns:a16="http://schemas.microsoft.com/office/drawing/2014/main" id="{A63C4EF6-B3A8-4F03-BFDD-6BABD333449C}"/>
              </a:ext>
            </a:extLst>
          </p:cNvPr>
          <p:cNvSpPr>
            <a:spLocks noGrp="1"/>
          </p:cNvSpPr>
          <p:nvPr/>
        </p:nvSpPr>
        <p:spPr>
          <a:xfrm>
            <a:off x="838200" y="2838450"/>
            <a:ext cx="10096500" cy="1047750"/>
          </a:xfrm>
          <a:prstGeom prst="rect">
            <a:avLst/>
          </a:prstGeom>
          <a:noFill/>
          <a:ln w="0">
            <a:noFill/>
          </a:ln>
        </p:spPr>
        <p:txBody>
          <a:bodyPr anchor="ctr">
            <a:noAutofit/>
          </a:bodyPr>
          <a:lstStyle/>
          <a:p>
            <a:pPr>
              <a:defRPr sz="3375" b="1">
                <a:solidFill>
                  <a:srgbClr val="FFFFFF"/>
                </a:solidFill>
                <a:latin typeface="Bitstream Charter"/>
                <a:ea typeface="Bitstream Charter"/>
                <a:cs typeface="Bitstream Charter"/>
              </a:defRPr>
            </a:pPr>
            <a:r>
              <a:rPr sz="3375" b="1">
                <a:solidFill>
                  <a:srgbClr val="FFFFFF"/>
                </a:solidFill>
                <a:latin typeface="Bitstream Charter"/>
                <a:ea typeface="Bitstream Charter"/>
                <a:cs typeface="Bitstream Charter"/>
              </a:rPr>
              <a:t>Designing Defensible Inference</a:t>
            </a:r>
          </a:p>
        </p:txBody>
      </p:sp>
      <p:sp>
        <p:nvSpPr>
          <p:cNvPr id="7" name="Rectangle 6">
            <a:extLst>
              <a:ext uri="{FF2B5EF4-FFF2-40B4-BE49-F238E27FC236}">
                <a16:creationId xmlns:a16="http://schemas.microsoft.com/office/drawing/2014/main" id="{3A7F04F0-2429-495F-B5DF-89C81C2380EA}"/>
              </a:ext>
            </a:extLst>
          </p:cNvPr>
          <p:cNvSpPr>
            <a:spLocks noGrp="1"/>
          </p:cNvSpPr>
          <p:nvPr/>
        </p:nvSpPr>
        <p:spPr>
          <a:xfrm>
            <a:off x="838200" y="5143500"/>
            <a:ext cx="6667500" cy="323850"/>
          </a:xfrm>
          <a:prstGeom prst="rect">
            <a:avLst/>
          </a:prstGeom>
          <a:noFill/>
          <a:ln w="0">
            <a:noFill/>
          </a:ln>
        </p:spPr>
        <p:txBody>
          <a:bodyPr anchor="ctr">
            <a:noAutofit/>
          </a:bodyPr>
          <a:lstStyle/>
          <a:p>
            <a:pPr>
              <a:defRPr sz="1500" b="0">
                <a:solidFill>
                  <a:srgbClr val="D8E2EB"/>
                </a:solidFill>
                <a:latin typeface="Bitstream Charter"/>
                <a:ea typeface="Bitstream Charter"/>
                <a:cs typeface="Bitstream Charter"/>
              </a:defRPr>
            </a:pPr>
            <a:r>
              <a:rPr sz="1500" b="0" dirty="0">
                <a:solidFill>
                  <a:srgbClr val="D8E2EB"/>
                </a:solidFill>
                <a:latin typeface="Bitstream Charter"/>
                <a:ea typeface="Bitstream Charter"/>
                <a:cs typeface="Bitstream Charter"/>
              </a:rPr>
              <a:t>Public health molecular epidemiology</a:t>
            </a:r>
          </a:p>
        </p:txBody>
      </p:sp>
      <p:sp>
        <p:nvSpPr>
          <p:cNvPr id="8" name="Rectangle 7">
            <a:extLst>
              <a:ext uri="{FF2B5EF4-FFF2-40B4-BE49-F238E27FC236}">
                <a16:creationId xmlns:a16="http://schemas.microsoft.com/office/drawing/2014/main" id="{2009B87D-3709-4DB4-8234-08AF7AE90CFF}"/>
              </a:ext>
            </a:extLst>
          </p:cNvPr>
          <p:cNvSpPr>
            <a:spLocks noGrp="1"/>
          </p:cNvSpPr>
          <p:nvPr/>
        </p:nvSpPr>
        <p:spPr>
          <a:xfrm>
            <a:off x="838200" y="5562600"/>
            <a:ext cx="6667500" cy="285750"/>
          </a:xfrm>
          <a:prstGeom prst="rect">
            <a:avLst/>
          </a:prstGeom>
          <a:noFill/>
          <a:ln w="0">
            <a:noFill/>
          </a:ln>
        </p:spPr>
        <p:txBody>
          <a:bodyPr anchor="ctr">
            <a:noAutofit/>
          </a:bodyPr>
          <a:lstStyle/>
          <a:p>
            <a:pPr>
              <a:defRPr sz="1200" b="0">
                <a:solidFill>
                  <a:srgbClr val="9EB1C2"/>
                </a:solidFill>
                <a:latin typeface="Bitstream Charter"/>
                <a:ea typeface="Bitstream Charter"/>
                <a:cs typeface="Bitstream Charter"/>
              </a:defRPr>
            </a:pPr>
            <a:r>
              <a:rPr lang="en-US" sz="1200" b="0">
                <a:solidFill>
                  <a:srgbClr val="9EB1C2"/>
                </a:solidFill>
                <a:latin typeface="Bitstream Charter"/>
                <a:ea typeface="Bitstream Charter"/>
                <a:cs typeface="Bitstream Charter"/>
              </a:rPr>
              <a:t>Justin Bahl</a:t>
            </a:r>
            <a:endParaRPr sz="1200" b="0" dirty="0">
              <a:solidFill>
                <a:srgbClr val="9EB1C2"/>
              </a:solidFill>
              <a:latin typeface="Bitstream Charter"/>
              <a:ea typeface="Bitstream Charter"/>
              <a:cs typeface="Bitstream Charter"/>
            </a:endParaRPr>
          </a:p>
        </p:txBody>
      </p:sp>
    </p:spTree>
    <p:extLst>
      <p:ext uri="{BB962C8B-B14F-4D97-AF65-F5344CB8AC3E}">
        <p14:creationId xmlns:p14="http://schemas.microsoft.com/office/powerpoint/2010/main" val="1819106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E466CF2-27CF-4B4D-AD23-C792277C85F5}"/>
              </a:ext>
            </a:extLst>
          </p:cNvPr>
          <p:cNvSpPr>
            <a:spLocks noGrp="1"/>
          </p:cNvSpPr>
          <p:nvPr/>
        </p:nvSpPr>
        <p:spPr>
          <a:xfrm>
            <a:off x="0" y="0"/>
            <a:ext cx="12192000" cy="13335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E63E05B8-65DB-409A-953A-B186F507CB21}"/>
              </a:ext>
            </a:extLst>
          </p:cNvPr>
          <p:cNvSpPr>
            <a:spLocks noGrp="1"/>
          </p:cNvSpPr>
          <p:nvPr/>
        </p:nvSpPr>
        <p:spPr>
          <a:xfrm>
            <a:off x="609600" y="266700"/>
            <a:ext cx="10972800" cy="514350"/>
          </a:xfrm>
          <a:prstGeom prst="rect">
            <a:avLst/>
          </a:prstGeom>
          <a:noFill/>
          <a:ln w="0">
            <a:noFill/>
          </a:ln>
        </p:spPr>
        <p:txBody>
          <a:bodyPr anchor="ctr">
            <a:noAutofit/>
          </a:bodyPr>
          <a:lstStyle/>
          <a:p>
            <a:pPr>
              <a:defRPr sz="2550" b="1">
                <a:solidFill>
                  <a:srgbClr val="0B245A"/>
                </a:solidFill>
                <a:latin typeface="Bitstream Charter"/>
                <a:ea typeface="Bitstream Charter"/>
                <a:cs typeface="Bitstream Charter"/>
              </a:defRPr>
            </a:pPr>
            <a:r>
              <a:rPr sz="2550" b="1">
                <a:solidFill>
                  <a:srgbClr val="0B245A"/>
                </a:solidFill>
                <a:latin typeface="Bitstream Charter"/>
                <a:ea typeface="Bitstream Charter"/>
                <a:cs typeface="Bitstream Charter"/>
              </a:rPr>
              <a:t>Purpose and learning objectives</a:t>
            </a:r>
          </a:p>
        </p:txBody>
      </p:sp>
      <p:sp>
        <p:nvSpPr>
          <p:cNvPr id="3" name="Rectangle 2">
            <a:extLst>
              <a:ext uri="{FF2B5EF4-FFF2-40B4-BE49-F238E27FC236}">
                <a16:creationId xmlns:a16="http://schemas.microsoft.com/office/drawing/2014/main" id="{C91B5D57-0576-4B9F-821D-C225896A4DA5}"/>
              </a:ext>
            </a:extLst>
          </p:cNvPr>
          <p:cNvSpPr>
            <a:spLocks noGrp="1"/>
          </p:cNvSpPr>
          <p:nvPr/>
        </p:nvSpPr>
        <p:spPr>
          <a:xfrm>
            <a:off x="666750" y="990600"/>
            <a:ext cx="10858500" cy="666750"/>
          </a:xfrm>
          <a:prstGeom prst="rect">
            <a:avLst/>
          </a:prstGeom>
          <a:noFill/>
          <a:ln w="0">
            <a:noFill/>
          </a:ln>
        </p:spPr>
        <p:txBody>
          <a:bodyPr anchor="ctr">
            <a:noAutofit/>
          </a:bodyPr>
          <a:lstStyle/>
          <a:p>
            <a:pPr>
              <a:defRPr sz="1875" b="1">
                <a:solidFill>
                  <a:srgbClr val="0B245A"/>
                </a:solidFill>
                <a:latin typeface="Bitstream Charter"/>
                <a:ea typeface="Bitstream Charter"/>
                <a:cs typeface="Bitstream Charter"/>
              </a:defRPr>
            </a:pPr>
            <a:r>
              <a:rPr sz="1875" b="1">
                <a:solidFill>
                  <a:srgbClr val="0B245A"/>
                </a:solidFill>
                <a:latin typeface="Bitstream Charter"/>
                <a:ea typeface="Bitstream Charter"/>
                <a:cs typeface="Bitstream Charter"/>
              </a:rPr>
              <a:t>Which design and analytical responses match the estimand, and where do those responses reach their limits?</a:t>
            </a:r>
          </a:p>
        </p:txBody>
      </p:sp>
      <p:sp>
        <p:nvSpPr>
          <p:cNvPr id="4" name="Rectangle 3">
            <a:extLst>
              <a:ext uri="{FF2B5EF4-FFF2-40B4-BE49-F238E27FC236}">
                <a16:creationId xmlns:a16="http://schemas.microsoft.com/office/drawing/2014/main" id="{7F731FD7-AAA3-4C23-9BD3-DFA7178E61FD}"/>
              </a:ext>
            </a:extLst>
          </p:cNvPr>
          <p:cNvSpPr>
            <a:spLocks noGrp="1"/>
          </p:cNvSpPr>
          <p:nvPr/>
        </p:nvSpPr>
        <p:spPr>
          <a:xfrm>
            <a:off x="876300" y="1962150"/>
            <a:ext cx="10001250" cy="3429000"/>
          </a:xfrm>
          <a:prstGeom prst="rect">
            <a:avLst/>
          </a:prstGeom>
          <a:noFill/>
          <a:ln w="0">
            <a:noFill/>
          </a:ln>
        </p:spPr>
        <p:txBody>
          <a:bodyPr anchor="ctr">
            <a:noAutofit/>
          </a:bodyPr>
          <a:lstStyle/>
          <a:p>
            <a:pPr marL="279400" indent="-139700">
              <a:spcAft>
                <a:spcPts val="1400"/>
              </a:spcAft>
              <a:buChar char="•"/>
              <a:defRPr sz="1725" b="0">
                <a:solidFill>
                  <a:srgbClr val="101820"/>
                </a:solidFill>
                <a:latin typeface="Bitstream Charter"/>
                <a:ea typeface="Bitstream Charter"/>
                <a:cs typeface="Bitstream Charter"/>
              </a:defRPr>
            </a:pPr>
            <a:r>
              <a:rPr sz="1725" b="0">
                <a:solidFill>
                  <a:srgbClr val="101820"/>
                </a:solidFill>
                <a:latin typeface="Bitstream Charter"/>
                <a:ea typeface="Bitstream Charter"/>
                <a:cs typeface="Bitstream Charter"/>
              </a:rPr>
              <a:t>Define the estimand before selecting genomes or analytical methods</a:t>
            </a:r>
          </a:p>
          <a:p>
            <a:pPr marL="279400" indent="-139700">
              <a:spcAft>
                <a:spcPts val="1400"/>
              </a:spcAft>
              <a:buChar char="•"/>
              <a:defRPr sz="1725" b="0">
                <a:solidFill>
                  <a:srgbClr val="101820"/>
                </a:solidFill>
                <a:latin typeface="Bitstream Charter"/>
                <a:ea typeface="Bitstream Charter"/>
                <a:cs typeface="Bitstream Charter"/>
              </a:defRPr>
            </a:pPr>
            <a:r>
              <a:rPr sz="1725" b="0">
                <a:solidFill>
                  <a:srgbClr val="101820"/>
                </a:solidFill>
                <a:latin typeface="Bitstream Charter"/>
                <a:ea typeface="Bitstream Charter"/>
                <a:cs typeface="Bitstream Charter"/>
              </a:rPr>
              <a:t>Distinguish balanced, epidemic-informed, and probability-weighted selection</a:t>
            </a:r>
          </a:p>
          <a:p>
            <a:pPr marL="279400" indent="-139700">
              <a:spcAft>
                <a:spcPts val="1400"/>
              </a:spcAft>
              <a:buChar char="•"/>
              <a:defRPr sz="1725" b="0">
                <a:solidFill>
                  <a:srgbClr val="101820"/>
                </a:solidFill>
                <a:latin typeface="Bitstream Charter"/>
                <a:ea typeface="Bitstream Charter"/>
                <a:cs typeface="Bitstream Charter"/>
              </a:defRPr>
            </a:pPr>
            <a:r>
              <a:rPr sz="1725" b="0">
                <a:solidFill>
                  <a:srgbClr val="101820"/>
                </a:solidFill>
                <a:latin typeface="Bitstream Charter"/>
                <a:ea typeface="Bitstream Charter"/>
                <a:cs typeface="Bitstream Charter"/>
              </a:rPr>
              <a:t>Separate repeated subsampling from analytical weighting and sensitivity analysis</a:t>
            </a:r>
          </a:p>
          <a:p>
            <a:pPr marL="279400" indent="-139700">
              <a:spcAft>
                <a:spcPts val="1400"/>
              </a:spcAft>
              <a:buChar char="•"/>
              <a:defRPr sz="1725" b="0">
                <a:solidFill>
                  <a:srgbClr val="101820"/>
                </a:solidFill>
                <a:latin typeface="Bitstream Charter"/>
                <a:ea typeface="Bitstream Charter"/>
                <a:cs typeface="Bitstream Charter"/>
              </a:defRPr>
            </a:pPr>
            <a:r>
              <a:rPr sz="1725" b="0">
                <a:solidFill>
                  <a:srgbClr val="101820"/>
                </a:solidFill>
                <a:latin typeface="Bitstream Charter"/>
                <a:ea typeface="Bitstream Charter"/>
                <a:cs typeface="Bitstream Charter"/>
              </a:rPr>
              <a:t>Bound conclusions when target populations remain structurally absent</a:t>
            </a:r>
          </a:p>
        </p:txBody>
      </p:sp>
      <p:sp>
        <p:nvSpPr>
          <p:cNvPr id="5" name="Rectangle 4">
            <a:extLst>
              <a:ext uri="{FF2B5EF4-FFF2-40B4-BE49-F238E27FC236}">
                <a16:creationId xmlns:a16="http://schemas.microsoft.com/office/drawing/2014/main" id="{E40E73F8-1171-4C0E-BD3E-740CC8CB9150}"/>
              </a:ext>
            </a:extLst>
          </p:cNvPr>
          <p:cNvSpPr>
            <a:spLocks noGrp="1"/>
          </p:cNvSpPr>
          <p:nvPr/>
        </p:nvSpPr>
        <p:spPr>
          <a:xfrm>
            <a:off x="876300" y="5715000"/>
            <a:ext cx="10001250" cy="38100"/>
          </a:xfrm>
          <a:prstGeom prst="rect">
            <a:avLst/>
          </a:prstGeom>
          <a:solidFill>
            <a:srgbClr val="F47A20"/>
          </a:solidFill>
          <a:ln w="0">
            <a:noFill/>
          </a:ln>
        </p:spPr>
        <p:txBody>
          <a:bodyPr/>
          <a:lstStyle/>
          <a:p>
            <a:endParaRPr lang="en-US"/>
          </a:p>
        </p:txBody>
      </p:sp>
      <p:sp>
        <p:nvSpPr>
          <p:cNvPr id="6" name="Rectangle 5">
            <a:extLst>
              <a:ext uri="{FF2B5EF4-FFF2-40B4-BE49-F238E27FC236}">
                <a16:creationId xmlns:a16="http://schemas.microsoft.com/office/drawing/2014/main" id="{0E0B11B9-A00F-4C0A-9656-E82DCDF48134}"/>
              </a:ext>
            </a:extLst>
          </p:cNvPr>
          <p:cNvSpPr>
            <a:spLocks noGrp="1"/>
          </p:cNvSpPr>
          <p:nvPr/>
        </p:nvSpPr>
        <p:spPr>
          <a:xfrm>
            <a:off x="876300" y="5905500"/>
            <a:ext cx="10001250" cy="266700"/>
          </a:xfrm>
          <a:prstGeom prst="rect">
            <a:avLst/>
          </a:prstGeom>
          <a:noFill/>
          <a:ln w="0">
            <a:noFill/>
          </a:ln>
        </p:spPr>
        <p:txBody>
          <a:bodyPr anchor="ctr">
            <a:noAutofit/>
          </a:bodyPr>
          <a:lstStyle/>
          <a:p>
            <a:pPr>
              <a:defRPr sz="1125" b="0">
                <a:solidFill>
                  <a:srgbClr val="707B86"/>
                </a:solidFill>
                <a:latin typeface="Bitstream Charter"/>
                <a:ea typeface="Bitstream Charter"/>
                <a:cs typeface="Bitstream Charter"/>
              </a:defRPr>
            </a:pPr>
            <a:r>
              <a:rPr sz="1125" b="0">
                <a:solidFill>
                  <a:srgbClr val="707B86"/>
                </a:solidFill>
                <a:latin typeface="Bitstream Charter"/>
                <a:ea typeface="Bitstream Charter"/>
                <a:cs typeface="Bitstream Charter"/>
              </a:rPr>
              <a:t>Part III  Designing Defensible Inference</a:t>
            </a:r>
          </a:p>
        </p:txBody>
      </p:sp>
      <p:sp>
        <p:nvSpPr>
          <p:cNvPr id="7" name="Rectangle 6">
            <a:extLst>
              <a:ext uri="{FF2B5EF4-FFF2-40B4-BE49-F238E27FC236}">
                <a16:creationId xmlns:a16="http://schemas.microsoft.com/office/drawing/2014/main" id="{1EF3053A-7B21-42A0-B69C-37D5EE44887D}"/>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2</a:t>
            </a:r>
          </a:p>
        </p:txBody>
      </p:sp>
    </p:spTree>
    <p:extLst>
      <p:ext uri="{BB962C8B-B14F-4D97-AF65-F5344CB8AC3E}">
        <p14:creationId xmlns:p14="http://schemas.microsoft.com/office/powerpoint/2010/main" val="1807150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D0B4BB2-7BB6-4895-929D-FB344B20D786}"/>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98DA5622-E861-4451-840F-539654ED36C7}"/>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10A</a:t>
            </a:r>
          </a:p>
        </p:txBody>
      </p:sp>
      <p:sp>
        <p:nvSpPr>
          <p:cNvPr id="3" name="Rectangle 2">
            <a:extLst>
              <a:ext uri="{FF2B5EF4-FFF2-40B4-BE49-F238E27FC236}">
                <a16:creationId xmlns:a16="http://schemas.microsoft.com/office/drawing/2014/main" id="{3FEA751D-FB50-4519-8C0A-E70B03FDB80A}"/>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Define the estimand</a:t>
            </a:r>
          </a:p>
        </p:txBody>
      </p:sp>
      <p:sp>
        <p:nvSpPr>
          <p:cNvPr id="4" name="Rectangle 3">
            <a:extLst>
              <a:ext uri="{FF2B5EF4-FFF2-40B4-BE49-F238E27FC236}">
                <a16:creationId xmlns:a16="http://schemas.microsoft.com/office/drawing/2014/main" id="{C42C5A91-1ECD-4F05-A5D6-7379FFAFE749}"/>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b="0" dirty="0">
                <a:solidFill>
                  <a:srgbClr val="707B86"/>
                </a:solidFill>
                <a:latin typeface="Bitstream Charter"/>
                <a:ea typeface="Bitstream Charter"/>
                <a:cs typeface="Bitstream Charter"/>
              </a:rPr>
              <a:t>A sampling strategy cannot be evaluated until the target quantity is explicit.</a:t>
            </a:r>
          </a:p>
        </p:txBody>
      </p:sp>
      <p:sp>
        <p:nvSpPr>
          <p:cNvPr id="6" name="Rectangle 5">
            <a:extLst>
              <a:ext uri="{FF2B5EF4-FFF2-40B4-BE49-F238E27FC236}">
                <a16:creationId xmlns:a16="http://schemas.microsoft.com/office/drawing/2014/main" id="{BBAECEAB-3BF3-485D-8594-721A1F6BF5A3}"/>
              </a:ext>
            </a:extLst>
          </p:cNvPr>
          <p:cNvSpPr>
            <a:spLocks noGrp="1"/>
          </p:cNvSpPr>
          <p:nvPr/>
        </p:nvSpPr>
        <p:spPr>
          <a:xfrm>
            <a:off x="2667000" y="3333750"/>
            <a:ext cx="6858000" cy="495300"/>
          </a:xfrm>
          <a:prstGeom prst="rect">
            <a:avLst/>
          </a:prstGeom>
          <a:noFill/>
          <a:ln w="0">
            <a:noFill/>
          </a:ln>
        </p:spPr>
        <p:txBody>
          <a:bodyPr anchor="ctr">
            <a:noAutofit/>
          </a:bodyPr>
          <a:lstStyle/>
          <a:p>
            <a:pPr>
              <a:defRPr sz="1800" b="1">
                <a:solidFill>
                  <a:srgbClr val="0B245A"/>
                </a:solidFill>
                <a:latin typeface="Bitstream Charter"/>
                <a:ea typeface="Bitstream Charter"/>
                <a:cs typeface="Bitstream Charter"/>
              </a:defRPr>
            </a:pPr>
            <a:r>
              <a:rPr sz="1800" b="1">
                <a:solidFill>
                  <a:srgbClr val="0B245A"/>
                </a:solidFill>
                <a:latin typeface="Bitstream Charter"/>
                <a:ea typeface="Bitstream Charter"/>
                <a:cs typeface="Bitstream Charter"/>
              </a:rPr>
              <a:t>Replace with Figure 10A illustration</a:t>
            </a:r>
          </a:p>
        </p:txBody>
      </p:sp>
      <p:sp>
        <p:nvSpPr>
          <p:cNvPr id="7" name="Rectangle 6">
            <a:extLst>
              <a:ext uri="{FF2B5EF4-FFF2-40B4-BE49-F238E27FC236}">
                <a16:creationId xmlns:a16="http://schemas.microsoft.com/office/drawing/2014/main" id="{DC553928-5693-4E3F-9278-ED779AA3F062}"/>
              </a:ext>
            </a:extLst>
          </p:cNvPr>
          <p:cNvSpPr>
            <a:spLocks noGrp="1"/>
          </p:cNvSpPr>
          <p:nvPr/>
        </p:nvSpPr>
        <p:spPr>
          <a:xfrm>
            <a:off x="2667000" y="3876675"/>
            <a:ext cx="6858000" cy="323850"/>
          </a:xfrm>
          <a:prstGeom prst="rect">
            <a:avLst/>
          </a:prstGeom>
          <a:noFill/>
          <a:ln w="0">
            <a:noFill/>
          </a:ln>
        </p:spPr>
        <p:txBody>
          <a:bodyPr anchor="ctr">
            <a:noAutofit/>
          </a:bodyPr>
          <a:lstStyle/>
          <a:p>
            <a:pPr>
              <a:defRPr sz="1200" b="0">
                <a:solidFill>
                  <a:srgbClr val="707B86"/>
                </a:solidFill>
                <a:latin typeface="Bitstream Charter"/>
                <a:ea typeface="Bitstream Charter"/>
                <a:cs typeface="Bitstream Charter"/>
              </a:defRPr>
            </a:pPr>
            <a:r>
              <a:rPr sz="1200" b="0">
                <a:solidFill>
                  <a:srgbClr val="707B86"/>
                </a:solidFill>
                <a:latin typeface="Bitstream Charter"/>
                <a:ea typeface="Bitstream Charter"/>
                <a:cs typeface="Bitstream Charter"/>
              </a:rPr>
              <a:t>Use the full illustration without adding competing slide text</a:t>
            </a:r>
          </a:p>
        </p:txBody>
      </p:sp>
      <p:sp>
        <p:nvSpPr>
          <p:cNvPr id="8" name="Rectangle 7">
            <a:extLst>
              <a:ext uri="{FF2B5EF4-FFF2-40B4-BE49-F238E27FC236}">
                <a16:creationId xmlns:a16="http://schemas.microsoft.com/office/drawing/2014/main" id="{07855C78-F818-4CE9-8F92-CC9BDECD64DC}"/>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4</a:t>
            </a:r>
          </a:p>
        </p:txBody>
      </p:sp>
      <p:pic>
        <p:nvPicPr>
          <p:cNvPr id="11" name="Picture 10">
            <a:extLst>
              <a:ext uri="{FF2B5EF4-FFF2-40B4-BE49-F238E27FC236}">
                <a16:creationId xmlns:a16="http://schemas.microsoft.com/office/drawing/2014/main" id="{53762132-A8F0-9BD0-3D0C-710D28023F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3698" y="1294949"/>
            <a:ext cx="9404604" cy="5287277"/>
          </a:xfrm>
          <a:prstGeom prst="rect">
            <a:avLst/>
          </a:prstGeom>
        </p:spPr>
      </p:pic>
    </p:spTree>
    <p:extLst>
      <p:ext uri="{BB962C8B-B14F-4D97-AF65-F5344CB8AC3E}">
        <p14:creationId xmlns:p14="http://schemas.microsoft.com/office/powerpoint/2010/main" val="117353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37C62CD-1764-463A-8F63-B5847332F244}"/>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649471E2-BEF7-4ECB-90B9-6117D98A7410}"/>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10B</a:t>
            </a:r>
          </a:p>
        </p:txBody>
      </p:sp>
      <p:sp>
        <p:nvSpPr>
          <p:cNvPr id="3" name="Rectangle 2">
            <a:extLst>
              <a:ext uri="{FF2B5EF4-FFF2-40B4-BE49-F238E27FC236}">
                <a16:creationId xmlns:a16="http://schemas.microsoft.com/office/drawing/2014/main" id="{4F76EEF3-7029-4EC2-A2D1-AD280053152B}"/>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Match the sampling design to the estimand</a:t>
            </a:r>
          </a:p>
        </p:txBody>
      </p:sp>
      <p:sp>
        <p:nvSpPr>
          <p:cNvPr id="4" name="Rectangle 3">
            <a:extLst>
              <a:ext uri="{FF2B5EF4-FFF2-40B4-BE49-F238E27FC236}">
                <a16:creationId xmlns:a16="http://schemas.microsoft.com/office/drawing/2014/main" id="{79C28E29-6A35-4B59-9806-421BF7421972}"/>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sz="1275" b="0">
                <a:solidFill>
                  <a:srgbClr val="707B86"/>
                </a:solidFill>
                <a:latin typeface="Bitstream Charter"/>
                <a:ea typeface="Bitstream Charter"/>
                <a:cs typeface="Bitstream Charter"/>
              </a:rPr>
              <a:t>Lineage prevalence, relative growth, geographic spread, and source inference require different designs.</a:t>
            </a:r>
          </a:p>
        </p:txBody>
      </p:sp>
      <p:sp>
        <p:nvSpPr>
          <p:cNvPr id="8" name="Rectangle 7">
            <a:extLst>
              <a:ext uri="{FF2B5EF4-FFF2-40B4-BE49-F238E27FC236}">
                <a16:creationId xmlns:a16="http://schemas.microsoft.com/office/drawing/2014/main" id="{B877B378-6C20-4316-955A-AF52B445A513}"/>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5</a:t>
            </a:r>
          </a:p>
        </p:txBody>
      </p:sp>
      <p:pic>
        <p:nvPicPr>
          <p:cNvPr id="11" name="Picture 10">
            <a:extLst>
              <a:ext uri="{FF2B5EF4-FFF2-40B4-BE49-F238E27FC236}">
                <a16:creationId xmlns:a16="http://schemas.microsoft.com/office/drawing/2014/main" id="{855DF570-9619-764E-D4C5-F65CB15D3A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4648" y="1455712"/>
            <a:ext cx="9404604" cy="5287277"/>
          </a:xfrm>
          <a:prstGeom prst="rect">
            <a:avLst/>
          </a:prstGeom>
        </p:spPr>
      </p:pic>
    </p:spTree>
    <p:extLst>
      <p:ext uri="{BB962C8B-B14F-4D97-AF65-F5344CB8AC3E}">
        <p14:creationId xmlns:p14="http://schemas.microsoft.com/office/powerpoint/2010/main" val="110618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39AD2D8-AB25-4052-982E-E7C55A85F543}"/>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E8A4AE9C-294C-41E4-B46A-6458A699ABBB}"/>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11</a:t>
            </a:r>
          </a:p>
        </p:txBody>
      </p:sp>
      <p:sp>
        <p:nvSpPr>
          <p:cNvPr id="3" name="Rectangle 2">
            <a:extLst>
              <a:ext uri="{FF2B5EF4-FFF2-40B4-BE49-F238E27FC236}">
                <a16:creationId xmlns:a16="http://schemas.microsoft.com/office/drawing/2014/main" id="{49C6297E-3AFD-4252-8611-CAE97F40E626}"/>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Balanced subsampling</a:t>
            </a:r>
          </a:p>
        </p:txBody>
      </p:sp>
      <p:sp>
        <p:nvSpPr>
          <p:cNvPr id="4" name="Rectangle 3">
            <a:extLst>
              <a:ext uri="{FF2B5EF4-FFF2-40B4-BE49-F238E27FC236}">
                <a16:creationId xmlns:a16="http://schemas.microsoft.com/office/drawing/2014/main" id="{908CC6D7-C789-4F32-8D08-EBE813B8D8C2}"/>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sz="1275" b="0">
                <a:solidFill>
                  <a:srgbClr val="707B86"/>
                </a:solidFill>
                <a:latin typeface="Bitstream Charter"/>
                <a:ea typeface="Bitstream Charter"/>
                <a:cs typeface="Bitstream Charter"/>
              </a:rPr>
              <a:t>Balancing observed strata can reduce domination but changes the represented distribution.</a:t>
            </a:r>
          </a:p>
        </p:txBody>
      </p:sp>
      <p:sp>
        <p:nvSpPr>
          <p:cNvPr id="8" name="Rectangle 7">
            <a:extLst>
              <a:ext uri="{FF2B5EF4-FFF2-40B4-BE49-F238E27FC236}">
                <a16:creationId xmlns:a16="http://schemas.microsoft.com/office/drawing/2014/main" id="{91C5924F-00F1-43F1-B8A5-52286C617D0C}"/>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6</a:t>
            </a:r>
          </a:p>
        </p:txBody>
      </p:sp>
      <p:pic>
        <p:nvPicPr>
          <p:cNvPr id="11" name="Picture 10">
            <a:extLst>
              <a:ext uri="{FF2B5EF4-FFF2-40B4-BE49-F238E27FC236}">
                <a16:creationId xmlns:a16="http://schemas.microsoft.com/office/drawing/2014/main" id="{99A33BD9-F75C-97CC-CA35-9B50E22346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4648" y="1455712"/>
            <a:ext cx="9404604" cy="5287277"/>
          </a:xfrm>
          <a:prstGeom prst="rect">
            <a:avLst/>
          </a:prstGeom>
        </p:spPr>
      </p:pic>
    </p:spTree>
    <p:extLst>
      <p:ext uri="{BB962C8B-B14F-4D97-AF65-F5344CB8AC3E}">
        <p14:creationId xmlns:p14="http://schemas.microsoft.com/office/powerpoint/2010/main" val="1993545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9CABE3E-F94D-4034-A2B8-D4A3EC22F0EF}"/>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A219A74A-0CAC-4B96-9F58-CB7ABBB0BDB7}"/>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11B</a:t>
            </a:r>
          </a:p>
        </p:txBody>
      </p:sp>
      <p:sp>
        <p:nvSpPr>
          <p:cNvPr id="3" name="Rectangle 2">
            <a:extLst>
              <a:ext uri="{FF2B5EF4-FFF2-40B4-BE49-F238E27FC236}">
                <a16:creationId xmlns:a16="http://schemas.microsoft.com/office/drawing/2014/main" id="{285C4CC5-6B59-453F-B6B2-E345A266D06B}"/>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Different targets produce different subsamples</a:t>
            </a:r>
          </a:p>
        </p:txBody>
      </p:sp>
      <p:sp>
        <p:nvSpPr>
          <p:cNvPr id="4" name="Rectangle 3">
            <a:extLst>
              <a:ext uri="{FF2B5EF4-FFF2-40B4-BE49-F238E27FC236}">
                <a16:creationId xmlns:a16="http://schemas.microsoft.com/office/drawing/2014/main" id="{465C56AB-25AC-4224-A332-AEF98562F615}"/>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sz="1275" b="0">
                <a:solidFill>
                  <a:srgbClr val="707B86"/>
                </a:solidFill>
                <a:latin typeface="Bitstream Charter"/>
                <a:ea typeface="Bitstream Charter"/>
                <a:cs typeface="Bitstream Charter"/>
              </a:rPr>
              <a:t>Equal, epidemic-informed, and probability-weighted selection target different distributions.</a:t>
            </a:r>
          </a:p>
        </p:txBody>
      </p:sp>
      <p:sp>
        <p:nvSpPr>
          <p:cNvPr id="8" name="Rectangle 7">
            <a:extLst>
              <a:ext uri="{FF2B5EF4-FFF2-40B4-BE49-F238E27FC236}">
                <a16:creationId xmlns:a16="http://schemas.microsoft.com/office/drawing/2014/main" id="{3BDF0B89-3EA5-4B86-A78B-3964D10A7DC0}"/>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7</a:t>
            </a:r>
          </a:p>
        </p:txBody>
      </p:sp>
      <p:pic>
        <p:nvPicPr>
          <p:cNvPr id="11" name="Picture 10">
            <a:extLst>
              <a:ext uri="{FF2B5EF4-FFF2-40B4-BE49-F238E27FC236}">
                <a16:creationId xmlns:a16="http://schemas.microsoft.com/office/drawing/2014/main" id="{74FEAAA5-D617-D573-B1A1-28A98227C2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3698" y="1455712"/>
            <a:ext cx="9404604" cy="5287277"/>
          </a:xfrm>
          <a:prstGeom prst="rect">
            <a:avLst/>
          </a:prstGeom>
        </p:spPr>
      </p:pic>
    </p:spTree>
    <p:extLst>
      <p:ext uri="{BB962C8B-B14F-4D97-AF65-F5344CB8AC3E}">
        <p14:creationId xmlns:p14="http://schemas.microsoft.com/office/powerpoint/2010/main" val="2113299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CC302-34FE-BDDC-E0CE-3D18BAD4102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CBF27E7-F522-8639-6857-0DC468E5C5E7}"/>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B1DFF425-AF7B-0266-1A43-097E4C90B6D6}"/>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lang="en-US" sz="1200" b="1" dirty="0">
                <a:solidFill>
                  <a:srgbClr val="F47A20"/>
                </a:solidFill>
                <a:latin typeface="Bitstream Charter"/>
                <a:ea typeface="Bitstream Charter"/>
                <a:cs typeface="Bitstream Charter"/>
              </a:rPr>
              <a:t>Table</a:t>
            </a:r>
            <a:r>
              <a:rPr sz="1200" b="1" dirty="0">
                <a:solidFill>
                  <a:srgbClr val="F47A20"/>
                </a:solidFill>
                <a:latin typeface="Bitstream Charter"/>
                <a:ea typeface="Bitstream Charter"/>
                <a:cs typeface="Bitstream Charter"/>
              </a:rPr>
              <a:t> 1</a:t>
            </a:r>
          </a:p>
        </p:txBody>
      </p:sp>
      <p:sp>
        <p:nvSpPr>
          <p:cNvPr id="3" name="Rectangle 2">
            <a:extLst>
              <a:ext uri="{FF2B5EF4-FFF2-40B4-BE49-F238E27FC236}">
                <a16:creationId xmlns:a16="http://schemas.microsoft.com/office/drawing/2014/main" id="{CD9D1022-E725-4982-DDAD-1479399A4B0D}"/>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lang="en-US" sz="2325" b="1" dirty="0">
                <a:solidFill>
                  <a:srgbClr val="0B245A"/>
                </a:solidFill>
                <a:latin typeface="Bitstream Charter"/>
                <a:ea typeface="Bitstream Charter"/>
                <a:cs typeface="Bitstream Charter"/>
              </a:rPr>
              <a:t>Comparing Subsampling Methods</a:t>
            </a:r>
            <a:endParaRPr sz="2325" b="1" dirty="0">
              <a:solidFill>
                <a:srgbClr val="0B245A"/>
              </a:solidFill>
              <a:latin typeface="Bitstream Charter"/>
              <a:ea typeface="Bitstream Charter"/>
              <a:cs typeface="Bitstream Charter"/>
            </a:endParaRPr>
          </a:p>
        </p:txBody>
      </p:sp>
      <p:sp>
        <p:nvSpPr>
          <p:cNvPr id="8" name="Rectangle 7">
            <a:extLst>
              <a:ext uri="{FF2B5EF4-FFF2-40B4-BE49-F238E27FC236}">
                <a16:creationId xmlns:a16="http://schemas.microsoft.com/office/drawing/2014/main" id="{DF0E2A54-0E0D-5C05-D839-3BF3F2788A69}"/>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7</a:t>
            </a:r>
          </a:p>
        </p:txBody>
      </p:sp>
      <p:graphicFrame>
        <p:nvGraphicFramePr>
          <p:cNvPr id="5" name="Table 4">
            <a:extLst>
              <a:ext uri="{FF2B5EF4-FFF2-40B4-BE49-F238E27FC236}">
                <a16:creationId xmlns:a16="http://schemas.microsoft.com/office/drawing/2014/main" id="{74D34EE0-8710-852D-1FE5-9FDC1D7D79D7}"/>
              </a:ext>
            </a:extLst>
          </p:cNvPr>
          <p:cNvGraphicFramePr>
            <a:graphicFrameLocks noGrp="1"/>
          </p:cNvGraphicFramePr>
          <p:nvPr>
            <p:extLst>
              <p:ext uri="{D42A27DB-BD31-4B8C-83A1-F6EECF244321}">
                <p14:modId xmlns:p14="http://schemas.microsoft.com/office/powerpoint/2010/main" val="3657452128"/>
              </p:ext>
            </p:extLst>
          </p:nvPr>
        </p:nvGraphicFramePr>
        <p:xfrm>
          <a:off x="838200" y="1223564"/>
          <a:ext cx="10779253" cy="5306029"/>
        </p:xfrm>
        <a:graphic>
          <a:graphicData uri="http://schemas.openxmlformats.org/drawingml/2006/table">
            <a:tbl>
              <a:tblPr firstRow="1" firstCol="1" bandRow="1">
                <a:tableStyleId>{5C22544A-7EE6-4342-B048-85BDC9FD1C3A}</a:tableStyleId>
              </a:tblPr>
              <a:tblGrid>
                <a:gridCol w="2292276">
                  <a:extLst>
                    <a:ext uri="{9D8B030D-6E8A-4147-A177-3AD203B41FA5}">
                      <a16:colId xmlns:a16="http://schemas.microsoft.com/office/drawing/2014/main" val="130179211"/>
                    </a:ext>
                  </a:extLst>
                </a:gridCol>
                <a:gridCol w="3229177">
                  <a:extLst>
                    <a:ext uri="{9D8B030D-6E8A-4147-A177-3AD203B41FA5}">
                      <a16:colId xmlns:a16="http://schemas.microsoft.com/office/drawing/2014/main" val="3490624638"/>
                    </a:ext>
                  </a:extLst>
                </a:gridCol>
                <a:gridCol w="2628900">
                  <a:extLst>
                    <a:ext uri="{9D8B030D-6E8A-4147-A177-3AD203B41FA5}">
                      <a16:colId xmlns:a16="http://schemas.microsoft.com/office/drawing/2014/main" val="3084443880"/>
                    </a:ext>
                  </a:extLst>
                </a:gridCol>
                <a:gridCol w="2628900">
                  <a:extLst>
                    <a:ext uri="{9D8B030D-6E8A-4147-A177-3AD203B41FA5}">
                      <a16:colId xmlns:a16="http://schemas.microsoft.com/office/drawing/2014/main" val="224712768"/>
                    </a:ext>
                  </a:extLst>
                </a:gridCol>
              </a:tblGrid>
              <a:tr h="289477">
                <a:tc>
                  <a:txBody>
                    <a:bodyPr/>
                    <a:lstStyle/>
                    <a:p>
                      <a:pPr marL="0" marR="0" algn="ctr">
                        <a:lnSpc>
                          <a:spcPct val="115000"/>
                        </a:lnSpc>
                        <a:buNone/>
                      </a:pPr>
                      <a:r>
                        <a:rPr lang="en-US" sz="1500" kern="100" dirty="0">
                          <a:effectLst/>
                        </a:rPr>
                        <a:t>Method</a:t>
                      </a:r>
                      <a:endParaRPr lang="en-US" sz="1500" kern="100" dirty="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gn="ctr">
                        <a:lnSpc>
                          <a:spcPct val="115000"/>
                        </a:lnSpc>
                        <a:buNone/>
                      </a:pPr>
                      <a:r>
                        <a:rPr lang="en-US" sz="1500" kern="100">
                          <a:effectLst/>
                        </a:rPr>
                        <a:t>Selection rule</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gn="ctr">
                        <a:lnSpc>
                          <a:spcPct val="115000"/>
                        </a:lnSpc>
                        <a:buNone/>
                      </a:pPr>
                      <a:r>
                        <a:rPr lang="en-US" sz="1500" kern="100">
                          <a:effectLst/>
                        </a:rPr>
                        <a:t>Intended use</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gn="ctr">
                        <a:lnSpc>
                          <a:spcPct val="115000"/>
                        </a:lnSpc>
                        <a:buNone/>
                      </a:pPr>
                      <a:r>
                        <a:rPr lang="en-US" sz="1500" kern="100">
                          <a:effectLst/>
                        </a:rPr>
                        <a:t>Main limitation</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extLst>
                  <a:ext uri="{0D108BD9-81ED-4DB2-BD59-A6C34878D82A}">
                    <a16:rowId xmlns:a16="http://schemas.microsoft.com/office/drawing/2014/main" val="3336005868"/>
                  </a:ext>
                </a:extLst>
              </a:tr>
              <a:tr h="1115879">
                <a:tc>
                  <a:txBody>
                    <a:bodyPr/>
                    <a:lstStyle/>
                    <a:p>
                      <a:pPr marL="0" marR="0">
                        <a:lnSpc>
                          <a:spcPct val="115000"/>
                        </a:lnSpc>
                        <a:buNone/>
                      </a:pPr>
                      <a:r>
                        <a:rPr lang="en-US" sz="1500" kern="100">
                          <a:effectLst/>
                        </a:rPr>
                        <a:t>Stratified subsampling</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Prespecified number within each location-time stratum</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Prevent heavily sampled strata from dominating comparisons</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Equal allocation changes the represented population</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extLst>
                  <a:ext uri="{0D108BD9-81ED-4DB2-BD59-A6C34878D82A}">
                    <a16:rowId xmlns:a16="http://schemas.microsoft.com/office/drawing/2014/main" val="4132354181"/>
                  </a:ext>
                </a:extLst>
              </a:tr>
              <a:tr h="1115879">
                <a:tc>
                  <a:txBody>
                    <a:bodyPr/>
                    <a:lstStyle/>
                    <a:p>
                      <a:pPr marL="0" marR="0">
                        <a:lnSpc>
                          <a:spcPct val="115000"/>
                        </a:lnSpc>
                        <a:buNone/>
                      </a:pPr>
                      <a:r>
                        <a:rPr lang="en-US" sz="1500" kern="100">
                          <a:effectLst/>
                        </a:rPr>
                        <a:t>Epidemic-informed subsampling</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Sampling allocation follows case incidence or another target distribution</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Approximate the observed epidemic distribution</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Depends on denominator quality and may preserve ascertainment bias</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extLst>
                  <a:ext uri="{0D108BD9-81ED-4DB2-BD59-A6C34878D82A}">
                    <a16:rowId xmlns:a16="http://schemas.microsoft.com/office/drawing/2014/main" val="109586571"/>
                  </a:ext>
                </a:extLst>
              </a:tr>
              <a:tr h="1392397">
                <a:tc>
                  <a:txBody>
                    <a:bodyPr/>
                    <a:lstStyle/>
                    <a:p>
                      <a:pPr marL="0" marR="0">
                        <a:lnSpc>
                          <a:spcPct val="115000"/>
                        </a:lnSpc>
                        <a:buNone/>
                      </a:pPr>
                      <a:r>
                        <a:rPr lang="en-US" sz="1500" kern="100">
                          <a:effectLst/>
                        </a:rPr>
                        <a:t>Weighted subsampling</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Retention probability varies so retained samples approximate a target distribution</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Construct manageable datasets while using more information from sparse strata</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Introduces stochastic variability and requires defensible weights</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extLst>
                  <a:ext uri="{0D108BD9-81ED-4DB2-BD59-A6C34878D82A}">
                    <a16:rowId xmlns:a16="http://schemas.microsoft.com/office/drawing/2014/main" val="3638883354"/>
                  </a:ext>
                </a:extLst>
              </a:tr>
              <a:tr h="1392397">
                <a:tc>
                  <a:txBody>
                    <a:bodyPr/>
                    <a:lstStyle/>
                    <a:p>
                      <a:pPr marL="0" marR="0">
                        <a:lnSpc>
                          <a:spcPct val="115000"/>
                        </a:lnSpc>
                        <a:buNone/>
                      </a:pPr>
                      <a:r>
                        <a:rPr lang="en-US" sz="1500" kern="100" dirty="0">
                          <a:effectLst/>
                        </a:rPr>
                        <a:t>Analytical weighting</a:t>
                      </a:r>
                      <a:endParaRPr lang="en-US" sz="1500" kern="100" dirty="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Retain all observations but weight their contributions to estimation</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a:effectLst/>
                        </a:rPr>
                        <a:t>Target a defined population without discarding data</a:t>
                      </a:r>
                      <a:endParaRPr lang="en-US" sz="1500" kern="100">
                        <a:effectLst/>
                        <a:latin typeface="Times New Roman" panose="02020603050405020304" pitchFamily="18" charset="0"/>
                        <a:ea typeface="Times New Roman" panose="02020603050405020304" pitchFamily="18" charset="0"/>
                      </a:endParaRPr>
                    </a:p>
                  </a:txBody>
                  <a:tcPr marL="9525" marR="9525" marT="12679" marB="12679" anchor="ctr"/>
                </a:tc>
                <a:tc>
                  <a:txBody>
                    <a:bodyPr/>
                    <a:lstStyle/>
                    <a:p>
                      <a:pPr marL="0" marR="0">
                        <a:lnSpc>
                          <a:spcPct val="115000"/>
                        </a:lnSpc>
                        <a:buNone/>
                      </a:pPr>
                      <a:r>
                        <a:rPr lang="en-US" sz="1500" kern="100" dirty="0">
                          <a:effectLst/>
                        </a:rPr>
                        <a:t>Extreme or </a:t>
                      </a:r>
                      <a:r>
                        <a:rPr lang="en-US" sz="1500" kern="100" dirty="0" err="1">
                          <a:effectLst/>
                        </a:rPr>
                        <a:t>misspecified</a:t>
                      </a:r>
                      <a:r>
                        <a:rPr lang="en-US" sz="1500" kern="100" dirty="0">
                          <a:effectLst/>
                        </a:rPr>
                        <a:t> weights can destabilize inference</a:t>
                      </a:r>
                      <a:endParaRPr lang="en-US" sz="1500" kern="100" dirty="0">
                        <a:effectLst/>
                        <a:latin typeface="Times New Roman" panose="02020603050405020304" pitchFamily="18" charset="0"/>
                        <a:ea typeface="Times New Roman" panose="02020603050405020304" pitchFamily="18" charset="0"/>
                      </a:endParaRPr>
                    </a:p>
                  </a:txBody>
                  <a:tcPr marL="9525" marR="9525" marT="12679" marB="12679" anchor="ctr"/>
                </a:tc>
                <a:extLst>
                  <a:ext uri="{0D108BD9-81ED-4DB2-BD59-A6C34878D82A}">
                    <a16:rowId xmlns:a16="http://schemas.microsoft.com/office/drawing/2014/main" val="378939139"/>
                  </a:ext>
                </a:extLst>
              </a:tr>
            </a:tbl>
          </a:graphicData>
        </a:graphic>
      </p:graphicFrame>
    </p:spTree>
    <p:extLst>
      <p:ext uri="{BB962C8B-B14F-4D97-AF65-F5344CB8AC3E}">
        <p14:creationId xmlns:p14="http://schemas.microsoft.com/office/powerpoint/2010/main" val="2430519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545221-F504-4215-9CF6-031F8171504D}"/>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4765CE8F-47D4-407A-BA4D-0EBA5C32766F}"/>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12</a:t>
            </a:r>
          </a:p>
        </p:txBody>
      </p:sp>
      <p:sp>
        <p:nvSpPr>
          <p:cNvPr id="3" name="Rectangle 2">
            <a:extLst>
              <a:ext uri="{FF2B5EF4-FFF2-40B4-BE49-F238E27FC236}">
                <a16:creationId xmlns:a16="http://schemas.microsoft.com/office/drawing/2014/main" id="{88A1E83C-FA39-4884-8B61-582235157BF9}"/>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Repeated balanced subsampling</a:t>
            </a:r>
          </a:p>
        </p:txBody>
      </p:sp>
      <p:sp>
        <p:nvSpPr>
          <p:cNvPr id="4" name="Rectangle 3">
            <a:extLst>
              <a:ext uri="{FF2B5EF4-FFF2-40B4-BE49-F238E27FC236}">
                <a16:creationId xmlns:a16="http://schemas.microsoft.com/office/drawing/2014/main" id="{4E9E8AC5-4FBC-45C5-9701-22C1D16C31A6}"/>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sz="1275" b="0">
                <a:solidFill>
                  <a:srgbClr val="707B86"/>
                </a:solidFill>
                <a:latin typeface="Bitstream Charter"/>
                <a:ea typeface="Bitstream Charter"/>
                <a:cs typeface="Bitstream Charter"/>
              </a:rPr>
              <a:t>Repeated draws quantify dependence on which observed genomes are retained.</a:t>
            </a:r>
          </a:p>
        </p:txBody>
      </p:sp>
      <p:sp>
        <p:nvSpPr>
          <p:cNvPr id="8" name="Rectangle 7">
            <a:extLst>
              <a:ext uri="{FF2B5EF4-FFF2-40B4-BE49-F238E27FC236}">
                <a16:creationId xmlns:a16="http://schemas.microsoft.com/office/drawing/2014/main" id="{22B461ED-4837-4367-B27F-5CCE569ACC67}"/>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8</a:t>
            </a:r>
          </a:p>
        </p:txBody>
      </p:sp>
      <p:pic>
        <p:nvPicPr>
          <p:cNvPr id="11" name="Picture 10">
            <a:extLst>
              <a:ext uri="{FF2B5EF4-FFF2-40B4-BE49-F238E27FC236}">
                <a16:creationId xmlns:a16="http://schemas.microsoft.com/office/drawing/2014/main" id="{5449382D-8B30-5C51-247F-1180E753F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3698" y="1455712"/>
            <a:ext cx="9404604" cy="5287277"/>
          </a:xfrm>
          <a:prstGeom prst="rect">
            <a:avLst/>
          </a:prstGeom>
        </p:spPr>
      </p:pic>
    </p:spTree>
    <p:extLst>
      <p:ext uri="{BB962C8B-B14F-4D97-AF65-F5344CB8AC3E}">
        <p14:creationId xmlns:p14="http://schemas.microsoft.com/office/powerpoint/2010/main" val="1203679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BCE7FA-CF7F-4199-B05B-42741C54A7BE}"/>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3EBD8683-A22E-4379-854A-7E8B0E451292}"/>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13A</a:t>
            </a:r>
          </a:p>
        </p:txBody>
      </p:sp>
      <p:sp>
        <p:nvSpPr>
          <p:cNvPr id="3" name="Rectangle 2">
            <a:extLst>
              <a:ext uri="{FF2B5EF4-FFF2-40B4-BE49-F238E27FC236}">
                <a16:creationId xmlns:a16="http://schemas.microsoft.com/office/drawing/2014/main" id="{09590C1E-1A35-4B88-901C-72033FED0DC3}"/>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Analytical weighting</a:t>
            </a:r>
          </a:p>
        </p:txBody>
      </p:sp>
      <p:sp>
        <p:nvSpPr>
          <p:cNvPr id="4" name="Rectangle 3">
            <a:extLst>
              <a:ext uri="{FF2B5EF4-FFF2-40B4-BE49-F238E27FC236}">
                <a16:creationId xmlns:a16="http://schemas.microsoft.com/office/drawing/2014/main" id="{A602C2B4-5BF5-4BF7-A977-AF8ADD96F956}"/>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sz="1275" b="0">
                <a:solidFill>
                  <a:srgbClr val="707B86"/>
                </a:solidFill>
                <a:latin typeface="Bitstream Charter"/>
                <a:ea typeface="Bitstream Charter"/>
                <a:cs typeface="Bitstream Charter"/>
              </a:rPr>
              <a:t>Weighting retains observations but changes their contribution to a defined target.</a:t>
            </a:r>
          </a:p>
        </p:txBody>
      </p:sp>
      <p:sp>
        <p:nvSpPr>
          <p:cNvPr id="8" name="Rectangle 7">
            <a:extLst>
              <a:ext uri="{FF2B5EF4-FFF2-40B4-BE49-F238E27FC236}">
                <a16:creationId xmlns:a16="http://schemas.microsoft.com/office/drawing/2014/main" id="{27EA5D2E-953E-4F61-857D-9E47A9D9968F}"/>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9</a:t>
            </a:r>
          </a:p>
        </p:txBody>
      </p:sp>
      <p:pic>
        <p:nvPicPr>
          <p:cNvPr id="11" name="Picture 10">
            <a:extLst>
              <a:ext uri="{FF2B5EF4-FFF2-40B4-BE49-F238E27FC236}">
                <a16:creationId xmlns:a16="http://schemas.microsoft.com/office/drawing/2014/main" id="{7528AF10-47E5-8123-46E8-FE4A1E856C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3698" y="1455712"/>
            <a:ext cx="9404604" cy="5287277"/>
          </a:xfrm>
          <a:prstGeom prst="rect">
            <a:avLst/>
          </a:prstGeom>
        </p:spPr>
      </p:pic>
    </p:spTree>
    <p:extLst>
      <p:ext uri="{BB962C8B-B14F-4D97-AF65-F5344CB8AC3E}">
        <p14:creationId xmlns:p14="http://schemas.microsoft.com/office/powerpoint/2010/main" val="2036776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B66C466-9DEA-4105-A320-CE8BAA80BFAD}"/>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A08C7121-92D7-463D-B4C8-AE5BC5C396DD}"/>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13B</a:t>
            </a:r>
          </a:p>
        </p:txBody>
      </p:sp>
      <p:sp>
        <p:nvSpPr>
          <p:cNvPr id="3" name="Rectangle 2">
            <a:extLst>
              <a:ext uri="{FF2B5EF4-FFF2-40B4-BE49-F238E27FC236}">
                <a16:creationId xmlns:a16="http://schemas.microsoft.com/office/drawing/2014/main" id="{A449FD80-46AE-425D-890D-52212DE3D3EA}"/>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When analytical weighting is not enough</a:t>
            </a:r>
          </a:p>
        </p:txBody>
      </p:sp>
      <p:sp>
        <p:nvSpPr>
          <p:cNvPr id="4" name="Rectangle 3">
            <a:extLst>
              <a:ext uri="{FF2B5EF4-FFF2-40B4-BE49-F238E27FC236}">
                <a16:creationId xmlns:a16="http://schemas.microsoft.com/office/drawing/2014/main" id="{D0EEBFAC-8BB0-45E4-88A3-5328C92E5BDA}"/>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sz="1275" b="0">
                <a:solidFill>
                  <a:srgbClr val="707B86"/>
                </a:solidFill>
                <a:latin typeface="Bitstream Charter"/>
                <a:ea typeface="Bitstream Charter"/>
                <a:cs typeface="Bitstream Charter"/>
              </a:rPr>
              <a:t>Weighting depends on positivity, an adequate inclusion model, and measured causes of selection.</a:t>
            </a:r>
          </a:p>
        </p:txBody>
      </p:sp>
      <p:sp>
        <p:nvSpPr>
          <p:cNvPr id="8" name="Rectangle 7">
            <a:extLst>
              <a:ext uri="{FF2B5EF4-FFF2-40B4-BE49-F238E27FC236}">
                <a16:creationId xmlns:a16="http://schemas.microsoft.com/office/drawing/2014/main" id="{AC875F50-8A00-48E4-87ED-467E4265A825}"/>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10</a:t>
            </a:r>
          </a:p>
        </p:txBody>
      </p:sp>
      <p:pic>
        <p:nvPicPr>
          <p:cNvPr id="11" name="Picture 10">
            <a:extLst>
              <a:ext uri="{FF2B5EF4-FFF2-40B4-BE49-F238E27FC236}">
                <a16:creationId xmlns:a16="http://schemas.microsoft.com/office/drawing/2014/main" id="{95CDCF79-E5A5-29AB-0403-7987CAA3AF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3698" y="1455712"/>
            <a:ext cx="9404604" cy="5287277"/>
          </a:xfrm>
          <a:prstGeom prst="rect">
            <a:avLst/>
          </a:prstGeom>
        </p:spPr>
      </p:pic>
    </p:spTree>
    <p:extLst>
      <p:ext uri="{BB962C8B-B14F-4D97-AF65-F5344CB8AC3E}">
        <p14:creationId xmlns:p14="http://schemas.microsoft.com/office/powerpoint/2010/main" val="788360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D313A59-F90B-492F-B197-D39B79F628F9}"/>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336B8CB4-CFD1-4821-8E39-9E9888C9AFBD}"/>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14</a:t>
            </a:r>
          </a:p>
        </p:txBody>
      </p:sp>
      <p:sp>
        <p:nvSpPr>
          <p:cNvPr id="3" name="Rectangle 2">
            <a:extLst>
              <a:ext uri="{FF2B5EF4-FFF2-40B4-BE49-F238E27FC236}">
                <a16:creationId xmlns:a16="http://schemas.microsoft.com/office/drawing/2014/main" id="{1EE782C0-5F23-4F34-9C01-32537A0E8055}"/>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Sensitivity-analysis ladder</a:t>
            </a:r>
          </a:p>
        </p:txBody>
      </p:sp>
      <p:sp>
        <p:nvSpPr>
          <p:cNvPr id="4" name="Rectangle 3">
            <a:extLst>
              <a:ext uri="{FF2B5EF4-FFF2-40B4-BE49-F238E27FC236}">
                <a16:creationId xmlns:a16="http://schemas.microsoft.com/office/drawing/2014/main" id="{C16A55CA-9D73-4981-95F5-ED0337DA9FE5}"/>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sz="1275" b="0">
                <a:solidFill>
                  <a:srgbClr val="707B86"/>
                </a:solidFill>
                <a:latin typeface="Bitstream Charter"/>
                <a:ea typeface="Bitstream Charter"/>
                <a:cs typeface="Bitstream Charter"/>
              </a:rPr>
              <a:t>Sensitivity analyses should target plausible mechanisms of bias or model failure.</a:t>
            </a:r>
          </a:p>
        </p:txBody>
      </p:sp>
      <p:sp>
        <p:nvSpPr>
          <p:cNvPr id="8" name="Rectangle 7">
            <a:extLst>
              <a:ext uri="{FF2B5EF4-FFF2-40B4-BE49-F238E27FC236}">
                <a16:creationId xmlns:a16="http://schemas.microsoft.com/office/drawing/2014/main" id="{D63B082A-F2AA-47B4-A2E5-99A59A36F6C8}"/>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11</a:t>
            </a:r>
          </a:p>
        </p:txBody>
      </p:sp>
      <p:pic>
        <p:nvPicPr>
          <p:cNvPr id="11" name="Picture 10">
            <a:extLst>
              <a:ext uri="{FF2B5EF4-FFF2-40B4-BE49-F238E27FC236}">
                <a16:creationId xmlns:a16="http://schemas.microsoft.com/office/drawing/2014/main" id="{F6178892-5808-66A8-8C4C-3D18C736D4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3698" y="1455712"/>
            <a:ext cx="9404604" cy="5287277"/>
          </a:xfrm>
          <a:prstGeom prst="rect">
            <a:avLst/>
          </a:prstGeom>
        </p:spPr>
      </p:pic>
    </p:spTree>
    <p:extLst>
      <p:ext uri="{BB962C8B-B14F-4D97-AF65-F5344CB8AC3E}">
        <p14:creationId xmlns:p14="http://schemas.microsoft.com/office/powerpoint/2010/main" val="827367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54447CC-6F45-4E89-A42A-18C47107BE3D}"/>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7FE37C97-C29E-4451-ADE1-80D88DD68D54}"/>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15</a:t>
            </a:r>
          </a:p>
        </p:txBody>
      </p:sp>
      <p:sp>
        <p:nvSpPr>
          <p:cNvPr id="3" name="Rectangle 2">
            <a:extLst>
              <a:ext uri="{FF2B5EF4-FFF2-40B4-BE49-F238E27FC236}">
                <a16:creationId xmlns:a16="http://schemas.microsoft.com/office/drawing/2014/main" id="{ACEDC427-A4C9-4F00-BBDB-8099EBC2607D}"/>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The limit of analytical correction</a:t>
            </a:r>
          </a:p>
        </p:txBody>
      </p:sp>
      <p:sp>
        <p:nvSpPr>
          <p:cNvPr id="4" name="Rectangle 3">
            <a:extLst>
              <a:ext uri="{FF2B5EF4-FFF2-40B4-BE49-F238E27FC236}">
                <a16:creationId xmlns:a16="http://schemas.microsoft.com/office/drawing/2014/main" id="{128E53F9-9D9A-4965-B2F9-4FE7C7CCCB04}"/>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sz="1275" b="0">
                <a:solidFill>
                  <a:srgbClr val="707B86"/>
                </a:solidFill>
                <a:latin typeface="Bitstream Charter"/>
                <a:ea typeface="Bitstream Charter"/>
                <a:cs typeface="Bitstream Charter"/>
              </a:rPr>
              <a:t>Methods cannot reconstruct an unconstrained population absent from the sampling frame.</a:t>
            </a:r>
          </a:p>
        </p:txBody>
      </p:sp>
      <p:sp>
        <p:nvSpPr>
          <p:cNvPr id="8" name="Rectangle 7">
            <a:extLst>
              <a:ext uri="{FF2B5EF4-FFF2-40B4-BE49-F238E27FC236}">
                <a16:creationId xmlns:a16="http://schemas.microsoft.com/office/drawing/2014/main" id="{4F90DBAB-B9E9-42DA-B1AC-DD93840FE357}"/>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12</a:t>
            </a:r>
          </a:p>
        </p:txBody>
      </p:sp>
      <p:pic>
        <p:nvPicPr>
          <p:cNvPr id="11" name="Picture 10">
            <a:extLst>
              <a:ext uri="{FF2B5EF4-FFF2-40B4-BE49-F238E27FC236}">
                <a16:creationId xmlns:a16="http://schemas.microsoft.com/office/drawing/2014/main" id="{E57FC947-70EA-1C6E-B346-D40EBC2886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3698" y="1455712"/>
            <a:ext cx="9404604" cy="5287277"/>
          </a:xfrm>
          <a:prstGeom prst="rect">
            <a:avLst/>
          </a:prstGeom>
        </p:spPr>
      </p:pic>
    </p:spTree>
    <p:extLst>
      <p:ext uri="{BB962C8B-B14F-4D97-AF65-F5344CB8AC3E}">
        <p14:creationId xmlns:p14="http://schemas.microsoft.com/office/powerpoint/2010/main" val="93781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A8FB04A-7F2B-42B6-8396-9175C915565F}"/>
              </a:ext>
            </a:extLst>
          </p:cNvPr>
          <p:cNvSpPr>
            <a:spLocks noGrp="1"/>
          </p:cNvSpPr>
          <p:nvPr/>
        </p:nvSpPr>
        <p:spPr>
          <a:xfrm>
            <a:off x="0" y="0"/>
            <a:ext cx="1333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0B88BBB9-2D4E-422F-8AE5-F3439BAFE088}"/>
              </a:ext>
            </a:extLst>
          </p:cNvPr>
          <p:cNvSpPr>
            <a:spLocks noGrp="1"/>
          </p:cNvSpPr>
          <p:nvPr/>
        </p:nvSpPr>
        <p:spPr>
          <a:xfrm>
            <a:off x="552450" y="247650"/>
            <a:ext cx="1428750" cy="266700"/>
          </a:xfrm>
          <a:prstGeom prst="rect">
            <a:avLst/>
          </a:prstGeom>
          <a:noFill/>
          <a:ln w="0">
            <a:noFill/>
          </a:ln>
        </p:spPr>
        <p:txBody>
          <a:bodyPr anchor="ctr">
            <a:noAutofit/>
          </a:bodyPr>
          <a:lstStyle/>
          <a:p>
            <a:pPr>
              <a:defRPr sz="1200" b="1">
                <a:solidFill>
                  <a:srgbClr val="F47A20"/>
                </a:solidFill>
                <a:latin typeface="Bitstream Charter"/>
                <a:ea typeface="Bitstream Charter"/>
                <a:cs typeface="Bitstream Charter"/>
              </a:defRPr>
            </a:pPr>
            <a:r>
              <a:rPr sz="1200" b="1">
                <a:solidFill>
                  <a:srgbClr val="F47A20"/>
                </a:solidFill>
                <a:latin typeface="Bitstream Charter"/>
                <a:ea typeface="Bitstream Charter"/>
                <a:cs typeface="Bitstream Charter"/>
              </a:rPr>
              <a:t>Figure 16</a:t>
            </a:r>
          </a:p>
        </p:txBody>
      </p:sp>
      <p:sp>
        <p:nvSpPr>
          <p:cNvPr id="3" name="Rectangle 2">
            <a:extLst>
              <a:ext uri="{FF2B5EF4-FFF2-40B4-BE49-F238E27FC236}">
                <a16:creationId xmlns:a16="http://schemas.microsoft.com/office/drawing/2014/main" id="{36CEA425-2D3A-4673-B786-D290F5B8238B}"/>
              </a:ext>
            </a:extLst>
          </p:cNvPr>
          <p:cNvSpPr>
            <a:spLocks noGrp="1"/>
          </p:cNvSpPr>
          <p:nvPr/>
        </p:nvSpPr>
        <p:spPr>
          <a:xfrm>
            <a:off x="552450" y="533400"/>
            <a:ext cx="11049000" cy="533400"/>
          </a:xfrm>
          <a:prstGeom prst="rect">
            <a:avLst/>
          </a:prstGeom>
          <a:noFill/>
          <a:ln w="0">
            <a:noFill/>
          </a:ln>
        </p:spPr>
        <p:txBody>
          <a:bodyPr anchor="ctr">
            <a:noAutofit/>
          </a:bodyPr>
          <a:lstStyle/>
          <a:p>
            <a:pPr>
              <a:defRPr sz="2325" b="1">
                <a:solidFill>
                  <a:srgbClr val="0B245A"/>
                </a:solidFill>
                <a:latin typeface="Bitstream Charter"/>
                <a:ea typeface="Bitstream Charter"/>
                <a:cs typeface="Bitstream Charter"/>
              </a:defRPr>
            </a:pPr>
            <a:r>
              <a:rPr sz="2325" b="1">
                <a:solidFill>
                  <a:srgbClr val="0B245A"/>
                </a:solidFill>
                <a:latin typeface="Bitstream Charter"/>
                <a:ea typeface="Bitstream Charter"/>
                <a:cs typeface="Bitstream Charter"/>
              </a:rPr>
              <a:t>From bias diagnosis to defensible inference</a:t>
            </a:r>
          </a:p>
        </p:txBody>
      </p:sp>
      <p:sp>
        <p:nvSpPr>
          <p:cNvPr id="4" name="Rectangle 3">
            <a:extLst>
              <a:ext uri="{FF2B5EF4-FFF2-40B4-BE49-F238E27FC236}">
                <a16:creationId xmlns:a16="http://schemas.microsoft.com/office/drawing/2014/main" id="{4FF83384-B9F8-475B-85E4-11C9AE5061F9}"/>
              </a:ext>
            </a:extLst>
          </p:cNvPr>
          <p:cNvSpPr>
            <a:spLocks noGrp="1"/>
          </p:cNvSpPr>
          <p:nvPr/>
        </p:nvSpPr>
        <p:spPr>
          <a:xfrm>
            <a:off x="552450" y="1009650"/>
            <a:ext cx="11049000" cy="428625"/>
          </a:xfrm>
          <a:prstGeom prst="rect">
            <a:avLst/>
          </a:prstGeom>
          <a:noFill/>
          <a:ln w="0">
            <a:noFill/>
          </a:ln>
        </p:spPr>
        <p:txBody>
          <a:bodyPr anchor="ctr">
            <a:noAutofit/>
          </a:bodyPr>
          <a:lstStyle/>
          <a:p>
            <a:pPr>
              <a:defRPr sz="1275" b="0">
                <a:solidFill>
                  <a:srgbClr val="707B86"/>
                </a:solidFill>
                <a:latin typeface="Bitstream Charter"/>
                <a:ea typeface="Bitstream Charter"/>
                <a:cs typeface="Bitstream Charter"/>
              </a:defRPr>
            </a:pPr>
            <a:r>
              <a:rPr sz="1600" b="1" dirty="0">
                <a:solidFill>
                  <a:srgbClr val="707B86"/>
                </a:solidFill>
                <a:latin typeface="Bitstream Charter"/>
                <a:ea typeface="Bitstream Charter"/>
                <a:cs typeface="Bitstream Charter"/>
              </a:rPr>
              <a:t>Defensible inference aligns the </a:t>
            </a:r>
            <a:r>
              <a:rPr sz="1600" b="1" dirty="0" err="1">
                <a:solidFill>
                  <a:srgbClr val="707B86"/>
                </a:solidFill>
                <a:latin typeface="Bitstream Charter"/>
                <a:ea typeface="Bitstream Charter"/>
                <a:cs typeface="Bitstream Charter"/>
              </a:rPr>
              <a:t>estimand</a:t>
            </a:r>
            <a:r>
              <a:rPr sz="1600" b="1" dirty="0">
                <a:solidFill>
                  <a:srgbClr val="707B86"/>
                </a:solidFill>
                <a:latin typeface="Bitstream Charter"/>
                <a:ea typeface="Bitstream Charter"/>
                <a:cs typeface="Bitstream Charter"/>
              </a:rPr>
              <a:t>, inclusion process, coverage, analysis, and stated claim.</a:t>
            </a:r>
          </a:p>
        </p:txBody>
      </p:sp>
      <p:sp>
        <p:nvSpPr>
          <p:cNvPr id="8" name="Rectangle 7">
            <a:extLst>
              <a:ext uri="{FF2B5EF4-FFF2-40B4-BE49-F238E27FC236}">
                <a16:creationId xmlns:a16="http://schemas.microsoft.com/office/drawing/2014/main" id="{C9DFC609-D82E-4242-8CFC-1D1650EDA11E}"/>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13</a:t>
            </a:r>
          </a:p>
        </p:txBody>
      </p:sp>
      <p:pic>
        <p:nvPicPr>
          <p:cNvPr id="11" name="Picture 10">
            <a:extLst>
              <a:ext uri="{FF2B5EF4-FFF2-40B4-BE49-F238E27FC236}">
                <a16:creationId xmlns:a16="http://schemas.microsoft.com/office/drawing/2014/main" id="{1DD5E65F-1855-112D-46CC-B058273798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3698" y="1455712"/>
            <a:ext cx="9404604" cy="5287277"/>
          </a:xfrm>
          <a:prstGeom prst="rect">
            <a:avLst/>
          </a:prstGeom>
        </p:spPr>
      </p:pic>
    </p:spTree>
    <p:extLst>
      <p:ext uri="{BB962C8B-B14F-4D97-AF65-F5344CB8AC3E}">
        <p14:creationId xmlns:p14="http://schemas.microsoft.com/office/powerpoint/2010/main" val="969652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245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53B408-04B7-4B12-BE54-5428AFAC8783}"/>
              </a:ext>
            </a:extLst>
          </p:cNvPr>
          <p:cNvSpPr>
            <a:spLocks noGrp="1"/>
          </p:cNvSpPr>
          <p:nvPr/>
        </p:nvSpPr>
        <p:spPr>
          <a:xfrm>
            <a:off x="0" y="0"/>
            <a:ext cx="171450" cy="6858000"/>
          </a:xfrm>
          <a:prstGeom prst="rect">
            <a:avLst/>
          </a:prstGeom>
          <a:solidFill>
            <a:srgbClr val="F47A20"/>
          </a:solidFill>
          <a:ln w="0">
            <a:noFill/>
          </a:ln>
        </p:spPr>
        <p:txBody>
          <a:bodyPr/>
          <a:lstStyle/>
          <a:p>
            <a:endParaRPr lang="en-US"/>
          </a:p>
        </p:txBody>
      </p:sp>
      <p:sp>
        <p:nvSpPr>
          <p:cNvPr id="2" name="Rectangle 1">
            <a:extLst>
              <a:ext uri="{FF2B5EF4-FFF2-40B4-BE49-F238E27FC236}">
                <a16:creationId xmlns:a16="http://schemas.microsoft.com/office/drawing/2014/main" id="{8C4F2E89-0F22-4E11-9418-0E835BED9180}"/>
              </a:ext>
            </a:extLst>
          </p:cNvPr>
          <p:cNvSpPr>
            <a:spLocks noGrp="1"/>
          </p:cNvSpPr>
          <p:nvPr/>
        </p:nvSpPr>
        <p:spPr>
          <a:xfrm>
            <a:off x="723900" y="552450"/>
            <a:ext cx="10668000" cy="571500"/>
          </a:xfrm>
          <a:prstGeom prst="rect">
            <a:avLst/>
          </a:prstGeom>
          <a:noFill/>
          <a:ln w="0">
            <a:noFill/>
          </a:ln>
        </p:spPr>
        <p:txBody>
          <a:bodyPr anchor="ctr">
            <a:noAutofit/>
          </a:bodyPr>
          <a:lstStyle/>
          <a:p>
            <a:pPr>
              <a:defRPr sz="2850" b="1">
                <a:solidFill>
                  <a:srgbClr val="FFFFFF"/>
                </a:solidFill>
                <a:latin typeface="Bitstream Charter"/>
                <a:ea typeface="Bitstream Charter"/>
                <a:cs typeface="Bitstream Charter"/>
              </a:defRPr>
            </a:pPr>
            <a:r>
              <a:rPr sz="2850" b="1">
                <a:solidFill>
                  <a:srgbClr val="FFFFFF"/>
                </a:solidFill>
                <a:latin typeface="Bitstream Charter"/>
                <a:ea typeface="Bitstream Charter"/>
                <a:cs typeface="Bitstream Charter"/>
              </a:rPr>
              <a:t>Key takeaways</a:t>
            </a:r>
          </a:p>
        </p:txBody>
      </p:sp>
      <p:sp>
        <p:nvSpPr>
          <p:cNvPr id="3" name="Rectangle 2">
            <a:extLst>
              <a:ext uri="{FF2B5EF4-FFF2-40B4-BE49-F238E27FC236}">
                <a16:creationId xmlns:a16="http://schemas.microsoft.com/office/drawing/2014/main" id="{482A21B7-636E-4BA8-8338-3B924ED2A581}"/>
              </a:ext>
            </a:extLst>
          </p:cNvPr>
          <p:cNvSpPr>
            <a:spLocks noGrp="1"/>
          </p:cNvSpPr>
          <p:nvPr/>
        </p:nvSpPr>
        <p:spPr>
          <a:xfrm>
            <a:off x="952500" y="1638300"/>
            <a:ext cx="9810750" cy="3333750"/>
          </a:xfrm>
          <a:prstGeom prst="rect">
            <a:avLst/>
          </a:prstGeom>
          <a:noFill/>
          <a:ln w="0">
            <a:noFill/>
          </a:ln>
        </p:spPr>
        <p:txBody>
          <a:bodyPr anchor="ctr">
            <a:noAutofit/>
          </a:bodyPr>
          <a:lstStyle/>
          <a:p>
            <a:pPr marL="304800" indent="-152400">
              <a:spcAft>
                <a:spcPts val="1800"/>
              </a:spcAft>
              <a:buChar char="•"/>
              <a:defRPr sz="1875" b="0">
                <a:solidFill>
                  <a:srgbClr val="FFFFFF"/>
                </a:solidFill>
                <a:latin typeface="Bitstream Charter"/>
                <a:ea typeface="Bitstream Charter"/>
                <a:cs typeface="Bitstream Charter"/>
              </a:defRPr>
            </a:pPr>
            <a:r>
              <a:rPr sz="1875" b="0">
                <a:solidFill>
                  <a:srgbClr val="FFFFFF"/>
                </a:solidFill>
                <a:latin typeface="Bitstream Charter"/>
                <a:ea typeface="Bitstream Charter"/>
                <a:cs typeface="Bitstream Charter"/>
              </a:rPr>
              <a:t>Design and analysis must follow the estimand.</a:t>
            </a:r>
          </a:p>
          <a:p>
            <a:pPr marL="304800" indent="-152400">
              <a:spcAft>
                <a:spcPts val="1800"/>
              </a:spcAft>
              <a:buChar char="•"/>
              <a:defRPr sz="1875" b="0">
                <a:solidFill>
                  <a:srgbClr val="FFFFFF"/>
                </a:solidFill>
                <a:latin typeface="Bitstream Charter"/>
                <a:ea typeface="Bitstream Charter"/>
                <a:cs typeface="Bitstream Charter"/>
              </a:defRPr>
            </a:pPr>
            <a:r>
              <a:rPr sz="1875" b="0">
                <a:solidFill>
                  <a:srgbClr val="FFFFFF"/>
                </a:solidFill>
                <a:latin typeface="Bitstream Charter"/>
                <a:ea typeface="Bitstream Charter"/>
                <a:cs typeface="Bitstream Charter"/>
              </a:rPr>
              <a:t>Subsampling, weighting, and sensitivity analysis answer different questions.</a:t>
            </a:r>
          </a:p>
          <a:p>
            <a:pPr marL="304800" indent="-152400">
              <a:spcAft>
                <a:spcPts val="1800"/>
              </a:spcAft>
              <a:buChar char="•"/>
              <a:defRPr sz="1875" b="0">
                <a:solidFill>
                  <a:srgbClr val="FFFFFF"/>
                </a:solidFill>
                <a:latin typeface="Bitstream Charter"/>
                <a:ea typeface="Bitstream Charter"/>
                <a:cs typeface="Bitstream Charter"/>
              </a:defRPr>
            </a:pPr>
            <a:r>
              <a:rPr sz="1875" b="0">
                <a:solidFill>
                  <a:srgbClr val="FFFFFF"/>
                </a:solidFill>
                <a:latin typeface="Bitstream Charter"/>
                <a:ea typeface="Bitstream Charter"/>
                <a:cs typeface="Bitstream Charter"/>
              </a:rPr>
              <a:t>Structural absence requires new evidence, explicit assumptions, or a narrower claim.</a:t>
            </a:r>
          </a:p>
        </p:txBody>
      </p:sp>
      <p:sp>
        <p:nvSpPr>
          <p:cNvPr id="4" name="Rectangle 3">
            <a:extLst>
              <a:ext uri="{FF2B5EF4-FFF2-40B4-BE49-F238E27FC236}">
                <a16:creationId xmlns:a16="http://schemas.microsoft.com/office/drawing/2014/main" id="{8BB95315-25FF-49D2-B448-B6317E5C7922}"/>
              </a:ext>
            </a:extLst>
          </p:cNvPr>
          <p:cNvSpPr>
            <a:spLocks noGrp="1"/>
          </p:cNvSpPr>
          <p:nvPr/>
        </p:nvSpPr>
        <p:spPr>
          <a:xfrm>
            <a:off x="952500" y="5600700"/>
            <a:ext cx="9334500" cy="323850"/>
          </a:xfrm>
          <a:prstGeom prst="rect">
            <a:avLst/>
          </a:prstGeom>
          <a:noFill/>
          <a:ln w="0">
            <a:noFill/>
          </a:ln>
        </p:spPr>
        <p:txBody>
          <a:bodyPr anchor="ctr">
            <a:noAutofit/>
          </a:bodyPr>
          <a:lstStyle/>
          <a:p>
            <a:pPr>
              <a:defRPr sz="1350" b="0">
                <a:solidFill>
                  <a:srgbClr val="F47A20"/>
                </a:solidFill>
                <a:latin typeface="Bitstream Charter"/>
                <a:ea typeface="Bitstream Charter"/>
                <a:cs typeface="Bitstream Charter"/>
              </a:defRPr>
            </a:pPr>
            <a:r>
              <a:rPr sz="1350" b="0">
                <a:solidFill>
                  <a:srgbClr val="F47A20"/>
                </a:solidFill>
                <a:latin typeface="Bitstream Charter"/>
                <a:ea typeface="Bitstream Charter"/>
                <a:cs typeface="Bitstream Charter"/>
              </a:rPr>
              <a:t>Part III  Designing Defensible Inference</a:t>
            </a:r>
          </a:p>
        </p:txBody>
      </p:sp>
      <p:sp>
        <p:nvSpPr>
          <p:cNvPr id="5" name="Rectangle 4">
            <a:extLst>
              <a:ext uri="{FF2B5EF4-FFF2-40B4-BE49-F238E27FC236}">
                <a16:creationId xmlns:a16="http://schemas.microsoft.com/office/drawing/2014/main" id="{A04F11C3-2193-40E9-A125-EC8EEEF1C110}"/>
              </a:ext>
            </a:extLst>
          </p:cNvPr>
          <p:cNvSpPr>
            <a:spLocks noGrp="1"/>
          </p:cNvSpPr>
          <p:nvPr/>
        </p:nvSpPr>
        <p:spPr>
          <a:xfrm>
            <a:off x="952500" y="6000750"/>
            <a:ext cx="9334500" cy="266700"/>
          </a:xfrm>
          <a:prstGeom prst="rect">
            <a:avLst/>
          </a:prstGeom>
          <a:noFill/>
          <a:ln w="0">
            <a:noFill/>
          </a:ln>
        </p:spPr>
        <p:txBody>
          <a:bodyPr anchor="ctr">
            <a:noAutofit/>
          </a:bodyPr>
          <a:lstStyle/>
          <a:p>
            <a:pPr>
              <a:defRPr sz="1125" b="0">
                <a:solidFill>
                  <a:srgbClr val="B8C7D3"/>
                </a:solidFill>
                <a:latin typeface="Bitstream Charter"/>
                <a:ea typeface="Bitstream Charter"/>
                <a:cs typeface="Bitstream Charter"/>
              </a:defRPr>
            </a:pPr>
            <a:r>
              <a:rPr sz="1125" b="0">
                <a:solidFill>
                  <a:srgbClr val="B8C7D3"/>
                </a:solidFill>
                <a:latin typeface="Bitstream Charter"/>
                <a:ea typeface="Bitstream Charter"/>
                <a:cs typeface="Bitstream Charter"/>
              </a:rPr>
              <a:t>Bias in Molecular Epidemiology: A story in three parts</a:t>
            </a:r>
          </a:p>
        </p:txBody>
      </p:sp>
      <p:sp>
        <p:nvSpPr>
          <p:cNvPr id="6" name="Rectangle 5">
            <a:extLst>
              <a:ext uri="{FF2B5EF4-FFF2-40B4-BE49-F238E27FC236}">
                <a16:creationId xmlns:a16="http://schemas.microsoft.com/office/drawing/2014/main" id="{83D44712-E15E-4CB2-A89A-3ACB5CFF5574}"/>
              </a:ext>
            </a:extLst>
          </p:cNvPr>
          <p:cNvSpPr>
            <a:spLocks noGrp="1"/>
          </p:cNvSpPr>
          <p:nvPr/>
        </p:nvSpPr>
        <p:spPr>
          <a:xfrm>
            <a:off x="11430000" y="6438900"/>
            <a:ext cx="342900" cy="190500"/>
          </a:xfrm>
          <a:prstGeom prst="rect">
            <a:avLst/>
          </a:prstGeom>
          <a:noFill/>
          <a:ln w="0">
            <a:noFill/>
          </a:ln>
        </p:spPr>
        <p:txBody>
          <a:bodyPr anchor="ctr">
            <a:noAutofit/>
          </a:bodyPr>
          <a:lstStyle/>
          <a:p>
            <a:pPr>
              <a:defRPr sz="900" b="0">
                <a:solidFill>
                  <a:srgbClr val="F47A20"/>
                </a:solidFill>
                <a:latin typeface="Bitstream Charter"/>
                <a:ea typeface="Bitstream Charter"/>
                <a:cs typeface="Bitstream Charter"/>
              </a:defRPr>
            </a:pPr>
            <a:r>
              <a:rPr sz="900" b="0">
                <a:solidFill>
                  <a:srgbClr val="F47A20"/>
                </a:solidFill>
                <a:latin typeface="Bitstream Charter"/>
                <a:ea typeface="Bitstream Charter"/>
                <a:cs typeface="Bitstream Charter"/>
              </a:rPr>
              <a:t>14</a:t>
            </a:r>
          </a:p>
        </p:txBody>
      </p:sp>
    </p:spTree>
    <p:extLst>
      <p:ext uri="{BB962C8B-B14F-4D97-AF65-F5344CB8AC3E}">
        <p14:creationId xmlns:p14="http://schemas.microsoft.com/office/powerpoint/2010/main" val="76504656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1113</Words>
  <Application>Microsoft Macintosh PowerPoint</Application>
  <DocSecurity>0</DocSecurity>
  <PresentationFormat>Widescreen</PresentationFormat>
  <Paragraphs>161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Bitstream Charter</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Justin Bahl</cp:lastModifiedBy>
  <cp:revision>2</cp:revision>
  <dcterms:created xsi:type="dcterms:W3CDTF">2026-09-26T21:27:58Z</dcterms:created>
  <dcterms:modified xsi:type="dcterms:W3CDTF">2026-09-27T02:35:57Z</dcterms:modified>
</cp:coreProperties>
</file>